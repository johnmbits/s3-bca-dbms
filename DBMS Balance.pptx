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63" r:id="rId8"/>
    <p:sldId id="262" r:id="rId9"/>
    <p:sldId id="265" r:id="rId10"/>
    <p:sldId id="266" r:id="rId11"/>
    <p:sldId id="268" r:id="rId12"/>
    <p:sldId id="267"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81" d="100"/>
          <a:sy n="81" d="100"/>
        </p:scale>
        <p:origin x="70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768738-E522-4F94-BE76-8D53EE9180ED}" type="datetimeFigureOut">
              <a:rPr lang="en-IN" smtClean="0"/>
              <a:t>22-09-2026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84953C-2BDE-4590-A980-4080B99EFD76}" type="slidenum">
              <a:rPr lang="en-IN" smtClean="0"/>
              <a:t>‹#›</a:t>
            </a:fld>
            <a:endParaRPr lang="en-IN"/>
          </a:p>
        </p:txBody>
      </p:sp>
    </p:spTree>
    <p:extLst>
      <p:ext uri="{BB962C8B-B14F-4D97-AF65-F5344CB8AC3E}">
        <p14:creationId xmlns:p14="http://schemas.microsoft.com/office/powerpoint/2010/main" val="3164718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984953C-2BDE-4590-A980-4080B99EFD76}" type="slidenum">
              <a:rPr lang="en-IN" smtClean="0"/>
              <a:t>11</a:t>
            </a:fld>
            <a:endParaRPr lang="en-IN"/>
          </a:p>
        </p:txBody>
      </p:sp>
    </p:spTree>
    <p:extLst>
      <p:ext uri="{BB962C8B-B14F-4D97-AF65-F5344CB8AC3E}">
        <p14:creationId xmlns:p14="http://schemas.microsoft.com/office/powerpoint/2010/main" val="4234324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B2F1C-1CBE-583B-64F4-34B14298EF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419E1CF-AD01-C83C-45D6-A4973341C9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DD5D14F-A04C-5155-BEB9-09F0AF6F6202}"/>
              </a:ext>
            </a:extLst>
          </p:cNvPr>
          <p:cNvSpPr>
            <a:spLocks noGrp="1"/>
          </p:cNvSpPr>
          <p:nvPr>
            <p:ph type="dt" sz="half" idx="10"/>
          </p:nvPr>
        </p:nvSpPr>
        <p:spPr/>
        <p:txBody>
          <a:bodyPr/>
          <a:lstStyle/>
          <a:p>
            <a:fld id="{85276A56-9805-492D-BD08-4C32C6435DDA}" type="datetimeFigureOut">
              <a:rPr lang="en-IN" smtClean="0"/>
              <a:t>22-09-2026</a:t>
            </a:fld>
            <a:endParaRPr lang="en-IN"/>
          </a:p>
        </p:txBody>
      </p:sp>
      <p:sp>
        <p:nvSpPr>
          <p:cNvPr id="5" name="Footer Placeholder 4">
            <a:extLst>
              <a:ext uri="{FF2B5EF4-FFF2-40B4-BE49-F238E27FC236}">
                <a16:creationId xmlns:a16="http://schemas.microsoft.com/office/drawing/2014/main" id="{64262F74-9394-A6ED-5136-1EBDE07979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E93898-0671-E28C-2A13-87BC9E74CFB3}"/>
              </a:ext>
            </a:extLst>
          </p:cNvPr>
          <p:cNvSpPr>
            <a:spLocks noGrp="1"/>
          </p:cNvSpPr>
          <p:nvPr>
            <p:ph type="sldNum" sz="quarter" idx="12"/>
          </p:nvPr>
        </p:nvSpPr>
        <p:spPr/>
        <p:txBody>
          <a:bodyPr/>
          <a:lstStyle/>
          <a:p>
            <a:fld id="{C1529489-0C7C-4935-8351-BBDA42B34525}" type="slidenum">
              <a:rPr lang="en-IN" smtClean="0"/>
              <a:t>‹#›</a:t>
            </a:fld>
            <a:endParaRPr lang="en-IN"/>
          </a:p>
        </p:txBody>
      </p:sp>
    </p:spTree>
    <p:extLst>
      <p:ext uri="{BB962C8B-B14F-4D97-AF65-F5344CB8AC3E}">
        <p14:creationId xmlns:p14="http://schemas.microsoft.com/office/powerpoint/2010/main" val="8169811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4926F-0CF4-7ECE-DA53-46F6ADBBA95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CFE8ED9-39B8-61DA-D7A5-F12894E1EF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0975FB-3508-D49E-C3BB-E149585CB554}"/>
              </a:ext>
            </a:extLst>
          </p:cNvPr>
          <p:cNvSpPr>
            <a:spLocks noGrp="1"/>
          </p:cNvSpPr>
          <p:nvPr>
            <p:ph type="dt" sz="half" idx="10"/>
          </p:nvPr>
        </p:nvSpPr>
        <p:spPr/>
        <p:txBody>
          <a:bodyPr/>
          <a:lstStyle/>
          <a:p>
            <a:fld id="{85276A56-9805-492D-BD08-4C32C6435DDA}" type="datetimeFigureOut">
              <a:rPr lang="en-IN" smtClean="0"/>
              <a:t>22-09-2026</a:t>
            </a:fld>
            <a:endParaRPr lang="en-IN"/>
          </a:p>
        </p:txBody>
      </p:sp>
      <p:sp>
        <p:nvSpPr>
          <p:cNvPr id="5" name="Footer Placeholder 4">
            <a:extLst>
              <a:ext uri="{FF2B5EF4-FFF2-40B4-BE49-F238E27FC236}">
                <a16:creationId xmlns:a16="http://schemas.microsoft.com/office/drawing/2014/main" id="{31A2E5BB-833F-D3D9-1C64-4D82201952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F31029-30A2-791B-DDDB-947359D88F5D}"/>
              </a:ext>
            </a:extLst>
          </p:cNvPr>
          <p:cNvSpPr>
            <a:spLocks noGrp="1"/>
          </p:cNvSpPr>
          <p:nvPr>
            <p:ph type="sldNum" sz="quarter" idx="12"/>
          </p:nvPr>
        </p:nvSpPr>
        <p:spPr/>
        <p:txBody>
          <a:bodyPr/>
          <a:lstStyle/>
          <a:p>
            <a:fld id="{C1529489-0C7C-4935-8351-BBDA42B34525}" type="slidenum">
              <a:rPr lang="en-IN" smtClean="0"/>
              <a:t>‹#›</a:t>
            </a:fld>
            <a:endParaRPr lang="en-IN"/>
          </a:p>
        </p:txBody>
      </p:sp>
    </p:spTree>
    <p:extLst>
      <p:ext uri="{BB962C8B-B14F-4D97-AF65-F5344CB8AC3E}">
        <p14:creationId xmlns:p14="http://schemas.microsoft.com/office/powerpoint/2010/main" val="3174513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DDC50-88FC-C7D1-8556-97C8E6EF51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9CFCC84-8D8F-FE8D-98BF-CDFCA6BABAD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08E771-9180-3BDC-79C1-EBBAA0516CE3}"/>
              </a:ext>
            </a:extLst>
          </p:cNvPr>
          <p:cNvSpPr>
            <a:spLocks noGrp="1"/>
          </p:cNvSpPr>
          <p:nvPr>
            <p:ph type="dt" sz="half" idx="10"/>
          </p:nvPr>
        </p:nvSpPr>
        <p:spPr/>
        <p:txBody>
          <a:bodyPr/>
          <a:lstStyle/>
          <a:p>
            <a:fld id="{85276A56-9805-492D-BD08-4C32C6435DDA}" type="datetimeFigureOut">
              <a:rPr lang="en-IN" smtClean="0"/>
              <a:t>22-09-2026</a:t>
            </a:fld>
            <a:endParaRPr lang="en-IN"/>
          </a:p>
        </p:txBody>
      </p:sp>
      <p:sp>
        <p:nvSpPr>
          <p:cNvPr id="5" name="Footer Placeholder 4">
            <a:extLst>
              <a:ext uri="{FF2B5EF4-FFF2-40B4-BE49-F238E27FC236}">
                <a16:creationId xmlns:a16="http://schemas.microsoft.com/office/drawing/2014/main" id="{46FC6BD7-D3CE-3DEF-50FC-80D6424FF5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FB8CC9-6D60-A676-59D9-E07A5A7AE9D4}"/>
              </a:ext>
            </a:extLst>
          </p:cNvPr>
          <p:cNvSpPr>
            <a:spLocks noGrp="1"/>
          </p:cNvSpPr>
          <p:nvPr>
            <p:ph type="sldNum" sz="quarter" idx="12"/>
          </p:nvPr>
        </p:nvSpPr>
        <p:spPr/>
        <p:txBody>
          <a:bodyPr/>
          <a:lstStyle/>
          <a:p>
            <a:fld id="{C1529489-0C7C-4935-8351-BBDA42B34525}" type="slidenum">
              <a:rPr lang="en-IN" smtClean="0"/>
              <a:t>‹#›</a:t>
            </a:fld>
            <a:endParaRPr lang="en-IN"/>
          </a:p>
        </p:txBody>
      </p:sp>
    </p:spTree>
    <p:extLst>
      <p:ext uri="{BB962C8B-B14F-4D97-AF65-F5344CB8AC3E}">
        <p14:creationId xmlns:p14="http://schemas.microsoft.com/office/powerpoint/2010/main" val="2239606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6F92F-8B91-6BB4-4C37-530F7E71013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3A856A-1E9B-F360-2C46-56CB4AD80C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31FD4AB-CD98-CB58-37CF-E837B5257D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FF5E941-5DF1-E04D-B1AE-88F41BA82153}"/>
              </a:ext>
            </a:extLst>
          </p:cNvPr>
          <p:cNvSpPr>
            <a:spLocks noGrp="1"/>
          </p:cNvSpPr>
          <p:nvPr>
            <p:ph type="dt" sz="half" idx="10"/>
          </p:nvPr>
        </p:nvSpPr>
        <p:spPr/>
        <p:txBody>
          <a:bodyPr/>
          <a:lstStyle/>
          <a:p>
            <a:fld id="{85276A56-9805-492D-BD08-4C32C6435DDA}" type="datetimeFigureOut">
              <a:rPr lang="en-IN" smtClean="0"/>
              <a:t>22-09-2026</a:t>
            </a:fld>
            <a:endParaRPr lang="en-IN"/>
          </a:p>
        </p:txBody>
      </p:sp>
      <p:sp>
        <p:nvSpPr>
          <p:cNvPr id="6" name="Footer Placeholder 5">
            <a:extLst>
              <a:ext uri="{FF2B5EF4-FFF2-40B4-BE49-F238E27FC236}">
                <a16:creationId xmlns:a16="http://schemas.microsoft.com/office/drawing/2014/main" id="{088CA711-D8A6-08D1-BF4F-F5246408CA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544755-BF68-9250-96A3-D07EE15260EF}"/>
              </a:ext>
            </a:extLst>
          </p:cNvPr>
          <p:cNvSpPr>
            <a:spLocks noGrp="1"/>
          </p:cNvSpPr>
          <p:nvPr>
            <p:ph type="sldNum" sz="quarter" idx="12"/>
          </p:nvPr>
        </p:nvSpPr>
        <p:spPr/>
        <p:txBody>
          <a:bodyPr/>
          <a:lstStyle/>
          <a:p>
            <a:fld id="{C1529489-0C7C-4935-8351-BBDA42B34525}" type="slidenum">
              <a:rPr lang="en-IN" smtClean="0"/>
              <a:t>‹#›</a:t>
            </a:fld>
            <a:endParaRPr lang="en-IN"/>
          </a:p>
        </p:txBody>
      </p:sp>
    </p:spTree>
    <p:extLst>
      <p:ext uri="{BB962C8B-B14F-4D97-AF65-F5344CB8AC3E}">
        <p14:creationId xmlns:p14="http://schemas.microsoft.com/office/powerpoint/2010/main" val="3211869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CCDE3-594E-B639-62E6-DA31F2C2D48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755B022-AA22-7B89-112F-144D5FD094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1F8251-80B7-1654-61DF-01EFCC925A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E26619F-6D36-8649-FDF0-EB47799482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6F5CC6-7108-CE1A-AFF2-C3BD6CE81A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99EF935-CBA2-9F59-A0F9-09FF86B93379}"/>
              </a:ext>
            </a:extLst>
          </p:cNvPr>
          <p:cNvSpPr>
            <a:spLocks noGrp="1"/>
          </p:cNvSpPr>
          <p:nvPr>
            <p:ph type="dt" sz="half" idx="10"/>
          </p:nvPr>
        </p:nvSpPr>
        <p:spPr/>
        <p:txBody>
          <a:bodyPr/>
          <a:lstStyle/>
          <a:p>
            <a:fld id="{85276A56-9805-492D-BD08-4C32C6435DDA}" type="datetimeFigureOut">
              <a:rPr lang="en-IN" smtClean="0"/>
              <a:t>22-09-2026</a:t>
            </a:fld>
            <a:endParaRPr lang="en-IN"/>
          </a:p>
        </p:txBody>
      </p:sp>
      <p:sp>
        <p:nvSpPr>
          <p:cNvPr id="8" name="Footer Placeholder 7">
            <a:extLst>
              <a:ext uri="{FF2B5EF4-FFF2-40B4-BE49-F238E27FC236}">
                <a16:creationId xmlns:a16="http://schemas.microsoft.com/office/drawing/2014/main" id="{A3591CD3-C94E-3F5A-01AF-864BFD6757C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B319E04-8A6B-6DD9-0BCF-D506B0C7D923}"/>
              </a:ext>
            </a:extLst>
          </p:cNvPr>
          <p:cNvSpPr>
            <a:spLocks noGrp="1"/>
          </p:cNvSpPr>
          <p:nvPr>
            <p:ph type="sldNum" sz="quarter" idx="12"/>
          </p:nvPr>
        </p:nvSpPr>
        <p:spPr/>
        <p:txBody>
          <a:bodyPr/>
          <a:lstStyle/>
          <a:p>
            <a:fld id="{C1529489-0C7C-4935-8351-BBDA42B34525}" type="slidenum">
              <a:rPr lang="en-IN" smtClean="0"/>
              <a:t>‹#›</a:t>
            </a:fld>
            <a:endParaRPr lang="en-IN"/>
          </a:p>
        </p:txBody>
      </p:sp>
    </p:spTree>
    <p:extLst>
      <p:ext uri="{BB962C8B-B14F-4D97-AF65-F5344CB8AC3E}">
        <p14:creationId xmlns:p14="http://schemas.microsoft.com/office/powerpoint/2010/main" val="2753436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BE5B8-9348-E6B3-A3DD-528F0D21644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FE5C9C2-979B-5C4A-9641-E461A3A8DEB5}"/>
              </a:ext>
            </a:extLst>
          </p:cNvPr>
          <p:cNvSpPr>
            <a:spLocks noGrp="1"/>
          </p:cNvSpPr>
          <p:nvPr>
            <p:ph type="dt" sz="half" idx="10"/>
          </p:nvPr>
        </p:nvSpPr>
        <p:spPr/>
        <p:txBody>
          <a:bodyPr/>
          <a:lstStyle/>
          <a:p>
            <a:fld id="{85276A56-9805-492D-BD08-4C32C6435DDA}" type="datetimeFigureOut">
              <a:rPr lang="en-IN" smtClean="0"/>
              <a:t>22-09-2026</a:t>
            </a:fld>
            <a:endParaRPr lang="en-IN"/>
          </a:p>
        </p:txBody>
      </p:sp>
      <p:sp>
        <p:nvSpPr>
          <p:cNvPr id="4" name="Footer Placeholder 3">
            <a:extLst>
              <a:ext uri="{FF2B5EF4-FFF2-40B4-BE49-F238E27FC236}">
                <a16:creationId xmlns:a16="http://schemas.microsoft.com/office/drawing/2014/main" id="{CF1815DC-0BA8-BD00-DC40-CDCE5002CAE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A29B8E2-2688-5918-AD96-AEA16D9DD770}"/>
              </a:ext>
            </a:extLst>
          </p:cNvPr>
          <p:cNvSpPr>
            <a:spLocks noGrp="1"/>
          </p:cNvSpPr>
          <p:nvPr>
            <p:ph type="sldNum" sz="quarter" idx="12"/>
          </p:nvPr>
        </p:nvSpPr>
        <p:spPr/>
        <p:txBody>
          <a:bodyPr/>
          <a:lstStyle/>
          <a:p>
            <a:fld id="{C1529489-0C7C-4935-8351-BBDA42B34525}" type="slidenum">
              <a:rPr lang="en-IN" smtClean="0"/>
              <a:t>‹#›</a:t>
            </a:fld>
            <a:endParaRPr lang="en-IN"/>
          </a:p>
        </p:txBody>
      </p:sp>
    </p:spTree>
    <p:extLst>
      <p:ext uri="{BB962C8B-B14F-4D97-AF65-F5344CB8AC3E}">
        <p14:creationId xmlns:p14="http://schemas.microsoft.com/office/powerpoint/2010/main" val="2992533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958E88-9467-2549-D466-B77BF0B0031B}"/>
              </a:ext>
            </a:extLst>
          </p:cNvPr>
          <p:cNvSpPr>
            <a:spLocks noGrp="1"/>
          </p:cNvSpPr>
          <p:nvPr>
            <p:ph type="dt" sz="half" idx="10"/>
          </p:nvPr>
        </p:nvSpPr>
        <p:spPr/>
        <p:txBody>
          <a:bodyPr/>
          <a:lstStyle/>
          <a:p>
            <a:fld id="{85276A56-9805-492D-BD08-4C32C6435DDA}" type="datetimeFigureOut">
              <a:rPr lang="en-IN" smtClean="0"/>
              <a:t>22-09-2026</a:t>
            </a:fld>
            <a:endParaRPr lang="en-IN"/>
          </a:p>
        </p:txBody>
      </p:sp>
      <p:sp>
        <p:nvSpPr>
          <p:cNvPr id="3" name="Footer Placeholder 2">
            <a:extLst>
              <a:ext uri="{FF2B5EF4-FFF2-40B4-BE49-F238E27FC236}">
                <a16:creationId xmlns:a16="http://schemas.microsoft.com/office/drawing/2014/main" id="{CECE795D-5603-8795-DD3A-0FD4E09E9CF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37728EF-970E-94D0-B58D-314B6298923C}"/>
              </a:ext>
            </a:extLst>
          </p:cNvPr>
          <p:cNvSpPr>
            <a:spLocks noGrp="1"/>
          </p:cNvSpPr>
          <p:nvPr>
            <p:ph type="sldNum" sz="quarter" idx="12"/>
          </p:nvPr>
        </p:nvSpPr>
        <p:spPr/>
        <p:txBody>
          <a:bodyPr/>
          <a:lstStyle/>
          <a:p>
            <a:fld id="{C1529489-0C7C-4935-8351-BBDA42B34525}" type="slidenum">
              <a:rPr lang="en-IN" smtClean="0"/>
              <a:t>‹#›</a:t>
            </a:fld>
            <a:endParaRPr lang="en-IN"/>
          </a:p>
        </p:txBody>
      </p:sp>
    </p:spTree>
    <p:extLst>
      <p:ext uri="{BB962C8B-B14F-4D97-AF65-F5344CB8AC3E}">
        <p14:creationId xmlns:p14="http://schemas.microsoft.com/office/powerpoint/2010/main" val="2322530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900FA-6503-C848-295E-52F81920D2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63881DB-B7E8-0E7A-CB28-BA5A1BC4B3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8E122F9-61BA-0322-9F6B-CFBE3D1F1F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BCEA69-27FC-09EE-F595-009AE72B5B6C}"/>
              </a:ext>
            </a:extLst>
          </p:cNvPr>
          <p:cNvSpPr>
            <a:spLocks noGrp="1"/>
          </p:cNvSpPr>
          <p:nvPr>
            <p:ph type="dt" sz="half" idx="10"/>
          </p:nvPr>
        </p:nvSpPr>
        <p:spPr/>
        <p:txBody>
          <a:bodyPr/>
          <a:lstStyle/>
          <a:p>
            <a:fld id="{85276A56-9805-492D-BD08-4C32C6435DDA}" type="datetimeFigureOut">
              <a:rPr lang="en-IN" smtClean="0"/>
              <a:t>22-09-2026</a:t>
            </a:fld>
            <a:endParaRPr lang="en-IN"/>
          </a:p>
        </p:txBody>
      </p:sp>
      <p:sp>
        <p:nvSpPr>
          <p:cNvPr id="6" name="Footer Placeholder 5">
            <a:extLst>
              <a:ext uri="{FF2B5EF4-FFF2-40B4-BE49-F238E27FC236}">
                <a16:creationId xmlns:a16="http://schemas.microsoft.com/office/drawing/2014/main" id="{E5BECECF-3A83-A8EE-C4CB-0E2AAA7491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E3CCE6-0153-22FF-D977-564CFCB6946A}"/>
              </a:ext>
            </a:extLst>
          </p:cNvPr>
          <p:cNvSpPr>
            <a:spLocks noGrp="1"/>
          </p:cNvSpPr>
          <p:nvPr>
            <p:ph type="sldNum" sz="quarter" idx="12"/>
          </p:nvPr>
        </p:nvSpPr>
        <p:spPr/>
        <p:txBody>
          <a:bodyPr/>
          <a:lstStyle/>
          <a:p>
            <a:fld id="{C1529489-0C7C-4935-8351-BBDA42B34525}" type="slidenum">
              <a:rPr lang="en-IN" smtClean="0"/>
              <a:t>‹#›</a:t>
            </a:fld>
            <a:endParaRPr lang="en-IN"/>
          </a:p>
        </p:txBody>
      </p:sp>
    </p:spTree>
    <p:extLst>
      <p:ext uri="{BB962C8B-B14F-4D97-AF65-F5344CB8AC3E}">
        <p14:creationId xmlns:p14="http://schemas.microsoft.com/office/powerpoint/2010/main" val="405652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67DDD-BE49-884A-F048-988D7FC396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6C36DD6-FA16-412F-0E5A-D7EDE2B7DF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FBD67F0-BF8D-C41A-BDBA-5C43E11E43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0E2A54-0C13-07D0-F582-7FD5B20C0345}"/>
              </a:ext>
            </a:extLst>
          </p:cNvPr>
          <p:cNvSpPr>
            <a:spLocks noGrp="1"/>
          </p:cNvSpPr>
          <p:nvPr>
            <p:ph type="dt" sz="half" idx="10"/>
          </p:nvPr>
        </p:nvSpPr>
        <p:spPr/>
        <p:txBody>
          <a:bodyPr/>
          <a:lstStyle/>
          <a:p>
            <a:fld id="{85276A56-9805-492D-BD08-4C32C6435DDA}" type="datetimeFigureOut">
              <a:rPr lang="en-IN" smtClean="0"/>
              <a:t>22-09-2026</a:t>
            </a:fld>
            <a:endParaRPr lang="en-IN"/>
          </a:p>
        </p:txBody>
      </p:sp>
      <p:sp>
        <p:nvSpPr>
          <p:cNvPr id="6" name="Footer Placeholder 5">
            <a:extLst>
              <a:ext uri="{FF2B5EF4-FFF2-40B4-BE49-F238E27FC236}">
                <a16:creationId xmlns:a16="http://schemas.microsoft.com/office/drawing/2014/main" id="{5EAB4372-DA1A-13AF-58D2-07BA260CA3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85F8F8-1DF6-87E9-AAE3-EC844284743E}"/>
              </a:ext>
            </a:extLst>
          </p:cNvPr>
          <p:cNvSpPr>
            <a:spLocks noGrp="1"/>
          </p:cNvSpPr>
          <p:nvPr>
            <p:ph type="sldNum" sz="quarter" idx="12"/>
          </p:nvPr>
        </p:nvSpPr>
        <p:spPr/>
        <p:txBody>
          <a:bodyPr/>
          <a:lstStyle/>
          <a:p>
            <a:fld id="{C1529489-0C7C-4935-8351-BBDA42B34525}" type="slidenum">
              <a:rPr lang="en-IN" smtClean="0"/>
              <a:t>‹#›</a:t>
            </a:fld>
            <a:endParaRPr lang="en-IN"/>
          </a:p>
        </p:txBody>
      </p:sp>
    </p:spTree>
    <p:extLst>
      <p:ext uri="{BB962C8B-B14F-4D97-AF65-F5344CB8AC3E}">
        <p14:creationId xmlns:p14="http://schemas.microsoft.com/office/powerpoint/2010/main" val="4258432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1D23F-4749-4AE6-61EC-2A3236A2824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156C0BF-1745-8611-BFB7-F795475F5B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2CB8FC-DF65-E396-6483-2EE6BA1FAD5D}"/>
              </a:ext>
            </a:extLst>
          </p:cNvPr>
          <p:cNvSpPr>
            <a:spLocks noGrp="1"/>
          </p:cNvSpPr>
          <p:nvPr>
            <p:ph type="dt" sz="half" idx="10"/>
          </p:nvPr>
        </p:nvSpPr>
        <p:spPr/>
        <p:txBody>
          <a:bodyPr/>
          <a:lstStyle/>
          <a:p>
            <a:fld id="{85276A56-9805-492D-BD08-4C32C6435DDA}" type="datetimeFigureOut">
              <a:rPr lang="en-IN" smtClean="0"/>
              <a:t>22-09-2026</a:t>
            </a:fld>
            <a:endParaRPr lang="en-IN"/>
          </a:p>
        </p:txBody>
      </p:sp>
      <p:sp>
        <p:nvSpPr>
          <p:cNvPr id="5" name="Footer Placeholder 4">
            <a:extLst>
              <a:ext uri="{FF2B5EF4-FFF2-40B4-BE49-F238E27FC236}">
                <a16:creationId xmlns:a16="http://schemas.microsoft.com/office/drawing/2014/main" id="{B18B0EF6-328D-61BC-5F0E-BB99023771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8DC717-6C4D-44AB-BE5B-FD5E75706435}"/>
              </a:ext>
            </a:extLst>
          </p:cNvPr>
          <p:cNvSpPr>
            <a:spLocks noGrp="1"/>
          </p:cNvSpPr>
          <p:nvPr>
            <p:ph type="sldNum" sz="quarter" idx="12"/>
          </p:nvPr>
        </p:nvSpPr>
        <p:spPr/>
        <p:txBody>
          <a:bodyPr/>
          <a:lstStyle/>
          <a:p>
            <a:fld id="{C1529489-0C7C-4935-8351-BBDA42B34525}" type="slidenum">
              <a:rPr lang="en-IN" smtClean="0"/>
              <a:t>‹#›</a:t>
            </a:fld>
            <a:endParaRPr lang="en-IN"/>
          </a:p>
        </p:txBody>
      </p:sp>
    </p:spTree>
    <p:extLst>
      <p:ext uri="{BB962C8B-B14F-4D97-AF65-F5344CB8AC3E}">
        <p14:creationId xmlns:p14="http://schemas.microsoft.com/office/powerpoint/2010/main" val="72804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A8EA03-C0CF-4E2A-7996-E4A3F481896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06CC64B-4505-75E8-3F23-29C9483991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2FBA6C-4EBF-1191-9836-EC66C346F835}"/>
              </a:ext>
            </a:extLst>
          </p:cNvPr>
          <p:cNvSpPr>
            <a:spLocks noGrp="1"/>
          </p:cNvSpPr>
          <p:nvPr>
            <p:ph type="dt" sz="half" idx="10"/>
          </p:nvPr>
        </p:nvSpPr>
        <p:spPr/>
        <p:txBody>
          <a:bodyPr/>
          <a:lstStyle/>
          <a:p>
            <a:fld id="{85276A56-9805-492D-BD08-4C32C6435DDA}" type="datetimeFigureOut">
              <a:rPr lang="en-IN" smtClean="0"/>
              <a:t>22-09-2026</a:t>
            </a:fld>
            <a:endParaRPr lang="en-IN"/>
          </a:p>
        </p:txBody>
      </p:sp>
      <p:sp>
        <p:nvSpPr>
          <p:cNvPr id="5" name="Footer Placeholder 4">
            <a:extLst>
              <a:ext uri="{FF2B5EF4-FFF2-40B4-BE49-F238E27FC236}">
                <a16:creationId xmlns:a16="http://schemas.microsoft.com/office/drawing/2014/main" id="{1605FEF3-70DF-368D-29B6-73DE72313A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19FB54-954D-86E3-4A2A-A39BF1B062FD}"/>
              </a:ext>
            </a:extLst>
          </p:cNvPr>
          <p:cNvSpPr>
            <a:spLocks noGrp="1"/>
          </p:cNvSpPr>
          <p:nvPr>
            <p:ph type="sldNum" sz="quarter" idx="12"/>
          </p:nvPr>
        </p:nvSpPr>
        <p:spPr/>
        <p:txBody>
          <a:bodyPr/>
          <a:lstStyle/>
          <a:p>
            <a:fld id="{C1529489-0C7C-4935-8351-BBDA42B34525}" type="slidenum">
              <a:rPr lang="en-IN" smtClean="0"/>
              <a:t>‹#›</a:t>
            </a:fld>
            <a:endParaRPr lang="en-IN"/>
          </a:p>
        </p:txBody>
      </p:sp>
    </p:spTree>
    <p:extLst>
      <p:ext uri="{BB962C8B-B14F-4D97-AF65-F5344CB8AC3E}">
        <p14:creationId xmlns:p14="http://schemas.microsoft.com/office/powerpoint/2010/main" val="2916013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659B8B-02D2-BED4-3306-E492AF6574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24962C9-37C0-C0BA-28A4-485E68A94D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39141C-2C70-6FE4-7C12-D0A1F72C92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276A56-9805-492D-BD08-4C32C6435DDA}" type="datetimeFigureOut">
              <a:rPr lang="en-IN" smtClean="0"/>
              <a:t>22-09-2026</a:t>
            </a:fld>
            <a:endParaRPr lang="en-IN"/>
          </a:p>
        </p:txBody>
      </p:sp>
      <p:sp>
        <p:nvSpPr>
          <p:cNvPr id="5" name="Footer Placeholder 4">
            <a:extLst>
              <a:ext uri="{FF2B5EF4-FFF2-40B4-BE49-F238E27FC236}">
                <a16:creationId xmlns:a16="http://schemas.microsoft.com/office/drawing/2014/main" id="{771CB8A5-D1A5-5A49-D64C-5B9888E8B8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C73942D-EFB9-DF5A-8218-E56F82ECA9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529489-0C7C-4935-8351-BBDA42B34525}" type="slidenum">
              <a:rPr lang="en-IN" smtClean="0"/>
              <a:t>‹#›</a:t>
            </a:fld>
            <a:endParaRPr lang="en-IN"/>
          </a:p>
        </p:txBody>
      </p:sp>
    </p:spTree>
    <p:extLst>
      <p:ext uri="{BB962C8B-B14F-4D97-AF65-F5344CB8AC3E}">
        <p14:creationId xmlns:p14="http://schemas.microsoft.com/office/powerpoint/2010/main" val="26641011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82C4D-8FE2-FD89-2F60-55EEBEC4609F}"/>
              </a:ext>
            </a:extLst>
          </p:cNvPr>
          <p:cNvSpPr>
            <a:spLocks noGrp="1"/>
          </p:cNvSpPr>
          <p:nvPr>
            <p:ph type="ctrTitle"/>
          </p:nvPr>
        </p:nvSpPr>
        <p:spPr/>
        <p:txBody>
          <a:bodyPr/>
          <a:lstStyle/>
          <a:p>
            <a:r>
              <a:rPr lang="en-US" dirty="0"/>
              <a:t>DBMS </a:t>
            </a:r>
            <a:br>
              <a:rPr lang="en-US" dirty="0"/>
            </a:br>
            <a:endParaRPr lang="en-IN" dirty="0"/>
          </a:p>
        </p:txBody>
      </p:sp>
      <p:sp>
        <p:nvSpPr>
          <p:cNvPr id="3" name="Subtitle 2">
            <a:extLst>
              <a:ext uri="{FF2B5EF4-FFF2-40B4-BE49-F238E27FC236}">
                <a16:creationId xmlns:a16="http://schemas.microsoft.com/office/drawing/2014/main" id="{73139345-E0E7-EF24-60B8-0A71724BCCC1}"/>
              </a:ext>
            </a:extLst>
          </p:cNvPr>
          <p:cNvSpPr>
            <a:spLocks noGrp="1"/>
          </p:cNvSpPr>
          <p:nvPr>
            <p:ph type="subTitle" idx="1"/>
          </p:nvPr>
        </p:nvSpPr>
        <p:spPr/>
        <p:txBody>
          <a:bodyPr/>
          <a:lstStyle/>
          <a:p>
            <a:r>
              <a:rPr lang="en-US" dirty="0"/>
              <a:t>Joins and Views</a:t>
            </a:r>
            <a:endParaRPr lang="en-IN" dirty="0"/>
          </a:p>
        </p:txBody>
      </p:sp>
    </p:spTree>
    <p:extLst>
      <p:ext uri="{BB962C8B-B14F-4D97-AF65-F5344CB8AC3E}">
        <p14:creationId xmlns:p14="http://schemas.microsoft.com/office/powerpoint/2010/main" val="1294025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B5F98-F146-D662-AD0B-6684DF8CBC9B}"/>
              </a:ext>
            </a:extLst>
          </p:cNvPr>
          <p:cNvSpPr>
            <a:spLocks noGrp="1"/>
          </p:cNvSpPr>
          <p:nvPr>
            <p:ph type="title"/>
          </p:nvPr>
        </p:nvSpPr>
        <p:spPr/>
        <p:txBody>
          <a:bodyPr/>
          <a:lstStyle/>
          <a:p>
            <a:r>
              <a:rPr lang="en-IN" dirty="0"/>
              <a:t>MySQL Joins</a:t>
            </a:r>
          </a:p>
        </p:txBody>
      </p:sp>
      <p:sp>
        <p:nvSpPr>
          <p:cNvPr id="3" name="Content Placeholder 2">
            <a:extLst>
              <a:ext uri="{FF2B5EF4-FFF2-40B4-BE49-F238E27FC236}">
                <a16:creationId xmlns:a16="http://schemas.microsoft.com/office/drawing/2014/main" id="{77BCA262-D09D-5A78-E1CC-1876FB7EE434}"/>
              </a:ext>
            </a:extLst>
          </p:cNvPr>
          <p:cNvSpPr>
            <a:spLocks noGrp="1"/>
          </p:cNvSpPr>
          <p:nvPr>
            <p:ph idx="1"/>
          </p:nvPr>
        </p:nvSpPr>
        <p:spPr/>
        <p:txBody>
          <a:bodyPr>
            <a:normAutofit/>
          </a:bodyPr>
          <a:lstStyle/>
          <a:p>
            <a:r>
              <a:rPr lang="en-IN" dirty="0"/>
              <a:t>The JOIN clause is used to combine rows from two or more tables, based on a related column between them.</a:t>
            </a:r>
          </a:p>
          <a:p>
            <a:endParaRPr lang="en-IN" dirty="0"/>
          </a:p>
          <a:p>
            <a:endParaRPr lang="en-IN" dirty="0"/>
          </a:p>
        </p:txBody>
      </p:sp>
    </p:spTree>
    <p:extLst>
      <p:ext uri="{BB962C8B-B14F-4D97-AF65-F5344CB8AC3E}">
        <p14:creationId xmlns:p14="http://schemas.microsoft.com/office/powerpoint/2010/main" val="830873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C2109-023E-FFBF-9E61-A34DA46C67BE}"/>
              </a:ext>
            </a:extLst>
          </p:cNvPr>
          <p:cNvSpPr>
            <a:spLocks noGrp="1"/>
          </p:cNvSpPr>
          <p:nvPr>
            <p:ph type="title"/>
          </p:nvPr>
        </p:nvSpPr>
        <p:spPr>
          <a:xfrm>
            <a:off x="838200" y="365125"/>
            <a:ext cx="10515600" cy="1033369"/>
          </a:xfrm>
        </p:spPr>
        <p:txBody>
          <a:bodyPr/>
          <a:lstStyle/>
          <a:p>
            <a:r>
              <a:rPr lang="en-IN" dirty="0"/>
              <a:t>Types of JOINs</a:t>
            </a:r>
          </a:p>
        </p:txBody>
      </p:sp>
      <p:sp>
        <p:nvSpPr>
          <p:cNvPr id="3" name="Content Placeholder 2">
            <a:extLst>
              <a:ext uri="{FF2B5EF4-FFF2-40B4-BE49-F238E27FC236}">
                <a16:creationId xmlns:a16="http://schemas.microsoft.com/office/drawing/2014/main" id="{0B471510-8EB2-9C55-F910-694D09C1902B}"/>
              </a:ext>
            </a:extLst>
          </p:cNvPr>
          <p:cNvSpPr>
            <a:spLocks noGrp="1"/>
          </p:cNvSpPr>
          <p:nvPr>
            <p:ph idx="1"/>
          </p:nvPr>
        </p:nvSpPr>
        <p:spPr>
          <a:xfrm>
            <a:off x="838200" y="1461247"/>
            <a:ext cx="10515600" cy="4715716"/>
          </a:xfrm>
        </p:spPr>
        <p:txBody>
          <a:bodyPr>
            <a:normAutofit lnSpcReduction="10000"/>
          </a:bodyPr>
          <a:lstStyle/>
          <a:p>
            <a:pPr lvl="0"/>
            <a:r>
              <a:rPr lang="en-IN" b="1" dirty="0"/>
              <a:t>(INNER) JOIN: </a:t>
            </a:r>
            <a:r>
              <a:rPr lang="en-IN" dirty="0"/>
              <a:t>Returns only rows that have </a:t>
            </a:r>
            <a:r>
              <a:rPr lang="en-IN" b="1" dirty="0"/>
              <a:t>matching values</a:t>
            </a:r>
            <a:r>
              <a:rPr lang="en-IN" dirty="0"/>
              <a:t> in both tables</a:t>
            </a:r>
          </a:p>
          <a:p>
            <a:pPr lvl="0"/>
            <a:endParaRPr lang="en-IN" dirty="0"/>
          </a:p>
          <a:p>
            <a:pPr lvl="0"/>
            <a:r>
              <a:rPr lang="en-IN" b="1" dirty="0"/>
              <a:t>LEFT (OUTER) JOIN: </a:t>
            </a:r>
            <a:r>
              <a:rPr lang="en-IN" dirty="0"/>
              <a:t>Returns </a:t>
            </a:r>
            <a:r>
              <a:rPr lang="en-IN" b="1" dirty="0"/>
              <a:t>all rows from the left table</a:t>
            </a:r>
            <a:r>
              <a:rPr lang="en-IN" dirty="0"/>
              <a:t>, and only the matched rows from the right table</a:t>
            </a:r>
          </a:p>
          <a:p>
            <a:pPr lvl="0"/>
            <a:endParaRPr lang="en-IN" dirty="0"/>
          </a:p>
          <a:p>
            <a:pPr lvl="0"/>
            <a:r>
              <a:rPr lang="en-IN" b="1" dirty="0"/>
              <a:t>RIGHT (OUTER) JOIN: </a:t>
            </a:r>
            <a:r>
              <a:rPr lang="en-IN" dirty="0"/>
              <a:t>Returns </a:t>
            </a:r>
            <a:r>
              <a:rPr lang="en-IN" b="1" dirty="0"/>
              <a:t>all rows from the right table</a:t>
            </a:r>
            <a:r>
              <a:rPr lang="en-IN" dirty="0"/>
              <a:t>, and only the matched rows from the left table</a:t>
            </a:r>
          </a:p>
          <a:p>
            <a:pPr lvl="0"/>
            <a:endParaRPr lang="en-IN" dirty="0"/>
          </a:p>
          <a:p>
            <a:pPr lvl="0"/>
            <a:r>
              <a:rPr lang="en-IN" b="1" dirty="0"/>
              <a:t>FULL (OUTER) JOIN: </a:t>
            </a:r>
            <a:r>
              <a:rPr lang="en-IN" dirty="0"/>
              <a:t>Returns </a:t>
            </a:r>
            <a:r>
              <a:rPr lang="en-IN" b="1" dirty="0"/>
              <a:t>all rows</a:t>
            </a:r>
            <a:r>
              <a:rPr lang="en-IN" dirty="0"/>
              <a:t> when there is a match in either the left or right table</a:t>
            </a:r>
          </a:p>
        </p:txBody>
      </p:sp>
    </p:spTree>
    <p:extLst>
      <p:ext uri="{BB962C8B-B14F-4D97-AF65-F5344CB8AC3E}">
        <p14:creationId xmlns:p14="http://schemas.microsoft.com/office/powerpoint/2010/main" val="4024960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38C44-BE33-57B8-5EAF-F044108C0762}"/>
              </a:ext>
            </a:extLst>
          </p:cNvPr>
          <p:cNvSpPr>
            <a:spLocks noGrp="1"/>
          </p:cNvSpPr>
          <p:nvPr>
            <p:ph type="title"/>
          </p:nvPr>
        </p:nvSpPr>
        <p:spPr/>
        <p:txBody>
          <a:bodyPr/>
          <a:lstStyle/>
          <a:p>
            <a:r>
              <a:rPr lang="en-IN" dirty="0"/>
              <a:t>INNER JOIN</a:t>
            </a:r>
          </a:p>
        </p:txBody>
      </p:sp>
      <p:sp>
        <p:nvSpPr>
          <p:cNvPr id="3" name="Content Placeholder 2">
            <a:extLst>
              <a:ext uri="{FF2B5EF4-FFF2-40B4-BE49-F238E27FC236}">
                <a16:creationId xmlns:a16="http://schemas.microsoft.com/office/drawing/2014/main" id="{6239B067-2BC5-92D3-B300-89F1EF2CE7D7}"/>
              </a:ext>
            </a:extLst>
          </p:cNvPr>
          <p:cNvSpPr>
            <a:spLocks noGrp="1"/>
          </p:cNvSpPr>
          <p:nvPr>
            <p:ph idx="1"/>
          </p:nvPr>
        </p:nvSpPr>
        <p:spPr/>
        <p:txBody>
          <a:bodyPr/>
          <a:lstStyle/>
          <a:p>
            <a:r>
              <a:rPr lang="en-IN" dirty="0"/>
              <a:t>The INNER JOIN clause returns only rows that have </a:t>
            </a:r>
            <a:r>
              <a:rPr lang="en-IN" b="1" dirty="0"/>
              <a:t>matching values</a:t>
            </a:r>
            <a:r>
              <a:rPr lang="en-IN" dirty="0"/>
              <a:t> in both tables.</a:t>
            </a:r>
          </a:p>
          <a:p>
            <a:r>
              <a:rPr lang="en-IN" dirty="0"/>
              <a:t>SELECT </a:t>
            </a:r>
            <a:r>
              <a:rPr lang="en-IN" i="1" dirty="0"/>
              <a:t>table1.column1</a:t>
            </a:r>
            <a:r>
              <a:rPr lang="en-IN" dirty="0"/>
              <a:t>, </a:t>
            </a:r>
            <a:r>
              <a:rPr lang="en-IN" i="1" dirty="0"/>
              <a:t>table1.column2</a:t>
            </a:r>
            <a:r>
              <a:rPr lang="en-IN" dirty="0"/>
              <a:t>, ...,</a:t>
            </a:r>
            <a:r>
              <a:rPr lang="en-IN" i="1" dirty="0"/>
              <a:t> table2.column1</a:t>
            </a:r>
            <a:r>
              <a:rPr lang="en-IN" dirty="0"/>
              <a:t>, ...</a:t>
            </a:r>
            <a:br>
              <a:rPr lang="en-IN" dirty="0"/>
            </a:br>
            <a:r>
              <a:rPr lang="en-IN" dirty="0"/>
              <a:t>FROM </a:t>
            </a:r>
            <a:r>
              <a:rPr lang="en-IN" i="1" dirty="0"/>
              <a:t>table1</a:t>
            </a:r>
            <a:br>
              <a:rPr lang="en-IN" dirty="0"/>
            </a:br>
            <a:r>
              <a:rPr lang="en-IN" dirty="0"/>
              <a:t>INNER JOIN </a:t>
            </a:r>
            <a:r>
              <a:rPr lang="en-IN" i="1" dirty="0"/>
              <a:t>table2</a:t>
            </a:r>
            <a:br>
              <a:rPr lang="en-IN" i="1" dirty="0"/>
            </a:br>
            <a:r>
              <a:rPr lang="en-IN" dirty="0"/>
              <a:t>ON </a:t>
            </a:r>
            <a:r>
              <a:rPr lang="en-IN" i="1" dirty="0"/>
              <a:t>table1.condition_column </a:t>
            </a:r>
            <a:r>
              <a:rPr lang="en-IN" dirty="0"/>
              <a:t>=</a:t>
            </a:r>
            <a:r>
              <a:rPr lang="en-IN" i="1" dirty="0"/>
              <a:t> table2.condition_column</a:t>
            </a:r>
            <a:r>
              <a:rPr lang="en-IN" dirty="0"/>
              <a:t>;</a:t>
            </a:r>
          </a:p>
          <a:p>
            <a:endParaRPr lang="en-IN" dirty="0"/>
          </a:p>
          <a:p>
            <a:endParaRPr lang="en-IN" dirty="0"/>
          </a:p>
        </p:txBody>
      </p:sp>
      <p:pic>
        <p:nvPicPr>
          <p:cNvPr id="5" name="Picture 4">
            <a:extLst>
              <a:ext uri="{FF2B5EF4-FFF2-40B4-BE49-F238E27FC236}">
                <a16:creationId xmlns:a16="http://schemas.microsoft.com/office/drawing/2014/main" id="{7A2B7219-31D5-A875-C3AD-5042C96F9C69}"/>
              </a:ext>
            </a:extLst>
          </p:cNvPr>
          <p:cNvPicPr>
            <a:picLocks noChangeAspect="1"/>
          </p:cNvPicPr>
          <p:nvPr/>
        </p:nvPicPr>
        <p:blipFill>
          <a:blip r:embed="rId2"/>
          <a:stretch>
            <a:fillRect/>
          </a:stretch>
        </p:blipFill>
        <p:spPr>
          <a:xfrm>
            <a:off x="4295494" y="4483100"/>
            <a:ext cx="3457575" cy="2009775"/>
          </a:xfrm>
          <a:prstGeom prst="rect">
            <a:avLst/>
          </a:prstGeom>
        </p:spPr>
      </p:pic>
    </p:spTree>
    <p:extLst>
      <p:ext uri="{BB962C8B-B14F-4D97-AF65-F5344CB8AC3E}">
        <p14:creationId xmlns:p14="http://schemas.microsoft.com/office/powerpoint/2010/main" val="3885467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8A914-C3C8-E2C6-5FD0-D328C2F00D5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5386E53-B209-398A-CC80-B0B3833B9DD7}"/>
              </a:ext>
            </a:extLst>
          </p:cNvPr>
          <p:cNvSpPr>
            <a:spLocks noGrp="1"/>
          </p:cNvSpPr>
          <p:nvPr>
            <p:ph idx="1"/>
          </p:nvPr>
        </p:nvSpPr>
        <p:spPr/>
        <p:txBody>
          <a:bodyPr/>
          <a:lstStyle/>
          <a:p>
            <a:r>
              <a:rPr lang="en-IN" dirty="0"/>
              <a:t>Products</a:t>
            </a:r>
          </a:p>
          <a:p>
            <a:endParaRPr lang="en-IN" dirty="0"/>
          </a:p>
          <a:p>
            <a:endParaRPr lang="en-IN" dirty="0"/>
          </a:p>
          <a:p>
            <a:pPr marL="0" indent="0">
              <a:buNone/>
            </a:pPr>
            <a:endParaRPr lang="en-IN" dirty="0"/>
          </a:p>
          <a:p>
            <a:r>
              <a:rPr lang="en-IN" dirty="0"/>
              <a:t>Categories</a:t>
            </a:r>
          </a:p>
        </p:txBody>
      </p:sp>
      <p:pic>
        <p:nvPicPr>
          <p:cNvPr id="5" name="Picture 4">
            <a:extLst>
              <a:ext uri="{FF2B5EF4-FFF2-40B4-BE49-F238E27FC236}">
                <a16:creationId xmlns:a16="http://schemas.microsoft.com/office/drawing/2014/main" id="{52EE5704-B5B0-DF2D-C066-519F21AA622F}"/>
              </a:ext>
            </a:extLst>
          </p:cNvPr>
          <p:cNvPicPr>
            <a:picLocks noChangeAspect="1"/>
          </p:cNvPicPr>
          <p:nvPr/>
        </p:nvPicPr>
        <p:blipFill>
          <a:blip r:embed="rId2"/>
          <a:stretch>
            <a:fillRect/>
          </a:stretch>
        </p:blipFill>
        <p:spPr>
          <a:xfrm>
            <a:off x="972302" y="2655455"/>
            <a:ext cx="10381498" cy="847843"/>
          </a:xfrm>
          <a:prstGeom prst="rect">
            <a:avLst/>
          </a:prstGeom>
        </p:spPr>
      </p:pic>
      <p:pic>
        <p:nvPicPr>
          <p:cNvPr id="7" name="Picture 6">
            <a:extLst>
              <a:ext uri="{FF2B5EF4-FFF2-40B4-BE49-F238E27FC236}">
                <a16:creationId xmlns:a16="http://schemas.microsoft.com/office/drawing/2014/main" id="{2AA97EE9-F93C-0E12-4C60-D435E7D4EBB9}"/>
              </a:ext>
            </a:extLst>
          </p:cNvPr>
          <p:cNvPicPr>
            <a:picLocks noChangeAspect="1"/>
          </p:cNvPicPr>
          <p:nvPr/>
        </p:nvPicPr>
        <p:blipFill>
          <a:blip r:embed="rId3"/>
          <a:stretch>
            <a:fillRect/>
          </a:stretch>
        </p:blipFill>
        <p:spPr>
          <a:xfrm>
            <a:off x="1048871" y="4666064"/>
            <a:ext cx="10142248" cy="914528"/>
          </a:xfrm>
          <a:prstGeom prst="rect">
            <a:avLst/>
          </a:prstGeom>
        </p:spPr>
      </p:pic>
    </p:spTree>
    <p:extLst>
      <p:ext uri="{BB962C8B-B14F-4D97-AF65-F5344CB8AC3E}">
        <p14:creationId xmlns:p14="http://schemas.microsoft.com/office/powerpoint/2010/main" val="1052529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3FD86-6DA0-B3C7-CDEF-C3E619420A5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CE7C79E-C41C-0828-9FB3-A5E142B75210}"/>
              </a:ext>
            </a:extLst>
          </p:cNvPr>
          <p:cNvSpPr>
            <a:spLocks noGrp="1"/>
          </p:cNvSpPr>
          <p:nvPr>
            <p:ph idx="1"/>
          </p:nvPr>
        </p:nvSpPr>
        <p:spPr/>
        <p:txBody>
          <a:bodyPr/>
          <a:lstStyle/>
          <a:p>
            <a:r>
              <a:rPr lang="en-IN" dirty="0"/>
              <a:t>SELECT </a:t>
            </a:r>
            <a:r>
              <a:rPr lang="en-IN" dirty="0" err="1"/>
              <a:t>Products.ProductID</a:t>
            </a:r>
            <a:r>
              <a:rPr lang="en-IN" dirty="0"/>
              <a:t>, </a:t>
            </a:r>
            <a:r>
              <a:rPr lang="en-IN" dirty="0" err="1"/>
              <a:t>Products.ProductName</a:t>
            </a:r>
            <a:r>
              <a:rPr lang="en-IN" dirty="0"/>
              <a:t>, </a:t>
            </a:r>
            <a:r>
              <a:rPr lang="en-IN" dirty="0" err="1"/>
              <a:t>Categories.CategoryName</a:t>
            </a:r>
            <a:br>
              <a:rPr lang="en-IN" dirty="0"/>
            </a:br>
            <a:r>
              <a:rPr lang="en-IN" dirty="0"/>
              <a:t>FROM Products</a:t>
            </a:r>
            <a:br>
              <a:rPr lang="en-IN" dirty="0"/>
            </a:br>
            <a:r>
              <a:rPr lang="en-IN" dirty="0"/>
              <a:t>INNER JOIN Categories ON </a:t>
            </a:r>
            <a:r>
              <a:rPr lang="en-IN" dirty="0" err="1"/>
              <a:t>Products.CategoryID</a:t>
            </a:r>
            <a:r>
              <a:rPr lang="en-IN" dirty="0"/>
              <a:t> = </a:t>
            </a:r>
            <a:r>
              <a:rPr lang="en-IN" dirty="0" err="1"/>
              <a:t>Categories.CategoryID</a:t>
            </a:r>
            <a:r>
              <a:rPr lang="en-IN" dirty="0"/>
              <a:t>;</a:t>
            </a:r>
          </a:p>
          <a:p>
            <a:pPr marL="0" indent="0">
              <a:buNone/>
            </a:pPr>
            <a:br>
              <a:rPr lang="en-IN" dirty="0"/>
            </a:br>
            <a:r>
              <a:rPr lang="en-IN" dirty="0"/>
              <a:t> INNER JOIN returns only rows with a match in both tables. </a:t>
            </a:r>
          </a:p>
          <a:p>
            <a:pPr marL="0" indent="0">
              <a:buNone/>
            </a:pPr>
            <a:r>
              <a:rPr lang="en-IN" dirty="0"/>
              <a:t>This means that if there is a product with no </a:t>
            </a:r>
            <a:r>
              <a:rPr lang="en-IN" dirty="0" err="1"/>
              <a:t>CategoryID</a:t>
            </a:r>
            <a:r>
              <a:rPr lang="en-IN" dirty="0"/>
              <a:t>, or with a </a:t>
            </a:r>
            <a:r>
              <a:rPr lang="en-IN" dirty="0" err="1"/>
              <a:t>CategoryID</a:t>
            </a:r>
            <a:r>
              <a:rPr lang="en-IN" dirty="0"/>
              <a:t> not present in the "Categories" table, that row will not be returned in the result.</a:t>
            </a:r>
          </a:p>
        </p:txBody>
      </p:sp>
    </p:spTree>
    <p:extLst>
      <p:ext uri="{BB962C8B-B14F-4D97-AF65-F5344CB8AC3E}">
        <p14:creationId xmlns:p14="http://schemas.microsoft.com/office/powerpoint/2010/main" val="2526018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748B4-BD45-28E7-5260-0AA7AC5EE7BF}"/>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E2FFCF4C-E7CF-B92A-DD35-9CDCBCE57A9F}"/>
              </a:ext>
            </a:extLst>
          </p:cNvPr>
          <p:cNvGraphicFramePr>
            <a:graphicFrameLocks noGrp="1"/>
          </p:cNvGraphicFramePr>
          <p:nvPr>
            <p:ph idx="1"/>
            <p:extLst>
              <p:ext uri="{D42A27DB-BD31-4B8C-83A1-F6EECF244321}">
                <p14:modId xmlns:p14="http://schemas.microsoft.com/office/powerpoint/2010/main" val="3409466222"/>
              </p:ext>
            </p:extLst>
          </p:nvPr>
        </p:nvGraphicFramePr>
        <p:xfrm>
          <a:off x="3009901" y="3863900"/>
          <a:ext cx="5455023" cy="1828800"/>
        </p:xfrm>
        <a:graphic>
          <a:graphicData uri="http://schemas.openxmlformats.org/drawingml/2006/table">
            <a:tbl>
              <a:tblPr>
                <a:tableStyleId>{5C22544A-7EE6-4342-B048-85BDC9FD1C3A}</a:tableStyleId>
              </a:tblPr>
              <a:tblGrid>
                <a:gridCol w="1818341">
                  <a:extLst>
                    <a:ext uri="{9D8B030D-6E8A-4147-A177-3AD203B41FA5}">
                      <a16:colId xmlns:a16="http://schemas.microsoft.com/office/drawing/2014/main" val="966284259"/>
                    </a:ext>
                  </a:extLst>
                </a:gridCol>
                <a:gridCol w="1818341">
                  <a:extLst>
                    <a:ext uri="{9D8B030D-6E8A-4147-A177-3AD203B41FA5}">
                      <a16:colId xmlns:a16="http://schemas.microsoft.com/office/drawing/2014/main" val="2206163200"/>
                    </a:ext>
                  </a:extLst>
                </a:gridCol>
                <a:gridCol w="1818341">
                  <a:extLst>
                    <a:ext uri="{9D8B030D-6E8A-4147-A177-3AD203B41FA5}">
                      <a16:colId xmlns:a16="http://schemas.microsoft.com/office/drawing/2014/main" val="1558899528"/>
                    </a:ext>
                  </a:extLst>
                </a:gridCol>
              </a:tblGrid>
              <a:tr h="0">
                <a:tc>
                  <a:txBody>
                    <a:bodyPr/>
                    <a:lstStyle/>
                    <a:p>
                      <a:pPr algn="ctr">
                        <a:buNone/>
                      </a:pPr>
                      <a:r>
                        <a:rPr lang="en-IN" b="1" dirty="0" err="1"/>
                        <a:t>OrderID</a:t>
                      </a:r>
                      <a:endParaRPr lang="en-IN" b="1" dirty="0"/>
                    </a:p>
                  </a:txBody>
                  <a:tcPr anchor="ctr"/>
                </a:tc>
                <a:tc>
                  <a:txBody>
                    <a:bodyPr/>
                    <a:lstStyle/>
                    <a:p>
                      <a:pPr algn="ctr">
                        <a:buNone/>
                      </a:pPr>
                      <a:r>
                        <a:rPr lang="en-IN" b="1" dirty="0" err="1"/>
                        <a:t>CustomerID</a:t>
                      </a:r>
                      <a:endParaRPr lang="en-IN" b="1" dirty="0"/>
                    </a:p>
                  </a:txBody>
                  <a:tcPr anchor="ctr"/>
                </a:tc>
                <a:tc>
                  <a:txBody>
                    <a:bodyPr/>
                    <a:lstStyle/>
                    <a:p>
                      <a:pPr algn="ctr">
                        <a:buNone/>
                      </a:pPr>
                      <a:r>
                        <a:rPr lang="en-IN" b="1" dirty="0" err="1"/>
                        <a:t>ShipperID</a:t>
                      </a:r>
                      <a:endParaRPr lang="en-IN" b="1" dirty="0"/>
                    </a:p>
                  </a:txBody>
                  <a:tcPr anchor="ctr"/>
                </a:tc>
                <a:extLst>
                  <a:ext uri="{0D108BD9-81ED-4DB2-BD59-A6C34878D82A}">
                    <a16:rowId xmlns:a16="http://schemas.microsoft.com/office/drawing/2014/main" val="3830610074"/>
                  </a:ext>
                </a:extLst>
              </a:tr>
              <a:tr h="0">
                <a:tc>
                  <a:txBody>
                    <a:bodyPr/>
                    <a:lstStyle/>
                    <a:p>
                      <a:pPr algn="ctr">
                        <a:buNone/>
                      </a:pPr>
                      <a:r>
                        <a:rPr lang="en-IN"/>
                        <a:t>101</a:t>
                      </a:r>
                    </a:p>
                  </a:txBody>
                  <a:tcPr anchor="ctr"/>
                </a:tc>
                <a:tc>
                  <a:txBody>
                    <a:bodyPr/>
                    <a:lstStyle/>
                    <a:p>
                      <a:pPr algn="ctr">
                        <a:buNone/>
                      </a:pPr>
                      <a:r>
                        <a:rPr lang="en-IN" dirty="0"/>
                        <a:t>1</a:t>
                      </a:r>
                    </a:p>
                  </a:txBody>
                  <a:tcPr anchor="ctr"/>
                </a:tc>
                <a:tc>
                  <a:txBody>
                    <a:bodyPr/>
                    <a:lstStyle/>
                    <a:p>
                      <a:pPr algn="ctr">
                        <a:buNone/>
                      </a:pPr>
                      <a:r>
                        <a:rPr lang="en-IN"/>
                        <a:t>2</a:t>
                      </a:r>
                    </a:p>
                  </a:txBody>
                  <a:tcPr anchor="ctr"/>
                </a:tc>
                <a:extLst>
                  <a:ext uri="{0D108BD9-81ED-4DB2-BD59-A6C34878D82A}">
                    <a16:rowId xmlns:a16="http://schemas.microsoft.com/office/drawing/2014/main" val="4237750622"/>
                  </a:ext>
                </a:extLst>
              </a:tr>
              <a:tr h="0">
                <a:tc>
                  <a:txBody>
                    <a:bodyPr/>
                    <a:lstStyle/>
                    <a:p>
                      <a:pPr algn="ctr">
                        <a:buNone/>
                      </a:pPr>
                      <a:r>
                        <a:rPr lang="en-IN"/>
                        <a:t>102</a:t>
                      </a:r>
                    </a:p>
                  </a:txBody>
                  <a:tcPr anchor="ctr"/>
                </a:tc>
                <a:tc>
                  <a:txBody>
                    <a:bodyPr/>
                    <a:lstStyle/>
                    <a:p>
                      <a:pPr algn="ctr">
                        <a:buNone/>
                      </a:pPr>
                      <a:r>
                        <a:rPr lang="en-IN" dirty="0"/>
                        <a:t>2</a:t>
                      </a:r>
                    </a:p>
                  </a:txBody>
                  <a:tcPr anchor="ctr"/>
                </a:tc>
                <a:tc>
                  <a:txBody>
                    <a:bodyPr/>
                    <a:lstStyle/>
                    <a:p>
                      <a:pPr algn="ctr">
                        <a:buNone/>
                      </a:pPr>
                      <a:r>
                        <a:rPr lang="en-IN" dirty="0"/>
                        <a:t>1</a:t>
                      </a:r>
                    </a:p>
                  </a:txBody>
                  <a:tcPr anchor="ctr"/>
                </a:tc>
                <a:extLst>
                  <a:ext uri="{0D108BD9-81ED-4DB2-BD59-A6C34878D82A}">
                    <a16:rowId xmlns:a16="http://schemas.microsoft.com/office/drawing/2014/main" val="1424109940"/>
                  </a:ext>
                </a:extLst>
              </a:tr>
              <a:tr h="0">
                <a:tc>
                  <a:txBody>
                    <a:bodyPr/>
                    <a:lstStyle/>
                    <a:p>
                      <a:pPr algn="ctr">
                        <a:buNone/>
                      </a:pPr>
                      <a:r>
                        <a:rPr lang="en-IN"/>
                        <a:t>103</a:t>
                      </a:r>
                    </a:p>
                  </a:txBody>
                  <a:tcPr anchor="ctr"/>
                </a:tc>
                <a:tc>
                  <a:txBody>
                    <a:bodyPr/>
                    <a:lstStyle/>
                    <a:p>
                      <a:pPr algn="ctr">
                        <a:buNone/>
                      </a:pPr>
                      <a:r>
                        <a:rPr lang="en-IN" dirty="0"/>
                        <a:t>3</a:t>
                      </a:r>
                    </a:p>
                  </a:txBody>
                  <a:tcPr anchor="ctr"/>
                </a:tc>
                <a:tc>
                  <a:txBody>
                    <a:bodyPr/>
                    <a:lstStyle/>
                    <a:p>
                      <a:pPr algn="ctr">
                        <a:buNone/>
                      </a:pPr>
                      <a:r>
                        <a:rPr lang="en-IN" dirty="0"/>
                        <a:t>2</a:t>
                      </a:r>
                    </a:p>
                  </a:txBody>
                  <a:tcPr anchor="ctr"/>
                </a:tc>
                <a:extLst>
                  <a:ext uri="{0D108BD9-81ED-4DB2-BD59-A6C34878D82A}">
                    <a16:rowId xmlns:a16="http://schemas.microsoft.com/office/drawing/2014/main" val="1480287839"/>
                  </a:ext>
                </a:extLst>
              </a:tr>
              <a:tr h="0">
                <a:tc>
                  <a:txBody>
                    <a:bodyPr/>
                    <a:lstStyle/>
                    <a:p>
                      <a:pPr algn="ctr">
                        <a:buNone/>
                      </a:pPr>
                      <a:r>
                        <a:rPr lang="en-IN"/>
                        <a:t>104</a:t>
                      </a:r>
                    </a:p>
                  </a:txBody>
                  <a:tcPr anchor="ctr"/>
                </a:tc>
                <a:tc>
                  <a:txBody>
                    <a:bodyPr/>
                    <a:lstStyle/>
                    <a:p>
                      <a:pPr algn="ctr">
                        <a:buNone/>
                      </a:pPr>
                      <a:r>
                        <a:rPr lang="en-IN" dirty="0"/>
                        <a:t>5</a:t>
                      </a:r>
                    </a:p>
                  </a:txBody>
                  <a:tcPr anchor="ctr"/>
                </a:tc>
                <a:tc>
                  <a:txBody>
                    <a:bodyPr/>
                    <a:lstStyle/>
                    <a:p>
                      <a:pPr algn="ctr">
                        <a:buNone/>
                      </a:pPr>
                      <a:r>
                        <a:rPr lang="en-IN" dirty="0"/>
                        <a:t>3</a:t>
                      </a:r>
                    </a:p>
                  </a:txBody>
                  <a:tcPr anchor="ctr"/>
                </a:tc>
                <a:extLst>
                  <a:ext uri="{0D108BD9-81ED-4DB2-BD59-A6C34878D82A}">
                    <a16:rowId xmlns:a16="http://schemas.microsoft.com/office/drawing/2014/main" val="3617016131"/>
                  </a:ext>
                </a:extLst>
              </a:tr>
            </a:tbl>
          </a:graphicData>
        </a:graphic>
      </p:graphicFrame>
      <p:graphicFrame>
        <p:nvGraphicFramePr>
          <p:cNvPr id="5" name="Table 4">
            <a:extLst>
              <a:ext uri="{FF2B5EF4-FFF2-40B4-BE49-F238E27FC236}">
                <a16:creationId xmlns:a16="http://schemas.microsoft.com/office/drawing/2014/main" id="{96652B3B-BFCA-E84A-01D1-EF2BF828BEFC}"/>
              </a:ext>
            </a:extLst>
          </p:cNvPr>
          <p:cNvGraphicFramePr>
            <a:graphicFrameLocks noGrp="1"/>
          </p:cNvGraphicFramePr>
          <p:nvPr>
            <p:extLst>
              <p:ext uri="{D42A27DB-BD31-4B8C-83A1-F6EECF244321}">
                <p14:modId xmlns:p14="http://schemas.microsoft.com/office/powerpoint/2010/main" val="1606590272"/>
              </p:ext>
            </p:extLst>
          </p:nvPr>
        </p:nvGraphicFramePr>
        <p:xfrm>
          <a:off x="977152" y="1060147"/>
          <a:ext cx="4459942" cy="2194560"/>
        </p:xfrm>
        <a:graphic>
          <a:graphicData uri="http://schemas.openxmlformats.org/drawingml/2006/table">
            <a:tbl>
              <a:tblPr>
                <a:tableStyleId>{5C22544A-7EE6-4342-B048-85BDC9FD1C3A}</a:tableStyleId>
              </a:tblPr>
              <a:tblGrid>
                <a:gridCol w="2229971">
                  <a:extLst>
                    <a:ext uri="{9D8B030D-6E8A-4147-A177-3AD203B41FA5}">
                      <a16:colId xmlns:a16="http://schemas.microsoft.com/office/drawing/2014/main" val="1458951286"/>
                    </a:ext>
                  </a:extLst>
                </a:gridCol>
                <a:gridCol w="2229971">
                  <a:extLst>
                    <a:ext uri="{9D8B030D-6E8A-4147-A177-3AD203B41FA5}">
                      <a16:colId xmlns:a16="http://schemas.microsoft.com/office/drawing/2014/main" val="3259556959"/>
                    </a:ext>
                  </a:extLst>
                </a:gridCol>
              </a:tblGrid>
              <a:tr h="0">
                <a:tc>
                  <a:txBody>
                    <a:bodyPr/>
                    <a:lstStyle/>
                    <a:p>
                      <a:pPr algn="ctr">
                        <a:buNone/>
                      </a:pPr>
                      <a:r>
                        <a:rPr lang="en-IN" b="1" dirty="0" err="1"/>
                        <a:t>CustomerID</a:t>
                      </a:r>
                      <a:endParaRPr lang="en-IN" b="1" dirty="0"/>
                    </a:p>
                  </a:txBody>
                  <a:tcPr anchor="ctr"/>
                </a:tc>
                <a:tc>
                  <a:txBody>
                    <a:bodyPr/>
                    <a:lstStyle/>
                    <a:p>
                      <a:pPr algn="ctr">
                        <a:buNone/>
                      </a:pPr>
                      <a:r>
                        <a:rPr lang="en-IN" b="1" dirty="0" err="1"/>
                        <a:t>CustomerName</a:t>
                      </a:r>
                      <a:endParaRPr lang="en-IN" b="1" dirty="0"/>
                    </a:p>
                  </a:txBody>
                  <a:tcPr anchor="ctr"/>
                </a:tc>
                <a:extLst>
                  <a:ext uri="{0D108BD9-81ED-4DB2-BD59-A6C34878D82A}">
                    <a16:rowId xmlns:a16="http://schemas.microsoft.com/office/drawing/2014/main" val="3354515288"/>
                  </a:ext>
                </a:extLst>
              </a:tr>
              <a:tr h="0">
                <a:tc>
                  <a:txBody>
                    <a:bodyPr/>
                    <a:lstStyle/>
                    <a:p>
                      <a:pPr algn="ctr">
                        <a:buNone/>
                      </a:pPr>
                      <a:r>
                        <a:rPr lang="en-IN" dirty="0"/>
                        <a:t>1</a:t>
                      </a:r>
                    </a:p>
                  </a:txBody>
                  <a:tcPr anchor="ctr"/>
                </a:tc>
                <a:tc>
                  <a:txBody>
                    <a:bodyPr/>
                    <a:lstStyle/>
                    <a:p>
                      <a:pPr algn="ctr">
                        <a:buNone/>
                      </a:pPr>
                      <a:r>
                        <a:rPr lang="en-IN" dirty="0"/>
                        <a:t>John</a:t>
                      </a:r>
                    </a:p>
                  </a:txBody>
                  <a:tcPr anchor="ctr"/>
                </a:tc>
                <a:extLst>
                  <a:ext uri="{0D108BD9-81ED-4DB2-BD59-A6C34878D82A}">
                    <a16:rowId xmlns:a16="http://schemas.microsoft.com/office/drawing/2014/main" val="2970896410"/>
                  </a:ext>
                </a:extLst>
              </a:tr>
              <a:tr h="0">
                <a:tc>
                  <a:txBody>
                    <a:bodyPr/>
                    <a:lstStyle/>
                    <a:p>
                      <a:pPr algn="ctr">
                        <a:buNone/>
                      </a:pPr>
                      <a:r>
                        <a:rPr lang="en-IN" dirty="0"/>
                        <a:t>2</a:t>
                      </a:r>
                    </a:p>
                  </a:txBody>
                  <a:tcPr anchor="ctr"/>
                </a:tc>
                <a:tc>
                  <a:txBody>
                    <a:bodyPr/>
                    <a:lstStyle/>
                    <a:p>
                      <a:pPr algn="ctr">
                        <a:buNone/>
                      </a:pPr>
                      <a:r>
                        <a:rPr lang="en-IN" dirty="0"/>
                        <a:t>Alice</a:t>
                      </a:r>
                    </a:p>
                  </a:txBody>
                  <a:tcPr anchor="ctr"/>
                </a:tc>
                <a:extLst>
                  <a:ext uri="{0D108BD9-81ED-4DB2-BD59-A6C34878D82A}">
                    <a16:rowId xmlns:a16="http://schemas.microsoft.com/office/drawing/2014/main" val="350895506"/>
                  </a:ext>
                </a:extLst>
              </a:tr>
              <a:tr h="0">
                <a:tc>
                  <a:txBody>
                    <a:bodyPr/>
                    <a:lstStyle/>
                    <a:p>
                      <a:pPr algn="ctr">
                        <a:buNone/>
                      </a:pPr>
                      <a:r>
                        <a:rPr lang="en-IN"/>
                        <a:t>3</a:t>
                      </a:r>
                    </a:p>
                  </a:txBody>
                  <a:tcPr anchor="ctr"/>
                </a:tc>
                <a:tc>
                  <a:txBody>
                    <a:bodyPr/>
                    <a:lstStyle/>
                    <a:p>
                      <a:pPr algn="ctr">
                        <a:buNone/>
                      </a:pPr>
                      <a:r>
                        <a:rPr lang="en-IN" dirty="0"/>
                        <a:t>Rahul</a:t>
                      </a:r>
                    </a:p>
                  </a:txBody>
                  <a:tcPr anchor="ctr"/>
                </a:tc>
                <a:extLst>
                  <a:ext uri="{0D108BD9-81ED-4DB2-BD59-A6C34878D82A}">
                    <a16:rowId xmlns:a16="http://schemas.microsoft.com/office/drawing/2014/main" val="2989467307"/>
                  </a:ext>
                </a:extLst>
              </a:tr>
              <a:tr h="0">
                <a:tc>
                  <a:txBody>
                    <a:bodyPr/>
                    <a:lstStyle/>
                    <a:p>
                      <a:pPr algn="ctr">
                        <a:buNone/>
                      </a:pPr>
                      <a:r>
                        <a:rPr lang="en-IN" dirty="0"/>
                        <a:t>4</a:t>
                      </a:r>
                    </a:p>
                  </a:txBody>
                  <a:tcPr anchor="ctr"/>
                </a:tc>
                <a:tc>
                  <a:txBody>
                    <a:bodyPr/>
                    <a:lstStyle/>
                    <a:p>
                      <a:pPr algn="ctr">
                        <a:buNone/>
                      </a:pPr>
                      <a:r>
                        <a:rPr lang="en-IN" dirty="0"/>
                        <a:t>Maria</a:t>
                      </a:r>
                    </a:p>
                  </a:txBody>
                  <a:tcPr anchor="ctr"/>
                </a:tc>
                <a:extLst>
                  <a:ext uri="{0D108BD9-81ED-4DB2-BD59-A6C34878D82A}">
                    <a16:rowId xmlns:a16="http://schemas.microsoft.com/office/drawing/2014/main" val="2772274127"/>
                  </a:ext>
                </a:extLst>
              </a:tr>
              <a:tr h="0">
                <a:tc>
                  <a:txBody>
                    <a:bodyPr/>
                    <a:lstStyle/>
                    <a:p>
                      <a:pPr algn="ctr">
                        <a:buNone/>
                      </a:pPr>
                      <a:r>
                        <a:rPr lang="en-IN"/>
                        <a:t>5</a:t>
                      </a:r>
                    </a:p>
                  </a:txBody>
                  <a:tcPr anchor="ctr"/>
                </a:tc>
                <a:tc>
                  <a:txBody>
                    <a:bodyPr/>
                    <a:lstStyle/>
                    <a:p>
                      <a:pPr algn="ctr">
                        <a:buNone/>
                      </a:pPr>
                      <a:r>
                        <a:rPr lang="en-IN" dirty="0"/>
                        <a:t>David</a:t>
                      </a:r>
                    </a:p>
                  </a:txBody>
                  <a:tcPr anchor="ctr"/>
                </a:tc>
                <a:extLst>
                  <a:ext uri="{0D108BD9-81ED-4DB2-BD59-A6C34878D82A}">
                    <a16:rowId xmlns:a16="http://schemas.microsoft.com/office/drawing/2014/main" val="3557611597"/>
                  </a:ext>
                </a:extLst>
              </a:tr>
            </a:tbl>
          </a:graphicData>
        </a:graphic>
      </p:graphicFrame>
      <p:graphicFrame>
        <p:nvGraphicFramePr>
          <p:cNvPr id="6" name="Table 5">
            <a:extLst>
              <a:ext uri="{FF2B5EF4-FFF2-40B4-BE49-F238E27FC236}">
                <a16:creationId xmlns:a16="http://schemas.microsoft.com/office/drawing/2014/main" id="{AA0FBD1A-8506-311F-BF96-A8009BA2C8F9}"/>
              </a:ext>
            </a:extLst>
          </p:cNvPr>
          <p:cNvGraphicFramePr>
            <a:graphicFrameLocks noGrp="1"/>
          </p:cNvGraphicFramePr>
          <p:nvPr>
            <p:extLst>
              <p:ext uri="{D42A27DB-BD31-4B8C-83A1-F6EECF244321}">
                <p14:modId xmlns:p14="http://schemas.microsoft.com/office/powerpoint/2010/main" val="3816550461"/>
              </p:ext>
            </p:extLst>
          </p:nvPr>
        </p:nvGraphicFramePr>
        <p:xfrm>
          <a:off x="6494930" y="1279292"/>
          <a:ext cx="3939988" cy="1463040"/>
        </p:xfrm>
        <a:graphic>
          <a:graphicData uri="http://schemas.openxmlformats.org/drawingml/2006/table">
            <a:tbl>
              <a:tblPr>
                <a:tableStyleId>{5C22544A-7EE6-4342-B048-85BDC9FD1C3A}</a:tableStyleId>
              </a:tblPr>
              <a:tblGrid>
                <a:gridCol w="1969994">
                  <a:extLst>
                    <a:ext uri="{9D8B030D-6E8A-4147-A177-3AD203B41FA5}">
                      <a16:colId xmlns:a16="http://schemas.microsoft.com/office/drawing/2014/main" val="1801950152"/>
                    </a:ext>
                  </a:extLst>
                </a:gridCol>
                <a:gridCol w="1969994">
                  <a:extLst>
                    <a:ext uri="{9D8B030D-6E8A-4147-A177-3AD203B41FA5}">
                      <a16:colId xmlns:a16="http://schemas.microsoft.com/office/drawing/2014/main" val="4034837500"/>
                    </a:ext>
                  </a:extLst>
                </a:gridCol>
              </a:tblGrid>
              <a:tr h="0">
                <a:tc>
                  <a:txBody>
                    <a:bodyPr/>
                    <a:lstStyle/>
                    <a:p>
                      <a:pPr algn="ctr">
                        <a:buNone/>
                      </a:pPr>
                      <a:r>
                        <a:rPr lang="en-IN" b="1" dirty="0" err="1"/>
                        <a:t>ShipperID</a:t>
                      </a:r>
                      <a:endParaRPr lang="en-IN" b="1" dirty="0"/>
                    </a:p>
                  </a:txBody>
                  <a:tcPr anchor="ctr"/>
                </a:tc>
                <a:tc>
                  <a:txBody>
                    <a:bodyPr/>
                    <a:lstStyle/>
                    <a:p>
                      <a:pPr algn="ctr">
                        <a:buNone/>
                      </a:pPr>
                      <a:r>
                        <a:rPr lang="en-IN" b="1" dirty="0" err="1"/>
                        <a:t>ShipperName</a:t>
                      </a:r>
                      <a:endParaRPr lang="en-IN" b="1" dirty="0"/>
                    </a:p>
                  </a:txBody>
                  <a:tcPr anchor="ctr"/>
                </a:tc>
                <a:extLst>
                  <a:ext uri="{0D108BD9-81ED-4DB2-BD59-A6C34878D82A}">
                    <a16:rowId xmlns:a16="http://schemas.microsoft.com/office/drawing/2014/main" val="1725060684"/>
                  </a:ext>
                </a:extLst>
              </a:tr>
              <a:tr h="0">
                <a:tc>
                  <a:txBody>
                    <a:bodyPr/>
                    <a:lstStyle/>
                    <a:p>
                      <a:pPr algn="ctr">
                        <a:buNone/>
                      </a:pPr>
                      <a:r>
                        <a:rPr lang="en-IN" dirty="0"/>
                        <a:t>1</a:t>
                      </a:r>
                    </a:p>
                  </a:txBody>
                  <a:tcPr anchor="ctr"/>
                </a:tc>
                <a:tc>
                  <a:txBody>
                    <a:bodyPr/>
                    <a:lstStyle/>
                    <a:p>
                      <a:pPr algn="ctr">
                        <a:buNone/>
                      </a:pPr>
                      <a:r>
                        <a:rPr lang="en-IN" dirty="0"/>
                        <a:t>Speedy Express</a:t>
                      </a:r>
                    </a:p>
                  </a:txBody>
                  <a:tcPr anchor="ctr"/>
                </a:tc>
                <a:extLst>
                  <a:ext uri="{0D108BD9-81ED-4DB2-BD59-A6C34878D82A}">
                    <a16:rowId xmlns:a16="http://schemas.microsoft.com/office/drawing/2014/main" val="751548296"/>
                  </a:ext>
                </a:extLst>
              </a:tr>
              <a:tr h="0">
                <a:tc>
                  <a:txBody>
                    <a:bodyPr/>
                    <a:lstStyle/>
                    <a:p>
                      <a:pPr algn="ctr">
                        <a:buNone/>
                      </a:pPr>
                      <a:r>
                        <a:rPr lang="en-IN"/>
                        <a:t>2</a:t>
                      </a:r>
                    </a:p>
                  </a:txBody>
                  <a:tcPr anchor="ctr"/>
                </a:tc>
                <a:tc>
                  <a:txBody>
                    <a:bodyPr/>
                    <a:lstStyle/>
                    <a:p>
                      <a:pPr algn="ctr">
                        <a:buNone/>
                      </a:pPr>
                      <a:r>
                        <a:rPr lang="en-IN" dirty="0"/>
                        <a:t>Fast Delivery</a:t>
                      </a:r>
                    </a:p>
                  </a:txBody>
                  <a:tcPr anchor="ctr"/>
                </a:tc>
                <a:extLst>
                  <a:ext uri="{0D108BD9-81ED-4DB2-BD59-A6C34878D82A}">
                    <a16:rowId xmlns:a16="http://schemas.microsoft.com/office/drawing/2014/main" val="2730332446"/>
                  </a:ext>
                </a:extLst>
              </a:tr>
              <a:tr h="0">
                <a:tc>
                  <a:txBody>
                    <a:bodyPr/>
                    <a:lstStyle/>
                    <a:p>
                      <a:pPr algn="ctr">
                        <a:buNone/>
                      </a:pPr>
                      <a:r>
                        <a:rPr lang="en-IN" dirty="0"/>
                        <a:t>3</a:t>
                      </a:r>
                    </a:p>
                  </a:txBody>
                  <a:tcPr anchor="ctr"/>
                </a:tc>
                <a:tc>
                  <a:txBody>
                    <a:bodyPr/>
                    <a:lstStyle/>
                    <a:p>
                      <a:pPr algn="ctr">
                        <a:buNone/>
                      </a:pPr>
                      <a:r>
                        <a:rPr lang="en-IN" dirty="0"/>
                        <a:t>DHL</a:t>
                      </a:r>
                    </a:p>
                  </a:txBody>
                  <a:tcPr anchor="ctr"/>
                </a:tc>
                <a:extLst>
                  <a:ext uri="{0D108BD9-81ED-4DB2-BD59-A6C34878D82A}">
                    <a16:rowId xmlns:a16="http://schemas.microsoft.com/office/drawing/2014/main" val="3714541960"/>
                  </a:ext>
                </a:extLst>
              </a:tr>
            </a:tbl>
          </a:graphicData>
        </a:graphic>
      </p:graphicFrame>
    </p:spTree>
    <p:extLst>
      <p:ext uri="{BB962C8B-B14F-4D97-AF65-F5344CB8AC3E}">
        <p14:creationId xmlns:p14="http://schemas.microsoft.com/office/powerpoint/2010/main" val="2013025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F1BB1-7D55-43C6-0865-E1EF1971509D}"/>
              </a:ext>
            </a:extLst>
          </p:cNvPr>
          <p:cNvSpPr>
            <a:spLocks noGrp="1"/>
          </p:cNvSpPr>
          <p:nvPr>
            <p:ph type="title"/>
          </p:nvPr>
        </p:nvSpPr>
        <p:spPr/>
        <p:txBody>
          <a:bodyPr/>
          <a:lstStyle/>
          <a:p>
            <a:r>
              <a:rPr lang="en-IN" b="1" dirty="0"/>
              <a:t>JOIN Multiple Tables</a:t>
            </a:r>
          </a:p>
        </p:txBody>
      </p:sp>
      <p:sp>
        <p:nvSpPr>
          <p:cNvPr id="3" name="Content Placeholder 2">
            <a:extLst>
              <a:ext uri="{FF2B5EF4-FFF2-40B4-BE49-F238E27FC236}">
                <a16:creationId xmlns:a16="http://schemas.microsoft.com/office/drawing/2014/main" id="{C28E89D4-5300-8946-6017-D38FE490A926}"/>
              </a:ext>
            </a:extLst>
          </p:cNvPr>
          <p:cNvSpPr>
            <a:spLocks noGrp="1"/>
          </p:cNvSpPr>
          <p:nvPr>
            <p:ph idx="1"/>
          </p:nvPr>
        </p:nvSpPr>
        <p:spPr>
          <a:xfrm>
            <a:off x="838200" y="1443318"/>
            <a:ext cx="10515600" cy="4733645"/>
          </a:xfrm>
        </p:spPr>
        <p:txBody>
          <a:bodyPr/>
          <a:lstStyle/>
          <a:p>
            <a:r>
              <a:rPr lang="en-IN" dirty="0"/>
              <a:t>SELECT </a:t>
            </a:r>
            <a:r>
              <a:rPr lang="en-IN" dirty="0" err="1"/>
              <a:t>Orders.OrderID</a:t>
            </a:r>
            <a:r>
              <a:rPr lang="en-IN" dirty="0"/>
              <a:t>, </a:t>
            </a:r>
            <a:r>
              <a:rPr lang="en-IN" dirty="0" err="1"/>
              <a:t>Customers.CustomerName</a:t>
            </a:r>
            <a:r>
              <a:rPr lang="en-IN" dirty="0"/>
              <a:t>, </a:t>
            </a:r>
            <a:r>
              <a:rPr lang="en-IN" dirty="0" err="1"/>
              <a:t>Shippers.ShipperName</a:t>
            </a:r>
            <a:br>
              <a:rPr lang="en-IN" dirty="0"/>
            </a:br>
            <a:r>
              <a:rPr lang="en-IN" dirty="0"/>
              <a:t>FROM Orders</a:t>
            </a:r>
            <a:br>
              <a:rPr lang="en-IN" dirty="0"/>
            </a:br>
            <a:r>
              <a:rPr lang="en-IN" dirty="0"/>
              <a:t>INNER JOIN Customers ON </a:t>
            </a:r>
            <a:r>
              <a:rPr lang="en-IN" dirty="0" err="1"/>
              <a:t>Orders.CustomerID</a:t>
            </a:r>
            <a:r>
              <a:rPr lang="en-IN" dirty="0"/>
              <a:t> = </a:t>
            </a:r>
            <a:r>
              <a:rPr lang="en-IN" dirty="0" err="1"/>
              <a:t>Customers.CustomerID</a:t>
            </a:r>
            <a:br>
              <a:rPr lang="en-IN" dirty="0"/>
            </a:br>
            <a:r>
              <a:rPr lang="en-IN" dirty="0"/>
              <a:t>INNER JOIN Shippers ON </a:t>
            </a:r>
            <a:r>
              <a:rPr lang="en-IN" dirty="0" err="1"/>
              <a:t>Orders.ShipperID</a:t>
            </a:r>
            <a:r>
              <a:rPr lang="en-IN" dirty="0"/>
              <a:t> = </a:t>
            </a:r>
            <a:r>
              <a:rPr lang="en-IN" dirty="0" err="1"/>
              <a:t>Shippers.ShipperID</a:t>
            </a:r>
            <a:r>
              <a:rPr lang="en-IN" dirty="0"/>
              <a:t>; 	</a:t>
            </a:r>
          </a:p>
        </p:txBody>
      </p:sp>
      <p:graphicFrame>
        <p:nvGraphicFramePr>
          <p:cNvPr id="4" name="Content Placeholder 3">
            <a:extLst>
              <a:ext uri="{FF2B5EF4-FFF2-40B4-BE49-F238E27FC236}">
                <a16:creationId xmlns:a16="http://schemas.microsoft.com/office/drawing/2014/main" id="{04B3A4F7-0F0A-80FD-7C71-A6DA3DBD5E49}"/>
              </a:ext>
            </a:extLst>
          </p:cNvPr>
          <p:cNvGraphicFramePr>
            <a:graphicFrameLocks/>
          </p:cNvGraphicFramePr>
          <p:nvPr>
            <p:extLst>
              <p:ext uri="{D42A27DB-BD31-4B8C-83A1-F6EECF244321}">
                <p14:modId xmlns:p14="http://schemas.microsoft.com/office/powerpoint/2010/main" val="1972413753"/>
              </p:ext>
            </p:extLst>
          </p:nvPr>
        </p:nvGraphicFramePr>
        <p:xfrm>
          <a:off x="1214717" y="3958760"/>
          <a:ext cx="7306236" cy="2603405"/>
        </p:xfrm>
        <a:graphic>
          <a:graphicData uri="http://schemas.openxmlformats.org/drawingml/2006/table">
            <a:tbl>
              <a:tblPr>
                <a:tableStyleId>{5C22544A-7EE6-4342-B048-85BDC9FD1C3A}</a:tableStyleId>
              </a:tblPr>
              <a:tblGrid>
                <a:gridCol w="2435412">
                  <a:extLst>
                    <a:ext uri="{9D8B030D-6E8A-4147-A177-3AD203B41FA5}">
                      <a16:colId xmlns:a16="http://schemas.microsoft.com/office/drawing/2014/main" val="1589625297"/>
                    </a:ext>
                  </a:extLst>
                </a:gridCol>
                <a:gridCol w="2435412">
                  <a:extLst>
                    <a:ext uri="{9D8B030D-6E8A-4147-A177-3AD203B41FA5}">
                      <a16:colId xmlns:a16="http://schemas.microsoft.com/office/drawing/2014/main" val="2275451669"/>
                    </a:ext>
                  </a:extLst>
                </a:gridCol>
                <a:gridCol w="2435412">
                  <a:extLst>
                    <a:ext uri="{9D8B030D-6E8A-4147-A177-3AD203B41FA5}">
                      <a16:colId xmlns:a16="http://schemas.microsoft.com/office/drawing/2014/main" val="100452923"/>
                    </a:ext>
                  </a:extLst>
                </a:gridCol>
              </a:tblGrid>
              <a:tr h="520681">
                <a:tc>
                  <a:txBody>
                    <a:bodyPr/>
                    <a:lstStyle/>
                    <a:p>
                      <a:pPr algn="ctr">
                        <a:buNone/>
                      </a:pPr>
                      <a:r>
                        <a:rPr lang="en-IN" b="1" dirty="0" err="1"/>
                        <a:t>OrderID</a:t>
                      </a:r>
                      <a:endParaRPr lang="en-IN" b="1" dirty="0"/>
                    </a:p>
                  </a:txBody>
                  <a:tcPr anchor="ctr"/>
                </a:tc>
                <a:tc>
                  <a:txBody>
                    <a:bodyPr/>
                    <a:lstStyle/>
                    <a:p>
                      <a:pPr algn="ctr">
                        <a:buNone/>
                      </a:pPr>
                      <a:r>
                        <a:rPr lang="en-IN" b="1" dirty="0" err="1"/>
                        <a:t>CustomerName</a:t>
                      </a:r>
                      <a:endParaRPr lang="en-IN" b="1" dirty="0"/>
                    </a:p>
                  </a:txBody>
                  <a:tcPr anchor="ctr"/>
                </a:tc>
                <a:tc>
                  <a:txBody>
                    <a:bodyPr/>
                    <a:lstStyle/>
                    <a:p>
                      <a:pPr algn="ctr">
                        <a:buNone/>
                      </a:pPr>
                      <a:r>
                        <a:rPr lang="en-IN" b="1" dirty="0" err="1"/>
                        <a:t>ShipperName</a:t>
                      </a:r>
                      <a:endParaRPr lang="en-IN" b="1" dirty="0"/>
                    </a:p>
                  </a:txBody>
                  <a:tcPr anchor="ctr"/>
                </a:tc>
                <a:extLst>
                  <a:ext uri="{0D108BD9-81ED-4DB2-BD59-A6C34878D82A}">
                    <a16:rowId xmlns:a16="http://schemas.microsoft.com/office/drawing/2014/main" val="3507359963"/>
                  </a:ext>
                </a:extLst>
              </a:tr>
              <a:tr h="520681">
                <a:tc>
                  <a:txBody>
                    <a:bodyPr/>
                    <a:lstStyle/>
                    <a:p>
                      <a:pPr algn="ctr">
                        <a:buNone/>
                      </a:pPr>
                      <a:r>
                        <a:rPr lang="en-IN" dirty="0"/>
                        <a:t>101</a:t>
                      </a:r>
                    </a:p>
                  </a:txBody>
                  <a:tcPr anchor="ctr"/>
                </a:tc>
                <a:tc>
                  <a:txBody>
                    <a:bodyPr/>
                    <a:lstStyle/>
                    <a:p>
                      <a:pPr algn="ctr">
                        <a:buNone/>
                      </a:pPr>
                      <a:r>
                        <a:rPr lang="en-IN"/>
                        <a:t>John</a:t>
                      </a:r>
                    </a:p>
                  </a:txBody>
                  <a:tcPr anchor="ctr"/>
                </a:tc>
                <a:tc>
                  <a:txBody>
                    <a:bodyPr/>
                    <a:lstStyle/>
                    <a:p>
                      <a:pPr algn="ctr">
                        <a:buNone/>
                      </a:pPr>
                      <a:r>
                        <a:rPr lang="en-IN"/>
                        <a:t>Fast Delivery</a:t>
                      </a:r>
                    </a:p>
                  </a:txBody>
                  <a:tcPr anchor="ctr"/>
                </a:tc>
                <a:extLst>
                  <a:ext uri="{0D108BD9-81ED-4DB2-BD59-A6C34878D82A}">
                    <a16:rowId xmlns:a16="http://schemas.microsoft.com/office/drawing/2014/main" val="3327280857"/>
                  </a:ext>
                </a:extLst>
              </a:tr>
              <a:tr h="520681">
                <a:tc>
                  <a:txBody>
                    <a:bodyPr/>
                    <a:lstStyle/>
                    <a:p>
                      <a:pPr algn="ctr">
                        <a:buNone/>
                      </a:pPr>
                      <a:r>
                        <a:rPr lang="en-IN"/>
                        <a:t>102</a:t>
                      </a:r>
                    </a:p>
                  </a:txBody>
                  <a:tcPr anchor="ctr"/>
                </a:tc>
                <a:tc>
                  <a:txBody>
                    <a:bodyPr/>
                    <a:lstStyle/>
                    <a:p>
                      <a:pPr algn="ctr">
                        <a:buNone/>
                      </a:pPr>
                      <a:r>
                        <a:rPr lang="en-IN"/>
                        <a:t>Alice</a:t>
                      </a:r>
                    </a:p>
                  </a:txBody>
                  <a:tcPr anchor="ctr"/>
                </a:tc>
                <a:tc>
                  <a:txBody>
                    <a:bodyPr/>
                    <a:lstStyle/>
                    <a:p>
                      <a:pPr algn="ctr">
                        <a:buNone/>
                      </a:pPr>
                      <a:r>
                        <a:rPr lang="en-IN"/>
                        <a:t>Speedy Express</a:t>
                      </a:r>
                    </a:p>
                  </a:txBody>
                  <a:tcPr anchor="ctr"/>
                </a:tc>
                <a:extLst>
                  <a:ext uri="{0D108BD9-81ED-4DB2-BD59-A6C34878D82A}">
                    <a16:rowId xmlns:a16="http://schemas.microsoft.com/office/drawing/2014/main" val="816880747"/>
                  </a:ext>
                </a:extLst>
              </a:tr>
              <a:tr h="520681">
                <a:tc>
                  <a:txBody>
                    <a:bodyPr/>
                    <a:lstStyle/>
                    <a:p>
                      <a:pPr algn="ctr">
                        <a:buNone/>
                      </a:pPr>
                      <a:r>
                        <a:rPr lang="en-IN" dirty="0"/>
                        <a:t>103</a:t>
                      </a:r>
                    </a:p>
                  </a:txBody>
                  <a:tcPr anchor="ctr"/>
                </a:tc>
                <a:tc>
                  <a:txBody>
                    <a:bodyPr/>
                    <a:lstStyle/>
                    <a:p>
                      <a:pPr algn="ctr">
                        <a:buNone/>
                      </a:pPr>
                      <a:r>
                        <a:rPr lang="en-IN" dirty="0"/>
                        <a:t>Rahul</a:t>
                      </a:r>
                    </a:p>
                  </a:txBody>
                  <a:tcPr anchor="ctr"/>
                </a:tc>
                <a:tc>
                  <a:txBody>
                    <a:bodyPr/>
                    <a:lstStyle/>
                    <a:p>
                      <a:pPr algn="ctr">
                        <a:buNone/>
                      </a:pPr>
                      <a:r>
                        <a:rPr lang="en-IN"/>
                        <a:t>Fast Delivery</a:t>
                      </a:r>
                    </a:p>
                  </a:txBody>
                  <a:tcPr anchor="ctr"/>
                </a:tc>
                <a:extLst>
                  <a:ext uri="{0D108BD9-81ED-4DB2-BD59-A6C34878D82A}">
                    <a16:rowId xmlns:a16="http://schemas.microsoft.com/office/drawing/2014/main" val="3357159162"/>
                  </a:ext>
                </a:extLst>
              </a:tr>
              <a:tr h="520681">
                <a:tc>
                  <a:txBody>
                    <a:bodyPr/>
                    <a:lstStyle/>
                    <a:p>
                      <a:pPr algn="ctr">
                        <a:buNone/>
                      </a:pPr>
                      <a:r>
                        <a:rPr lang="en-IN"/>
                        <a:t>104</a:t>
                      </a:r>
                    </a:p>
                  </a:txBody>
                  <a:tcPr anchor="ctr"/>
                </a:tc>
                <a:tc>
                  <a:txBody>
                    <a:bodyPr/>
                    <a:lstStyle/>
                    <a:p>
                      <a:pPr algn="ctr">
                        <a:buNone/>
                      </a:pPr>
                      <a:r>
                        <a:rPr lang="en-IN"/>
                        <a:t>David</a:t>
                      </a:r>
                    </a:p>
                  </a:txBody>
                  <a:tcPr anchor="ctr"/>
                </a:tc>
                <a:tc>
                  <a:txBody>
                    <a:bodyPr/>
                    <a:lstStyle/>
                    <a:p>
                      <a:pPr algn="ctr">
                        <a:buNone/>
                      </a:pPr>
                      <a:r>
                        <a:rPr lang="en-IN" dirty="0"/>
                        <a:t>DHL</a:t>
                      </a:r>
                    </a:p>
                  </a:txBody>
                  <a:tcPr anchor="ctr"/>
                </a:tc>
                <a:extLst>
                  <a:ext uri="{0D108BD9-81ED-4DB2-BD59-A6C34878D82A}">
                    <a16:rowId xmlns:a16="http://schemas.microsoft.com/office/drawing/2014/main" val="390331937"/>
                  </a:ext>
                </a:extLst>
              </a:tr>
            </a:tbl>
          </a:graphicData>
        </a:graphic>
      </p:graphicFrame>
    </p:spTree>
    <p:extLst>
      <p:ext uri="{BB962C8B-B14F-4D97-AF65-F5344CB8AC3E}">
        <p14:creationId xmlns:p14="http://schemas.microsoft.com/office/powerpoint/2010/main" val="1437855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D6B2B-4ED9-F8E7-FF60-9FDFC11E4004}"/>
              </a:ext>
            </a:extLst>
          </p:cNvPr>
          <p:cNvSpPr>
            <a:spLocks noGrp="1"/>
          </p:cNvSpPr>
          <p:nvPr>
            <p:ph type="title"/>
          </p:nvPr>
        </p:nvSpPr>
        <p:spPr/>
        <p:txBody>
          <a:bodyPr>
            <a:normAutofit/>
          </a:bodyPr>
          <a:lstStyle/>
          <a:p>
            <a:r>
              <a:rPr lang="en-IN" b="1" dirty="0"/>
              <a:t>LEFT JOIN</a:t>
            </a:r>
          </a:p>
        </p:txBody>
      </p:sp>
      <p:sp>
        <p:nvSpPr>
          <p:cNvPr id="3" name="Content Placeholder 2">
            <a:extLst>
              <a:ext uri="{FF2B5EF4-FFF2-40B4-BE49-F238E27FC236}">
                <a16:creationId xmlns:a16="http://schemas.microsoft.com/office/drawing/2014/main" id="{F2C99CDF-4627-856B-923A-C2C17EC03BCE}"/>
              </a:ext>
            </a:extLst>
          </p:cNvPr>
          <p:cNvSpPr>
            <a:spLocks noGrp="1"/>
          </p:cNvSpPr>
          <p:nvPr>
            <p:ph idx="1"/>
          </p:nvPr>
        </p:nvSpPr>
        <p:spPr/>
        <p:txBody>
          <a:bodyPr/>
          <a:lstStyle/>
          <a:p>
            <a:r>
              <a:rPr lang="en-IN" dirty="0"/>
              <a:t>The LEFT JOIN clause returns </a:t>
            </a:r>
            <a:r>
              <a:rPr lang="en-IN" b="1" dirty="0"/>
              <a:t>all rows from the left table</a:t>
            </a:r>
            <a:r>
              <a:rPr lang="en-IN" dirty="0"/>
              <a:t> (table1), and only the matched rows from the right table (table2).</a:t>
            </a:r>
          </a:p>
          <a:p>
            <a:r>
              <a:rPr lang="en-IN" dirty="0"/>
              <a:t>If there is no match in the right table, the result for the columns from the right table will be NULL.</a:t>
            </a:r>
          </a:p>
          <a:p>
            <a:endParaRPr lang="en-IN" dirty="0"/>
          </a:p>
        </p:txBody>
      </p:sp>
      <p:pic>
        <p:nvPicPr>
          <p:cNvPr id="5" name="Picture 4">
            <a:extLst>
              <a:ext uri="{FF2B5EF4-FFF2-40B4-BE49-F238E27FC236}">
                <a16:creationId xmlns:a16="http://schemas.microsoft.com/office/drawing/2014/main" id="{367DE269-918F-5901-A8CA-BE180EA97EB0}"/>
              </a:ext>
            </a:extLst>
          </p:cNvPr>
          <p:cNvPicPr>
            <a:picLocks noChangeAspect="1"/>
          </p:cNvPicPr>
          <p:nvPr/>
        </p:nvPicPr>
        <p:blipFill>
          <a:blip r:embed="rId2"/>
          <a:stretch>
            <a:fillRect/>
          </a:stretch>
        </p:blipFill>
        <p:spPr>
          <a:xfrm>
            <a:off x="4023816" y="4001294"/>
            <a:ext cx="3086531" cy="1781424"/>
          </a:xfrm>
          <a:prstGeom prst="rect">
            <a:avLst/>
          </a:prstGeom>
        </p:spPr>
      </p:pic>
    </p:spTree>
    <p:extLst>
      <p:ext uri="{BB962C8B-B14F-4D97-AF65-F5344CB8AC3E}">
        <p14:creationId xmlns:p14="http://schemas.microsoft.com/office/powerpoint/2010/main" val="2394458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B9D1E-DEFD-19AA-24FB-220597B60E7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FC94F38-2318-4C45-69BC-DFA5483BB725}"/>
              </a:ext>
            </a:extLst>
          </p:cNvPr>
          <p:cNvSpPr>
            <a:spLocks noGrp="1"/>
          </p:cNvSpPr>
          <p:nvPr>
            <p:ph idx="1"/>
          </p:nvPr>
        </p:nvSpPr>
        <p:spPr/>
        <p:txBody>
          <a:bodyPr/>
          <a:lstStyle/>
          <a:p>
            <a:r>
              <a:rPr lang="en-IN" dirty="0"/>
              <a:t>SELECT </a:t>
            </a:r>
            <a:r>
              <a:rPr lang="en-IN" i="1" dirty="0"/>
              <a:t>table1.column1</a:t>
            </a:r>
            <a:r>
              <a:rPr lang="en-IN" dirty="0"/>
              <a:t>, </a:t>
            </a:r>
            <a:r>
              <a:rPr lang="en-IN" i="1" dirty="0"/>
              <a:t>table1.column2</a:t>
            </a:r>
            <a:r>
              <a:rPr lang="en-IN" dirty="0"/>
              <a:t>, ...,</a:t>
            </a:r>
            <a:r>
              <a:rPr lang="en-IN" i="1" dirty="0"/>
              <a:t> table2.column1</a:t>
            </a:r>
            <a:r>
              <a:rPr lang="en-IN" dirty="0"/>
              <a:t>, ...</a:t>
            </a:r>
            <a:br>
              <a:rPr lang="en-IN" dirty="0"/>
            </a:br>
            <a:r>
              <a:rPr lang="en-IN" dirty="0"/>
              <a:t>FROM </a:t>
            </a:r>
            <a:r>
              <a:rPr lang="en-IN" i="1" dirty="0"/>
              <a:t>table1</a:t>
            </a:r>
            <a:br>
              <a:rPr lang="en-IN" dirty="0"/>
            </a:br>
            <a:r>
              <a:rPr lang="en-IN" dirty="0"/>
              <a:t>LEFT JOIN </a:t>
            </a:r>
            <a:r>
              <a:rPr lang="en-IN" i="1" dirty="0"/>
              <a:t>table2</a:t>
            </a:r>
            <a:br>
              <a:rPr lang="en-IN" i="1" dirty="0"/>
            </a:br>
            <a:r>
              <a:rPr lang="en-IN" dirty="0"/>
              <a:t>ON </a:t>
            </a:r>
            <a:r>
              <a:rPr lang="en-IN" i="1" dirty="0"/>
              <a:t>table1.condition_column </a:t>
            </a:r>
            <a:r>
              <a:rPr lang="en-IN" dirty="0"/>
              <a:t>=</a:t>
            </a:r>
            <a:r>
              <a:rPr lang="en-IN" i="1" dirty="0"/>
              <a:t> table2.condition_column</a:t>
            </a:r>
            <a:r>
              <a:rPr lang="en-IN" dirty="0"/>
              <a:t>;</a:t>
            </a:r>
          </a:p>
        </p:txBody>
      </p:sp>
    </p:spTree>
    <p:extLst>
      <p:ext uri="{BB962C8B-B14F-4D97-AF65-F5344CB8AC3E}">
        <p14:creationId xmlns:p14="http://schemas.microsoft.com/office/powerpoint/2010/main" val="423649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2B209FD9-78F4-7EC6-B80B-5944F98AF099}"/>
              </a:ext>
            </a:extLst>
          </p:cNvPr>
          <p:cNvGraphicFramePr>
            <a:graphicFrameLocks noGrp="1"/>
          </p:cNvGraphicFramePr>
          <p:nvPr>
            <p:ph idx="1"/>
            <p:extLst>
              <p:ext uri="{D42A27DB-BD31-4B8C-83A1-F6EECF244321}">
                <p14:modId xmlns:p14="http://schemas.microsoft.com/office/powerpoint/2010/main" val="3386955710"/>
              </p:ext>
            </p:extLst>
          </p:nvPr>
        </p:nvGraphicFramePr>
        <p:xfrm>
          <a:off x="1232641" y="4879452"/>
          <a:ext cx="9238225" cy="1978548"/>
        </p:xfrm>
        <a:graphic>
          <a:graphicData uri="http://schemas.openxmlformats.org/drawingml/2006/table">
            <a:tbl>
              <a:tblPr>
                <a:tableStyleId>{5C22544A-7EE6-4342-B048-85BDC9FD1C3A}</a:tableStyleId>
              </a:tblPr>
              <a:tblGrid>
                <a:gridCol w="1169453">
                  <a:extLst>
                    <a:ext uri="{9D8B030D-6E8A-4147-A177-3AD203B41FA5}">
                      <a16:colId xmlns:a16="http://schemas.microsoft.com/office/drawing/2014/main" val="559732791"/>
                    </a:ext>
                  </a:extLst>
                </a:gridCol>
                <a:gridCol w="2017193">
                  <a:extLst>
                    <a:ext uri="{9D8B030D-6E8A-4147-A177-3AD203B41FA5}">
                      <a16:colId xmlns:a16="http://schemas.microsoft.com/office/drawing/2014/main" val="1509576758"/>
                    </a:ext>
                  </a:extLst>
                </a:gridCol>
                <a:gridCol w="2017193">
                  <a:extLst>
                    <a:ext uri="{9D8B030D-6E8A-4147-A177-3AD203B41FA5}">
                      <a16:colId xmlns:a16="http://schemas.microsoft.com/office/drawing/2014/main" val="3312913780"/>
                    </a:ext>
                  </a:extLst>
                </a:gridCol>
                <a:gridCol w="2017193">
                  <a:extLst>
                    <a:ext uri="{9D8B030D-6E8A-4147-A177-3AD203B41FA5}">
                      <a16:colId xmlns:a16="http://schemas.microsoft.com/office/drawing/2014/main" val="1183100202"/>
                    </a:ext>
                  </a:extLst>
                </a:gridCol>
                <a:gridCol w="2017193">
                  <a:extLst>
                    <a:ext uri="{9D8B030D-6E8A-4147-A177-3AD203B41FA5}">
                      <a16:colId xmlns:a16="http://schemas.microsoft.com/office/drawing/2014/main" val="1333610826"/>
                    </a:ext>
                  </a:extLst>
                </a:gridCol>
              </a:tblGrid>
              <a:tr h="494637">
                <a:tc>
                  <a:txBody>
                    <a:bodyPr/>
                    <a:lstStyle/>
                    <a:p>
                      <a:pPr marL="0" marR="0" algn="ctr" fontAlgn="t">
                        <a:spcBef>
                          <a:spcPts val="1500"/>
                        </a:spcBef>
                        <a:spcAft>
                          <a:spcPts val="1500"/>
                        </a:spcAft>
                        <a:buNone/>
                      </a:pPr>
                      <a:r>
                        <a:rPr lang="en-IN" sz="1600" b="1" dirty="0">
                          <a:effectLst/>
                        </a:rPr>
                        <a:t>Order ID</a:t>
                      </a:r>
                      <a:endParaRPr lang="en-IN" sz="1600" b="1" i="0" dirty="0">
                        <a:solidFill>
                          <a:srgbClr val="000000"/>
                        </a:solidFill>
                        <a:effectLst/>
                        <a:latin typeface="Segoe UI" panose="020B0502040204020203" pitchFamily="34" charset="0"/>
                      </a:endParaRPr>
                    </a:p>
                  </a:txBody>
                  <a:tcPr marL="148133" marR="74067" marT="74067" marB="74067"/>
                </a:tc>
                <a:tc>
                  <a:txBody>
                    <a:bodyPr/>
                    <a:lstStyle/>
                    <a:p>
                      <a:pPr marL="0" marR="0" algn="ctr" fontAlgn="t">
                        <a:spcBef>
                          <a:spcPts val="1500"/>
                        </a:spcBef>
                        <a:spcAft>
                          <a:spcPts val="1500"/>
                        </a:spcAft>
                        <a:buNone/>
                      </a:pPr>
                      <a:r>
                        <a:rPr lang="en-IN" sz="1600" b="1" dirty="0">
                          <a:effectLst/>
                        </a:rPr>
                        <a:t>Customer ID</a:t>
                      </a:r>
                      <a:endParaRPr lang="en-IN" sz="1600" b="1" i="0" dirty="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b="1" dirty="0">
                          <a:effectLst/>
                        </a:rPr>
                        <a:t>Employee ID</a:t>
                      </a:r>
                      <a:endParaRPr lang="en-IN" sz="1600" b="1" i="0" dirty="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b="1" dirty="0">
                          <a:effectLst/>
                        </a:rPr>
                        <a:t>Order Date</a:t>
                      </a:r>
                      <a:endParaRPr lang="en-IN" sz="1600" b="1" i="0" dirty="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b="1" dirty="0">
                          <a:effectLst/>
                        </a:rPr>
                        <a:t>Shipper ID</a:t>
                      </a:r>
                      <a:endParaRPr lang="en-IN" sz="1600" b="1" i="0" dirty="0">
                        <a:solidFill>
                          <a:srgbClr val="000000"/>
                        </a:solidFill>
                        <a:effectLst/>
                        <a:latin typeface="Segoe UI" panose="020B0502040204020203" pitchFamily="34" charset="0"/>
                      </a:endParaRPr>
                    </a:p>
                  </a:txBody>
                  <a:tcPr marL="74067" marR="74067" marT="74067" marB="74067"/>
                </a:tc>
                <a:extLst>
                  <a:ext uri="{0D108BD9-81ED-4DB2-BD59-A6C34878D82A}">
                    <a16:rowId xmlns:a16="http://schemas.microsoft.com/office/drawing/2014/main" val="44323090"/>
                  </a:ext>
                </a:extLst>
              </a:tr>
              <a:tr h="494637">
                <a:tc>
                  <a:txBody>
                    <a:bodyPr/>
                    <a:lstStyle/>
                    <a:p>
                      <a:pPr marL="0" marR="0" algn="ctr" fontAlgn="t">
                        <a:spcBef>
                          <a:spcPts val="1500"/>
                        </a:spcBef>
                        <a:spcAft>
                          <a:spcPts val="1500"/>
                        </a:spcAft>
                        <a:buNone/>
                      </a:pPr>
                      <a:r>
                        <a:rPr lang="en-IN" sz="1600">
                          <a:effectLst/>
                        </a:rPr>
                        <a:t>10308</a:t>
                      </a:r>
                      <a:endParaRPr lang="en-IN" sz="1600" b="0" i="0">
                        <a:solidFill>
                          <a:srgbClr val="000000"/>
                        </a:solidFill>
                        <a:effectLst/>
                        <a:latin typeface="Segoe UI" panose="020B0502040204020203" pitchFamily="34" charset="0"/>
                      </a:endParaRPr>
                    </a:p>
                  </a:txBody>
                  <a:tcPr marL="148133" marR="74067" marT="74067" marB="74067"/>
                </a:tc>
                <a:tc>
                  <a:txBody>
                    <a:bodyPr/>
                    <a:lstStyle/>
                    <a:p>
                      <a:pPr marL="0" marR="0" algn="ctr" fontAlgn="t">
                        <a:spcBef>
                          <a:spcPts val="1500"/>
                        </a:spcBef>
                        <a:spcAft>
                          <a:spcPts val="1500"/>
                        </a:spcAft>
                        <a:buNone/>
                      </a:pPr>
                      <a:r>
                        <a:rPr lang="en-IN" sz="1600" dirty="0">
                          <a:effectLst/>
                        </a:rPr>
                        <a:t>2</a:t>
                      </a:r>
                      <a:endParaRPr lang="en-IN" sz="1600" b="0" i="0" dirty="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dirty="0">
                          <a:effectLst/>
                        </a:rPr>
                        <a:t>7</a:t>
                      </a:r>
                      <a:endParaRPr lang="en-IN" sz="1600" b="0" i="0" dirty="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a:effectLst/>
                        </a:rPr>
                        <a:t>1996-09-18</a:t>
                      </a:r>
                      <a:endParaRPr lang="en-IN" sz="1600" b="0" i="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a:effectLst/>
                        </a:rPr>
                        <a:t>3</a:t>
                      </a:r>
                      <a:endParaRPr lang="en-IN" sz="1600" b="0" i="0">
                        <a:solidFill>
                          <a:srgbClr val="000000"/>
                        </a:solidFill>
                        <a:effectLst/>
                        <a:latin typeface="Segoe UI" panose="020B0502040204020203" pitchFamily="34" charset="0"/>
                      </a:endParaRPr>
                    </a:p>
                  </a:txBody>
                  <a:tcPr marL="74067" marR="74067" marT="74067" marB="74067"/>
                </a:tc>
                <a:extLst>
                  <a:ext uri="{0D108BD9-81ED-4DB2-BD59-A6C34878D82A}">
                    <a16:rowId xmlns:a16="http://schemas.microsoft.com/office/drawing/2014/main" val="1888838416"/>
                  </a:ext>
                </a:extLst>
              </a:tr>
              <a:tr h="494637">
                <a:tc>
                  <a:txBody>
                    <a:bodyPr/>
                    <a:lstStyle/>
                    <a:p>
                      <a:pPr marL="0" marR="0" algn="ctr" fontAlgn="t">
                        <a:spcBef>
                          <a:spcPts val="1500"/>
                        </a:spcBef>
                        <a:spcAft>
                          <a:spcPts val="1500"/>
                        </a:spcAft>
                        <a:buNone/>
                      </a:pPr>
                      <a:r>
                        <a:rPr lang="en-IN" sz="1600">
                          <a:effectLst/>
                        </a:rPr>
                        <a:t>10309</a:t>
                      </a:r>
                      <a:endParaRPr lang="en-IN" sz="1600" b="0" i="0">
                        <a:solidFill>
                          <a:srgbClr val="000000"/>
                        </a:solidFill>
                        <a:effectLst/>
                        <a:latin typeface="Segoe UI" panose="020B0502040204020203" pitchFamily="34" charset="0"/>
                      </a:endParaRPr>
                    </a:p>
                  </a:txBody>
                  <a:tcPr marL="148133" marR="74067" marT="74067" marB="74067"/>
                </a:tc>
                <a:tc>
                  <a:txBody>
                    <a:bodyPr/>
                    <a:lstStyle/>
                    <a:p>
                      <a:pPr marL="0" marR="0" algn="ctr" fontAlgn="t">
                        <a:spcBef>
                          <a:spcPts val="1500"/>
                        </a:spcBef>
                        <a:spcAft>
                          <a:spcPts val="1500"/>
                        </a:spcAft>
                        <a:buNone/>
                      </a:pPr>
                      <a:r>
                        <a:rPr lang="en-IN" sz="1600">
                          <a:effectLst/>
                        </a:rPr>
                        <a:t>37</a:t>
                      </a:r>
                      <a:endParaRPr lang="en-IN" sz="1600" b="0" i="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dirty="0">
                          <a:effectLst/>
                        </a:rPr>
                        <a:t>3</a:t>
                      </a:r>
                      <a:endParaRPr lang="en-IN" sz="1600" b="0" i="0" dirty="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dirty="0">
                          <a:effectLst/>
                        </a:rPr>
                        <a:t>1996-09-19</a:t>
                      </a:r>
                      <a:endParaRPr lang="en-IN" sz="1600" b="0" i="0" dirty="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a:effectLst/>
                        </a:rPr>
                        <a:t>1</a:t>
                      </a:r>
                      <a:endParaRPr lang="en-IN" sz="1600" b="0" i="0">
                        <a:solidFill>
                          <a:srgbClr val="000000"/>
                        </a:solidFill>
                        <a:effectLst/>
                        <a:latin typeface="Segoe UI" panose="020B0502040204020203" pitchFamily="34" charset="0"/>
                      </a:endParaRPr>
                    </a:p>
                  </a:txBody>
                  <a:tcPr marL="74067" marR="74067" marT="74067" marB="74067"/>
                </a:tc>
                <a:extLst>
                  <a:ext uri="{0D108BD9-81ED-4DB2-BD59-A6C34878D82A}">
                    <a16:rowId xmlns:a16="http://schemas.microsoft.com/office/drawing/2014/main" val="3180424373"/>
                  </a:ext>
                </a:extLst>
              </a:tr>
              <a:tr h="494637">
                <a:tc>
                  <a:txBody>
                    <a:bodyPr/>
                    <a:lstStyle/>
                    <a:p>
                      <a:pPr marL="0" marR="0" algn="ctr" fontAlgn="t">
                        <a:spcBef>
                          <a:spcPts val="1500"/>
                        </a:spcBef>
                        <a:spcAft>
                          <a:spcPts val="1500"/>
                        </a:spcAft>
                        <a:buNone/>
                      </a:pPr>
                      <a:r>
                        <a:rPr lang="en-IN" sz="1600">
                          <a:effectLst/>
                        </a:rPr>
                        <a:t>10310</a:t>
                      </a:r>
                      <a:endParaRPr lang="en-IN" sz="1600" b="0" i="0">
                        <a:solidFill>
                          <a:srgbClr val="000000"/>
                        </a:solidFill>
                        <a:effectLst/>
                        <a:latin typeface="Segoe UI" panose="020B0502040204020203" pitchFamily="34" charset="0"/>
                      </a:endParaRPr>
                    </a:p>
                  </a:txBody>
                  <a:tcPr marL="148133" marR="74067" marT="74067" marB="74067"/>
                </a:tc>
                <a:tc>
                  <a:txBody>
                    <a:bodyPr/>
                    <a:lstStyle/>
                    <a:p>
                      <a:pPr marL="0" marR="0" algn="ctr" fontAlgn="t">
                        <a:spcBef>
                          <a:spcPts val="1500"/>
                        </a:spcBef>
                        <a:spcAft>
                          <a:spcPts val="1500"/>
                        </a:spcAft>
                        <a:buNone/>
                      </a:pPr>
                      <a:r>
                        <a:rPr lang="en-IN" sz="1600">
                          <a:effectLst/>
                        </a:rPr>
                        <a:t>77</a:t>
                      </a:r>
                      <a:endParaRPr lang="en-IN" sz="1600" b="0" i="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a:effectLst/>
                        </a:rPr>
                        <a:t>8</a:t>
                      </a:r>
                      <a:endParaRPr lang="en-IN" sz="1600" b="0" i="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dirty="0">
                          <a:effectLst/>
                        </a:rPr>
                        <a:t>1996-09-20</a:t>
                      </a:r>
                      <a:endParaRPr lang="en-IN" sz="1600" b="0" i="0" dirty="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dirty="0">
                          <a:effectLst/>
                        </a:rPr>
                        <a:t>2</a:t>
                      </a:r>
                      <a:endParaRPr lang="en-IN" sz="1600" b="0" i="0" dirty="0">
                        <a:solidFill>
                          <a:srgbClr val="000000"/>
                        </a:solidFill>
                        <a:effectLst/>
                        <a:latin typeface="Segoe UI" panose="020B0502040204020203" pitchFamily="34" charset="0"/>
                      </a:endParaRPr>
                    </a:p>
                  </a:txBody>
                  <a:tcPr marL="74067" marR="74067" marT="74067" marB="74067"/>
                </a:tc>
                <a:extLst>
                  <a:ext uri="{0D108BD9-81ED-4DB2-BD59-A6C34878D82A}">
                    <a16:rowId xmlns:a16="http://schemas.microsoft.com/office/drawing/2014/main" val="3654497916"/>
                  </a:ext>
                </a:extLst>
              </a:tr>
            </a:tbl>
          </a:graphicData>
        </a:graphic>
      </p:graphicFrame>
      <p:graphicFrame>
        <p:nvGraphicFramePr>
          <p:cNvPr id="5" name="Table 4">
            <a:extLst>
              <a:ext uri="{FF2B5EF4-FFF2-40B4-BE49-F238E27FC236}">
                <a16:creationId xmlns:a16="http://schemas.microsoft.com/office/drawing/2014/main" id="{912B1E8A-4942-1605-6FA0-E2813B806A50}"/>
              </a:ext>
            </a:extLst>
          </p:cNvPr>
          <p:cNvGraphicFramePr>
            <a:graphicFrameLocks noGrp="1"/>
          </p:cNvGraphicFramePr>
          <p:nvPr>
            <p:extLst>
              <p:ext uri="{D42A27DB-BD31-4B8C-83A1-F6EECF244321}">
                <p14:modId xmlns:p14="http://schemas.microsoft.com/office/powerpoint/2010/main" val="1247303802"/>
              </p:ext>
            </p:extLst>
          </p:nvPr>
        </p:nvGraphicFramePr>
        <p:xfrm>
          <a:off x="1075763" y="1010729"/>
          <a:ext cx="9887612" cy="3342148"/>
        </p:xfrm>
        <a:graphic>
          <a:graphicData uri="http://schemas.openxmlformats.org/drawingml/2006/table">
            <a:tbl>
              <a:tblPr>
                <a:tableStyleId>{5C22544A-7EE6-4342-B048-85BDC9FD1C3A}</a:tableStyleId>
              </a:tblPr>
              <a:tblGrid>
                <a:gridCol w="1481828">
                  <a:extLst>
                    <a:ext uri="{9D8B030D-6E8A-4147-A177-3AD203B41FA5}">
                      <a16:colId xmlns:a16="http://schemas.microsoft.com/office/drawing/2014/main" val="2932250415"/>
                    </a:ext>
                  </a:extLst>
                </a:gridCol>
                <a:gridCol w="1400964">
                  <a:extLst>
                    <a:ext uri="{9D8B030D-6E8A-4147-A177-3AD203B41FA5}">
                      <a16:colId xmlns:a16="http://schemas.microsoft.com/office/drawing/2014/main" val="3537810433"/>
                    </a:ext>
                  </a:extLst>
                </a:gridCol>
                <a:gridCol w="1400964">
                  <a:extLst>
                    <a:ext uri="{9D8B030D-6E8A-4147-A177-3AD203B41FA5}">
                      <a16:colId xmlns:a16="http://schemas.microsoft.com/office/drawing/2014/main" val="3003024684"/>
                    </a:ext>
                  </a:extLst>
                </a:gridCol>
                <a:gridCol w="1400964">
                  <a:extLst>
                    <a:ext uri="{9D8B030D-6E8A-4147-A177-3AD203B41FA5}">
                      <a16:colId xmlns:a16="http://schemas.microsoft.com/office/drawing/2014/main" val="3043553808"/>
                    </a:ext>
                  </a:extLst>
                </a:gridCol>
                <a:gridCol w="1400964">
                  <a:extLst>
                    <a:ext uri="{9D8B030D-6E8A-4147-A177-3AD203B41FA5}">
                      <a16:colId xmlns:a16="http://schemas.microsoft.com/office/drawing/2014/main" val="3315628919"/>
                    </a:ext>
                  </a:extLst>
                </a:gridCol>
                <a:gridCol w="1400964">
                  <a:extLst>
                    <a:ext uri="{9D8B030D-6E8A-4147-A177-3AD203B41FA5}">
                      <a16:colId xmlns:a16="http://schemas.microsoft.com/office/drawing/2014/main" val="164422835"/>
                    </a:ext>
                  </a:extLst>
                </a:gridCol>
                <a:gridCol w="1400964">
                  <a:extLst>
                    <a:ext uri="{9D8B030D-6E8A-4147-A177-3AD203B41FA5}">
                      <a16:colId xmlns:a16="http://schemas.microsoft.com/office/drawing/2014/main" val="4072157830"/>
                    </a:ext>
                  </a:extLst>
                </a:gridCol>
              </a:tblGrid>
              <a:tr h="433897">
                <a:tc>
                  <a:txBody>
                    <a:bodyPr/>
                    <a:lstStyle/>
                    <a:p>
                      <a:pPr marL="0" marR="0" algn="ctr" fontAlgn="t">
                        <a:spcBef>
                          <a:spcPts val="1500"/>
                        </a:spcBef>
                        <a:spcAft>
                          <a:spcPts val="1500"/>
                        </a:spcAft>
                        <a:buNone/>
                      </a:pPr>
                      <a:r>
                        <a:rPr lang="en-IN" sz="1600" b="1" dirty="0">
                          <a:effectLst/>
                        </a:rPr>
                        <a:t>Customer ID</a:t>
                      </a:r>
                      <a:endParaRPr lang="en-IN" sz="1600" b="1" i="0" dirty="0">
                        <a:solidFill>
                          <a:srgbClr val="000000"/>
                        </a:solidFill>
                        <a:effectLst/>
                        <a:latin typeface="Segoe UI" panose="020B0502040204020203" pitchFamily="34" charset="0"/>
                      </a:endParaRPr>
                    </a:p>
                  </a:txBody>
                  <a:tcPr marL="148133" marR="74067" marT="74067" marB="74067"/>
                </a:tc>
                <a:tc>
                  <a:txBody>
                    <a:bodyPr/>
                    <a:lstStyle/>
                    <a:p>
                      <a:pPr marL="0" marR="0" algn="ctr" fontAlgn="t">
                        <a:spcBef>
                          <a:spcPts val="1500"/>
                        </a:spcBef>
                        <a:spcAft>
                          <a:spcPts val="1500"/>
                        </a:spcAft>
                        <a:buNone/>
                      </a:pPr>
                      <a:r>
                        <a:rPr lang="en-IN" sz="1600" b="1" dirty="0">
                          <a:effectLst/>
                        </a:rPr>
                        <a:t>Customer Name</a:t>
                      </a:r>
                      <a:endParaRPr lang="en-IN" sz="1600" b="1" i="0" dirty="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b="1" dirty="0">
                          <a:effectLst/>
                        </a:rPr>
                        <a:t>Contact Name</a:t>
                      </a:r>
                      <a:endParaRPr lang="en-IN" sz="1600" b="1" i="0" dirty="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b="1" dirty="0">
                          <a:effectLst/>
                        </a:rPr>
                        <a:t>Address</a:t>
                      </a:r>
                      <a:endParaRPr lang="en-IN" sz="1600" b="1" i="0" dirty="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b="1" dirty="0">
                          <a:effectLst/>
                        </a:rPr>
                        <a:t>City</a:t>
                      </a:r>
                      <a:endParaRPr lang="en-IN" sz="1600" b="1" i="0" dirty="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b="1" dirty="0">
                          <a:effectLst/>
                        </a:rPr>
                        <a:t>Postal Code</a:t>
                      </a:r>
                      <a:endParaRPr lang="en-IN" sz="1600" b="1" i="0" dirty="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b="1" dirty="0">
                          <a:effectLst/>
                        </a:rPr>
                        <a:t>Country</a:t>
                      </a:r>
                      <a:endParaRPr lang="en-IN" sz="1600" b="1" i="0" dirty="0">
                        <a:solidFill>
                          <a:srgbClr val="000000"/>
                        </a:solidFill>
                        <a:effectLst/>
                        <a:latin typeface="Segoe UI" panose="020B0502040204020203" pitchFamily="34" charset="0"/>
                      </a:endParaRPr>
                    </a:p>
                  </a:txBody>
                  <a:tcPr marL="74067" marR="74067" marT="74067" marB="74067"/>
                </a:tc>
                <a:extLst>
                  <a:ext uri="{0D108BD9-81ED-4DB2-BD59-A6C34878D82A}">
                    <a16:rowId xmlns:a16="http://schemas.microsoft.com/office/drawing/2014/main" val="3563377757"/>
                  </a:ext>
                </a:extLst>
              </a:tr>
              <a:tr h="913340">
                <a:tc>
                  <a:txBody>
                    <a:bodyPr/>
                    <a:lstStyle/>
                    <a:p>
                      <a:pPr marL="0" marR="0" algn="ctr" fontAlgn="t">
                        <a:spcBef>
                          <a:spcPts val="1500"/>
                        </a:spcBef>
                        <a:spcAft>
                          <a:spcPts val="1500"/>
                        </a:spcAft>
                        <a:buNone/>
                      </a:pPr>
                      <a:r>
                        <a:rPr lang="en-IN" sz="1600">
                          <a:effectLst/>
                        </a:rPr>
                        <a:t>1</a:t>
                      </a:r>
                      <a:br>
                        <a:rPr lang="en-IN" sz="1600">
                          <a:effectLst/>
                        </a:rPr>
                      </a:br>
                      <a:br>
                        <a:rPr lang="en-IN" sz="1600">
                          <a:effectLst/>
                        </a:rPr>
                      </a:br>
                      <a:endParaRPr lang="en-IN" sz="1600" b="0" i="0">
                        <a:solidFill>
                          <a:srgbClr val="000000"/>
                        </a:solidFill>
                        <a:effectLst/>
                        <a:latin typeface="Segoe UI" panose="020B0502040204020203" pitchFamily="34" charset="0"/>
                      </a:endParaRPr>
                    </a:p>
                  </a:txBody>
                  <a:tcPr marL="148133" marR="74067" marT="74067" marB="74067"/>
                </a:tc>
                <a:tc>
                  <a:txBody>
                    <a:bodyPr/>
                    <a:lstStyle/>
                    <a:p>
                      <a:pPr marL="0" marR="0" algn="ctr" fontAlgn="t">
                        <a:spcBef>
                          <a:spcPts val="1500"/>
                        </a:spcBef>
                        <a:spcAft>
                          <a:spcPts val="1500"/>
                        </a:spcAft>
                        <a:buNone/>
                      </a:pPr>
                      <a:r>
                        <a:rPr lang="en-IN" sz="1600" dirty="0">
                          <a:effectLst/>
                        </a:rPr>
                        <a:t>Alfreds </a:t>
                      </a:r>
                      <a:r>
                        <a:rPr lang="en-IN" sz="1600" dirty="0" err="1">
                          <a:effectLst/>
                        </a:rPr>
                        <a:t>Futterkiste</a:t>
                      </a:r>
                      <a:endParaRPr lang="en-IN" sz="1600" b="0" i="0" dirty="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dirty="0">
                          <a:effectLst/>
                        </a:rPr>
                        <a:t>Maria Anders</a:t>
                      </a:r>
                      <a:endParaRPr lang="en-IN" sz="1600" b="0" i="0" dirty="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a:effectLst/>
                        </a:rPr>
                        <a:t>Obere Str. 57</a:t>
                      </a:r>
                      <a:endParaRPr lang="en-IN" sz="1600" b="0" i="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a:effectLst/>
                        </a:rPr>
                        <a:t>Berlin</a:t>
                      </a:r>
                      <a:endParaRPr lang="en-IN" sz="1600" b="0" i="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a:effectLst/>
                        </a:rPr>
                        <a:t>12209</a:t>
                      </a:r>
                      <a:endParaRPr lang="en-IN" sz="1600" b="0" i="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a:effectLst/>
                        </a:rPr>
                        <a:t>Germany</a:t>
                      </a:r>
                      <a:endParaRPr lang="en-IN" sz="1600" b="0" i="0">
                        <a:solidFill>
                          <a:srgbClr val="000000"/>
                        </a:solidFill>
                        <a:effectLst/>
                        <a:latin typeface="Segoe UI" panose="020B0502040204020203" pitchFamily="34" charset="0"/>
                      </a:endParaRPr>
                    </a:p>
                  </a:txBody>
                  <a:tcPr marL="74067" marR="74067" marT="74067" marB="74067"/>
                </a:tc>
                <a:extLst>
                  <a:ext uri="{0D108BD9-81ED-4DB2-BD59-A6C34878D82A}">
                    <a16:rowId xmlns:a16="http://schemas.microsoft.com/office/drawing/2014/main" val="2055051011"/>
                  </a:ext>
                </a:extLst>
              </a:tr>
              <a:tr h="913340">
                <a:tc>
                  <a:txBody>
                    <a:bodyPr/>
                    <a:lstStyle/>
                    <a:p>
                      <a:pPr marL="0" marR="0" algn="ctr" fontAlgn="t">
                        <a:spcBef>
                          <a:spcPts val="1500"/>
                        </a:spcBef>
                        <a:spcAft>
                          <a:spcPts val="1500"/>
                        </a:spcAft>
                        <a:buNone/>
                      </a:pPr>
                      <a:r>
                        <a:rPr lang="en-IN" sz="1600" dirty="0">
                          <a:effectLst/>
                        </a:rPr>
                        <a:t>2</a:t>
                      </a:r>
                      <a:endParaRPr lang="en-IN" sz="1600" b="0" i="0" dirty="0">
                        <a:solidFill>
                          <a:srgbClr val="000000"/>
                        </a:solidFill>
                        <a:effectLst/>
                        <a:latin typeface="Segoe UI" panose="020B0502040204020203" pitchFamily="34" charset="0"/>
                      </a:endParaRPr>
                    </a:p>
                  </a:txBody>
                  <a:tcPr marL="148133" marR="74067" marT="74067" marB="74067"/>
                </a:tc>
                <a:tc>
                  <a:txBody>
                    <a:bodyPr/>
                    <a:lstStyle/>
                    <a:p>
                      <a:pPr marL="0" marR="0" algn="ctr" fontAlgn="t">
                        <a:spcBef>
                          <a:spcPts val="1500"/>
                        </a:spcBef>
                        <a:spcAft>
                          <a:spcPts val="1500"/>
                        </a:spcAft>
                        <a:buNone/>
                      </a:pPr>
                      <a:r>
                        <a:rPr lang="en-IN" sz="1600" dirty="0">
                          <a:effectLst/>
                        </a:rPr>
                        <a:t>Ana Trujillo </a:t>
                      </a:r>
                      <a:r>
                        <a:rPr lang="en-IN" sz="1600" dirty="0" err="1">
                          <a:effectLst/>
                        </a:rPr>
                        <a:t>Emparedados</a:t>
                      </a:r>
                      <a:r>
                        <a:rPr lang="en-IN" sz="1600" dirty="0">
                          <a:effectLst/>
                        </a:rPr>
                        <a:t> y </a:t>
                      </a:r>
                      <a:r>
                        <a:rPr lang="en-IN" sz="1600" dirty="0" err="1">
                          <a:effectLst/>
                        </a:rPr>
                        <a:t>helados</a:t>
                      </a:r>
                      <a:endParaRPr lang="en-IN" sz="1600" b="0" i="0" dirty="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dirty="0">
                          <a:effectLst/>
                        </a:rPr>
                        <a:t>Ana Trujillo</a:t>
                      </a:r>
                      <a:endParaRPr lang="en-IN" sz="1600" b="0" i="0" dirty="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dirty="0">
                          <a:effectLst/>
                        </a:rPr>
                        <a:t>Avda. de la Constitución 2222</a:t>
                      </a:r>
                      <a:endParaRPr lang="en-IN" sz="1600" b="0" i="0" dirty="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dirty="0">
                          <a:effectLst/>
                        </a:rPr>
                        <a:t>México D.F.</a:t>
                      </a:r>
                      <a:endParaRPr lang="en-IN" sz="1600" b="0" i="0" dirty="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dirty="0">
                          <a:effectLst/>
                        </a:rPr>
                        <a:t>05021</a:t>
                      </a:r>
                      <a:endParaRPr lang="en-IN" sz="1600" b="0" i="0" dirty="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a:effectLst/>
                        </a:rPr>
                        <a:t>Mexico</a:t>
                      </a:r>
                      <a:endParaRPr lang="en-IN" sz="1600" b="0" i="0">
                        <a:solidFill>
                          <a:srgbClr val="000000"/>
                        </a:solidFill>
                        <a:effectLst/>
                        <a:latin typeface="Segoe UI" panose="020B0502040204020203" pitchFamily="34" charset="0"/>
                      </a:endParaRPr>
                    </a:p>
                  </a:txBody>
                  <a:tcPr marL="74067" marR="74067" marT="74067" marB="74067"/>
                </a:tc>
                <a:extLst>
                  <a:ext uri="{0D108BD9-81ED-4DB2-BD59-A6C34878D82A}">
                    <a16:rowId xmlns:a16="http://schemas.microsoft.com/office/drawing/2014/main" val="3814248456"/>
                  </a:ext>
                </a:extLst>
              </a:tr>
              <a:tr h="673618">
                <a:tc>
                  <a:txBody>
                    <a:bodyPr/>
                    <a:lstStyle/>
                    <a:p>
                      <a:pPr marL="0" marR="0" algn="ctr" fontAlgn="t">
                        <a:spcBef>
                          <a:spcPts val="1500"/>
                        </a:spcBef>
                        <a:spcAft>
                          <a:spcPts val="1500"/>
                        </a:spcAft>
                        <a:buNone/>
                      </a:pPr>
                      <a:r>
                        <a:rPr lang="en-IN" sz="1600" dirty="0">
                          <a:effectLst/>
                        </a:rPr>
                        <a:t>3</a:t>
                      </a:r>
                      <a:endParaRPr lang="en-IN" sz="1600" b="0" i="0" dirty="0">
                        <a:solidFill>
                          <a:srgbClr val="000000"/>
                        </a:solidFill>
                        <a:effectLst/>
                        <a:latin typeface="Segoe UI" panose="020B0502040204020203" pitchFamily="34" charset="0"/>
                      </a:endParaRPr>
                    </a:p>
                  </a:txBody>
                  <a:tcPr marL="148133" marR="74067" marT="74067" marB="74067"/>
                </a:tc>
                <a:tc>
                  <a:txBody>
                    <a:bodyPr/>
                    <a:lstStyle/>
                    <a:p>
                      <a:pPr marL="0" marR="0" algn="ctr" fontAlgn="t">
                        <a:spcBef>
                          <a:spcPts val="1500"/>
                        </a:spcBef>
                        <a:spcAft>
                          <a:spcPts val="1500"/>
                        </a:spcAft>
                        <a:buNone/>
                      </a:pPr>
                      <a:r>
                        <a:rPr lang="en-IN" sz="1600" dirty="0">
                          <a:effectLst/>
                        </a:rPr>
                        <a:t>Antonio Moreno </a:t>
                      </a:r>
                      <a:r>
                        <a:rPr lang="en-IN" sz="1600" dirty="0" err="1">
                          <a:effectLst/>
                        </a:rPr>
                        <a:t>Taquería</a:t>
                      </a:r>
                      <a:endParaRPr lang="en-IN" sz="1600" b="0" i="0" dirty="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a:effectLst/>
                        </a:rPr>
                        <a:t>Antonio Moreno</a:t>
                      </a:r>
                      <a:endParaRPr lang="en-IN" sz="1600" b="0" i="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a:effectLst/>
                        </a:rPr>
                        <a:t>Mataderos 2312</a:t>
                      </a:r>
                      <a:endParaRPr lang="en-IN" sz="1600" b="0" i="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dirty="0">
                          <a:effectLst/>
                        </a:rPr>
                        <a:t>México D.F.</a:t>
                      </a:r>
                      <a:endParaRPr lang="en-IN" sz="1600" b="0" i="0" dirty="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dirty="0">
                          <a:effectLst/>
                        </a:rPr>
                        <a:t>05023</a:t>
                      </a:r>
                      <a:endParaRPr lang="en-IN" sz="1600" b="0" i="0" dirty="0">
                        <a:solidFill>
                          <a:srgbClr val="000000"/>
                        </a:solidFill>
                        <a:effectLst/>
                        <a:latin typeface="Segoe UI" panose="020B0502040204020203" pitchFamily="34" charset="0"/>
                      </a:endParaRPr>
                    </a:p>
                  </a:txBody>
                  <a:tcPr marL="74067" marR="74067" marT="74067" marB="74067"/>
                </a:tc>
                <a:tc>
                  <a:txBody>
                    <a:bodyPr/>
                    <a:lstStyle/>
                    <a:p>
                      <a:pPr marL="0" marR="0" algn="ctr" fontAlgn="t">
                        <a:spcBef>
                          <a:spcPts val="1500"/>
                        </a:spcBef>
                        <a:spcAft>
                          <a:spcPts val="1500"/>
                        </a:spcAft>
                        <a:buNone/>
                      </a:pPr>
                      <a:r>
                        <a:rPr lang="en-IN" sz="1600" dirty="0">
                          <a:effectLst/>
                        </a:rPr>
                        <a:t>Mexico</a:t>
                      </a:r>
                      <a:endParaRPr lang="en-IN" sz="1600" b="0" i="0" dirty="0">
                        <a:solidFill>
                          <a:srgbClr val="000000"/>
                        </a:solidFill>
                        <a:effectLst/>
                        <a:latin typeface="Segoe UI" panose="020B0502040204020203" pitchFamily="34" charset="0"/>
                      </a:endParaRPr>
                    </a:p>
                  </a:txBody>
                  <a:tcPr marL="74067" marR="74067" marT="74067" marB="74067"/>
                </a:tc>
                <a:extLst>
                  <a:ext uri="{0D108BD9-81ED-4DB2-BD59-A6C34878D82A}">
                    <a16:rowId xmlns:a16="http://schemas.microsoft.com/office/drawing/2014/main" val="3110164118"/>
                  </a:ext>
                </a:extLst>
              </a:tr>
            </a:tbl>
          </a:graphicData>
        </a:graphic>
      </p:graphicFrame>
      <p:sp>
        <p:nvSpPr>
          <p:cNvPr id="8" name="TextBox 7">
            <a:extLst>
              <a:ext uri="{FF2B5EF4-FFF2-40B4-BE49-F238E27FC236}">
                <a16:creationId xmlns:a16="http://schemas.microsoft.com/office/drawing/2014/main" id="{B01A9A3E-F8E7-E7CE-851D-26FD2E338FD8}"/>
              </a:ext>
            </a:extLst>
          </p:cNvPr>
          <p:cNvSpPr txBox="1"/>
          <p:nvPr/>
        </p:nvSpPr>
        <p:spPr>
          <a:xfrm>
            <a:off x="1075763" y="472781"/>
            <a:ext cx="6096000" cy="276999"/>
          </a:xfrm>
          <a:prstGeom prst="rect">
            <a:avLst/>
          </a:prstGeom>
          <a:noFill/>
        </p:spPr>
        <p:txBody>
          <a:bodyPr wrap="square">
            <a:spAutoFit/>
          </a:bodyPr>
          <a:lstStyle/>
          <a:p>
            <a:r>
              <a:rPr lang="en-IN" sz="1800" b="0" i="0" dirty="0">
                <a:solidFill>
                  <a:schemeClr val="tx1"/>
                </a:solidFill>
                <a:effectLst/>
                <a:latin typeface="+mn-lt"/>
              </a:rPr>
              <a:t>Customers</a:t>
            </a:r>
            <a:endParaRPr lang="en-IN" dirty="0"/>
          </a:p>
        </p:txBody>
      </p:sp>
      <p:sp>
        <p:nvSpPr>
          <p:cNvPr id="10" name="TextBox 9">
            <a:extLst>
              <a:ext uri="{FF2B5EF4-FFF2-40B4-BE49-F238E27FC236}">
                <a16:creationId xmlns:a16="http://schemas.microsoft.com/office/drawing/2014/main" id="{89C7D3B7-E864-4501-9174-6A509696997D}"/>
              </a:ext>
            </a:extLst>
          </p:cNvPr>
          <p:cNvSpPr txBox="1"/>
          <p:nvPr/>
        </p:nvSpPr>
        <p:spPr>
          <a:xfrm>
            <a:off x="1075763" y="4339165"/>
            <a:ext cx="6096000" cy="276999"/>
          </a:xfrm>
          <a:prstGeom prst="rect">
            <a:avLst/>
          </a:prstGeom>
          <a:noFill/>
        </p:spPr>
        <p:txBody>
          <a:bodyPr wrap="square">
            <a:spAutoFit/>
          </a:bodyPr>
          <a:lstStyle/>
          <a:p>
            <a:r>
              <a:rPr lang="en-IN" sz="1800" b="0" i="0" dirty="0">
                <a:solidFill>
                  <a:schemeClr val="tx1"/>
                </a:solidFill>
                <a:effectLst/>
                <a:latin typeface="+mn-lt"/>
              </a:rPr>
              <a:t>Orders</a:t>
            </a:r>
            <a:endParaRPr lang="en-IN" dirty="0"/>
          </a:p>
        </p:txBody>
      </p:sp>
    </p:spTree>
    <p:extLst>
      <p:ext uri="{BB962C8B-B14F-4D97-AF65-F5344CB8AC3E}">
        <p14:creationId xmlns:p14="http://schemas.microsoft.com/office/powerpoint/2010/main" val="2269351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6CC6F-1362-3ABB-247B-A0FFC850C143}"/>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1C994781-2EAB-030D-6410-5F7A1B91856D}"/>
              </a:ext>
            </a:extLst>
          </p:cNvPr>
          <p:cNvSpPr>
            <a:spLocks noGrp="1"/>
          </p:cNvSpPr>
          <p:nvPr>
            <p:ph idx="1"/>
          </p:nvPr>
        </p:nvSpPr>
        <p:spPr/>
        <p:txBody>
          <a:bodyPr/>
          <a:lstStyle/>
          <a:p>
            <a:r>
              <a:rPr lang="en-IN" dirty="0"/>
              <a:t>SELECT </a:t>
            </a:r>
            <a:r>
              <a:rPr lang="en-IN" dirty="0" err="1"/>
              <a:t>Customers.CustomerName</a:t>
            </a:r>
            <a:r>
              <a:rPr lang="en-IN" dirty="0"/>
              <a:t>, </a:t>
            </a:r>
            <a:r>
              <a:rPr lang="en-IN" dirty="0" err="1"/>
              <a:t>Orders.OrderID</a:t>
            </a:r>
            <a:br>
              <a:rPr lang="en-IN" dirty="0"/>
            </a:br>
            <a:r>
              <a:rPr lang="en-IN" dirty="0"/>
              <a:t>FROM Customers</a:t>
            </a:r>
            <a:br>
              <a:rPr lang="en-IN" dirty="0"/>
            </a:br>
            <a:r>
              <a:rPr lang="en-IN" dirty="0"/>
              <a:t>LEFT JOIN Orders ON </a:t>
            </a:r>
            <a:r>
              <a:rPr lang="en-IN" dirty="0" err="1"/>
              <a:t>Customers.CustomerID</a:t>
            </a:r>
            <a:r>
              <a:rPr lang="en-IN" dirty="0"/>
              <a:t> = </a:t>
            </a:r>
            <a:r>
              <a:rPr lang="en-IN" dirty="0" err="1"/>
              <a:t>Orders.CustomerID</a:t>
            </a:r>
            <a:br>
              <a:rPr lang="en-IN" dirty="0"/>
            </a:br>
            <a:r>
              <a:rPr lang="en-IN" dirty="0"/>
              <a:t>ORDER BY </a:t>
            </a:r>
            <a:r>
              <a:rPr lang="en-IN" dirty="0" err="1"/>
              <a:t>Customers.CustomerName</a:t>
            </a:r>
            <a:r>
              <a:rPr lang="en-IN" dirty="0"/>
              <a:t>;</a:t>
            </a:r>
          </a:p>
        </p:txBody>
      </p:sp>
      <p:graphicFrame>
        <p:nvGraphicFramePr>
          <p:cNvPr id="5" name="Table 4">
            <a:extLst>
              <a:ext uri="{FF2B5EF4-FFF2-40B4-BE49-F238E27FC236}">
                <a16:creationId xmlns:a16="http://schemas.microsoft.com/office/drawing/2014/main" id="{98D0580F-F7AC-A915-C574-8883DE6E39EB}"/>
              </a:ext>
            </a:extLst>
          </p:cNvPr>
          <p:cNvGraphicFramePr>
            <a:graphicFrameLocks noGrp="1"/>
          </p:cNvGraphicFramePr>
          <p:nvPr>
            <p:extLst>
              <p:ext uri="{D42A27DB-BD31-4B8C-83A1-F6EECF244321}">
                <p14:modId xmlns:p14="http://schemas.microsoft.com/office/powerpoint/2010/main" val="849492090"/>
              </p:ext>
            </p:extLst>
          </p:nvPr>
        </p:nvGraphicFramePr>
        <p:xfrm>
          <a:off x="3236259" y="4001294"/>
          <a:ext cx="5934636" cy="1737360"/>
        </p:xfrm>
        <a:graphic>
          <a:graphicData uri="http://schemas.openxmlformats.org/drawingml/2006/table">
            <a:tbl>
              <a:tblPr>
                <a:tableStyleId>{5C22544A-7EE6-4342-B048-85BDC9FD1C3A}</a:tableStyleId>
              </a:tblPr>
              <a:tblGrid>
                <a:gridCol w="2967318">
                  <a:extLst>
                    <a:ext uri="{9D8B030D-6E8A-4147-A177-3AD203B41FA5}">
                      <a16:colId xmlns:a16="http://schemas.microsoft.com/office/drawing/2014/main" val="124271666"/>
                    </a:ext>
                  </a:extLst>
                </a:gridCol>
                <a:gridCol w="2967318">
                  <a:extLst>
                    <a:ext uri="{9D8B030D-6E8A-4147-A177-3AD203B41FA5}">
                      <a16:colId xmlns:a16="http://schemas.microsoft.com/office/drawing/2014/main" val="3585554449"/>
                    </a:ext>
                  </a:extLst>
                </a:gridCol>
              </a:tblGrid>
              <a:tr h="0">
                <a:tc>
                  <a:txBody>
                    <a:bodyPr/>
                    <a:lstStyle/>
                    <a:p>
                      <a:pPr algn="ctr">
                        <a:buNone/>
                      </a:pPr>
                      <a:r>
                        <a:rPr lang="en-IN" b="1" dirty="0"/>
                        <a:t>Customer Name</a:t>
                      </a:r>
                    </a:p>
                  </a:txBody>
                  <a:tcPr anchor="ctr"/>
                </a:tc>
                <a:tc>
                  <a:txBody>
                    <a:bodyPr/>
                    <a:lstStyle/>
                    <a:p>
                      <a:pPr algn="ctr">
                        <a:buNone/>
                      </a:pPr>
                      <a:r>
                        <a:rPr lang="en-IN" b="1" dirty="0"/>
                        <a:t>Order ID</a:t>
                      </a:r>
                    </a:p>
                  </a:txBody>
                  <a:tcPr anchor="ctr"/>
                </a:tc>
                <a:extLst>
                  <a:ext uri="{0D108BD9-81ED-4DB2-BD59-A6C34878D82A}">
                    <a16:rowId xmlns:a16="http://schemas.microsoft.com/office/drawing/2014/main" val="2121305985"/>
                  </a:ext>
                </a:extLst>
              </a:tr>
              <a:tr h="0">
                <a:tc>
                  <a:txBody>
                    <a:bodyPr/>
                    <a:lstStyle/>
                    <a:p>
                      <a:pPr algn="ctr">
                        <a:buNone/>
                      </a:pPr>
                      <a:r>
                        <a:rPr lang="en-IN"/>
                        <a:t>Alfreds Futterkiste</a:t>
                      </a:r>
                    </a:p>
                  </a:txBody>
                  <a:tcPr anchor="ctr"/>
                </a:tc>
                <a:tc>
                  <a:txBody>
                    <a:bodyPr/>
                    <a:lstStyle/>
                    <a:p>
                      <a:pPr algn="ctr">
                        <a:buNone/>
                      </a:pPr>
                      <a:r>
                        <a:rPr lang="en-IN" dirty="0"/>
                        <a:t>NULL</a:t>
                      </a:r>
                    </a:p>
                  </a:txBody>
                  <a:tcPr anchor="ctr"/>
                </a:tc>
                <a:extLst>
                  <a:ext uri="{0D108BD9-81ED-4DB2-BD59-A6C34878D82A}">
                    <a16:rowId xmlns:a16="http://schemas.microsoft.com/office/drawing/2014/main" val="2180384424"/>
                  </a:ext>
                </a:extLst>
              </a:tr>
              <a:tr h="0">
                <a:tc>
                  <a:txBody>
                    <a:bodyPr/>
                    <a:lstStyle/>
                    <a:p>
                      <a:pPr algn="ctr">
                        <a:buNone/>
                      </a:pPr>
                      <a:r>
                        <a:rPr lang="en-IN"/>
                        <a:t>Ana Trujillo Emparedados y helados</a:t>
                      </a:r>
                    </a:p>
                  </a:txBody>
                  <a:tcPr anchor="ctr"/>
                </a:tc>
                <a:tc>
                  <a:txBody>
                    <a:bodyPr/>
                    <a:lstStyle/>
                    <a:p>
                      <a:pPr algn="ctr">
                        <a:buNone/>
                      </a:pPr>
                      <a:r>
                        <a:rPr lang="en-IN"/>
                        <a:t>10308</a:t>
                      </a:r>
                    </a:p>
                  </a:txBody>
                  <a:tcPr anchor="ctr"/>
                </a:tc>
                <a:extLst>
                  <a:ext uri="{0D108BD9-81ED-4DB2-BD59-A6C34878D82A}">
                    <a16:rowId xmlns:a16="http://schemas.microsoft.com/office/drawing/2014/main" val="3601317411"/>
                  </a:ext>
                </a:extLst>
              </a:tr>
              <a:tr h="0">
                <a:tc>
                  <a:txBody>
                    <a:bodyPr/>
                    <a:lstStyle/>
                    <a:p>
                      <a:pPr algn="ctr">
                        <a:buNone/>
                      </a:pPr>
                      <a:r>
                        <a:rPr lang="en-IN"/>
                        <a:t>Antonio Moreno Taquería</a:t>
                      </a:r>
                    </a:p>
                  </a:txBody>
                  <a:tcPr anchor="ctr"/>
                </a:tc>
                <a:tc>
                  <a:txBody>
                    <a:bodyPr/>
                    <a:lstStyle/>
                    <a:p>
                      <a:pPr algn="ctr">
                        <a:buNone/>
                      </a:pPr>
                      <a:r>
                        <a:rPr lang="en-IN" dirty="0"/>
                        <a:t>NULL</a:t>
                      </a:r>
                    </a:p>
                  </a:txBody>
                  <a:tcPr anchor="ctr"/>
                </a:tc>
                <a:extLst>
                  <a:ext uri="{0D108BD9-81ED-4DB2-BD59-A6C34878D82A}">
                    <a16:rowId xmlns:a16="http://schemas.microsoft.com/office/drawing/2014/main" val="334275876"/>
                  </a:ext>
                </a:extLst>
              </a:tr>
            </a:tbl>
          </a:graphicData>
        </a:graphic>
      </p:graphicFrame>
    </p:spTree>
    <p:extLst>
      <p:ext uri="{BB962C8B-B14F-4D97-AF65-F5344CB8AC3E}">
        <p14:creationId xmlns:p14="http://schemas.microsoft.com/office/powerpoint/2010/main" val="234769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25607-5B6B-DAA7-ED0F-0480E654F4E0}"/>
              </a:ext>
            </a:extLst>
          </p:cNvPr>
          <p:cNvSpPr>
            <a:spLocks noGrp="1"/>
          </p:cNvSpPr>
          <p:nvPr>
            <p:ph type="title"/>
          </p:nvPr>
        </p:nvSpPr>
        <p:spPr/>
        <p:txBody>
          <a:bodyPr/>
          <a:lstStyle/>
          <a:p>
            <a:pPr algn="r"/>
            <a:r>
              <a:rPr lang="en-IN" b="1" dirty="0"/>
              <a:t>RIGHT JOIN</a:t>
            </a:r>
          </a:p>
        </p:txBody>
      </p:sp>
      <p:sp>
        <p:nvSpPr>
          <p:cNvPr id="3" name="Content Placeholder 2">
            <a:extLst>
              <a:ext uri="{FF2B5EF4-FFF2-40B4-BE49-F238E27FC236}">
                <a16:creationId xmlns:a16="http://schemas.microsoft.com/office/drawing/2014/main" id="{2CBE3765-7726-A0D7-3E76-9CA578680D6E}"/>
              </a:ext>
            </a:extLst>
          </p:cNvPr>
          <p:cNvSpPr>
            <a:spLocks noGrp="1"/>
          </p:cNvSpPr>
          <p:nvPr>
            <p:ph idx="1"/>
          </p:nvPr>
        </p:nvSpPr>
        <p:spPr/>
        <p:txBody>
          <a:bodyPr/>
          <a:lstStyle/>
          <a:p>
            <a:r>
              <a:rPr lang="en-IN" dirty="0"/>
              <a:t>The RIGHT JOIN returns </a:t>
            </a:r>
            <a:r>
              <a:rPr lang="en-IN" b="1" dirty="0"/>
              <a:t>all rows from the right table</a:t>
            </a:r>
            <a:r>
              <a:rPr lang="en-IN" dirty="0"/>
              <a:t> (table2), and only the matched rows from the left table (table1).</a:t>
            </a:r>
          </a:p>
          <a:p>
            <a:r>
              <a:rPr lang="en-IN" dirty="0"/>
              <a:t>If there is no match in the left table, the result for the columns from the left table will be NULL.</a:t>
            </a:r>
          </a:p>
          <a:p>
            <a:r>
              <a:rPr lang="en-IN" dirty="0"/>
              <a:t>The RIGHT JOIN and RIGHT OUTER JOIN keywords are equal - the OUTER keyword is optional.</a:t>
            </a:r>
          </a:p>
          <a:p>
            <a:pPr marL="0" indent="0">
              <a:buNone/>
            </a:pPr>
            <a:br>
              <a:rPr lang="en-IN" dirty="0"/>
            </a:br>
            <a:endParaRPr lang="en-IN" dirty="0"/>
          </a:p>
        </p:txBody>
      </p:sp>
      <p:pic>
        <p:nvPicPr>
          <p:cNvPr id="5" name="Picture 4">
            <a:extLst>
              <a:ext uri="{FF2B5EF4-FFF2-40B4-BE49-F238E27FC236}">
                <a16:creationId xmlns:a16="http://schemas.microsoft.com/office/drawing/2014/main" id="{6C29775D-BA4A-850D-E4AB-05509493A578}"/>
              </a:ext>
            </a:extLst>
          </p:cNvPr>
          <p:cNvPicPr>
            <a:picLocks noChangeAspect="1"/>
          </p:cNvPicPr>
          <p:nvPr/>
        </p:nvPicPr>
        <p:blipFill>
          <a:blip r:embed="rId2"/>
          <a:stretch>
            <a:fillRect/>
          </a:stretch>
        </p:blipFill>
        <p:spPr>
          <a:xfrm>
            <a:off x="5440322" y="4429597"/>
            <a:ext cx="2819644" cy="1882303"/>
          </a:xfrm>
          <a:prstGeom prst="rect">
            <a:avLst/>
          </a:prstGeom>
        </p:spPr>
      </p:pic>
    </p:spTree>
    <p:extLst>
      <p:ext uri="{BB962C8B-B14F-4D97-AF65-F5344CB8AC3E}">
        <p14:creationId xmlns:p14="http://schemas.microsoft.com/office/powerpoint/2010/main" val="1401429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1B212-28DE-4C00-E250-41C0990CD3D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C8886DF-42B9-D077-42BF-7D0B421AF3FC}"/>
              </a:ext>
            </a:extLst>
          </p:cNvPr>
          <p:cNvSpPr>
            <a:spLocks noGrp="1"/>
          </p:cNvSpPr>
          <p:nvPr>
            <p:ph idx="1"/>
          </p:nvPr>
        </p:nvSpPr>
        <p:spPr/>
        <p:txBody>
          <a:bodyPr/>
          <a:lstStyle/>
          <a:p>
            <a:r>
              <a:rPr lang="en-IN" dirty="0"/>
              <a:t>SELECT </a:t>
            </a:r>
            <a:r>
              <a:rPr lang="en-IN" i="1" dirty="0" err="1"/>
              <a:t>column_name</a:t>
            </a:r>
            <a:r>
              <a:rPr lang="en-IN" i="1" dirty="0"/>
              <a:t>(s)</a:t>
            </a:r>
            <a:br>
              <a:rPr lang="en-IN" dirty="0"/>
            </a:br>
            <a:r>
              <a:rPr lang="en-IN" dirty="0"/>
              <a:t>FROM </a:t>
            </a:r>
            <a:r>
              <a:rPr lang="en-IN" i="1" dirty="0"/>
              <a:t>table1</a:t>
            </a:r>
            <a:br>
              <a:rPr lang="en-IN" dirty="0"/>
            </a:br>
            <a:r>
              <a:rPr lang="en-IN" dirty="0"/>
              <a:t>RIGHT JOIN </a:t>
            </a:r>
            <a:r>
              <a:rPr lang="en-IN" i="1" dirty="0"/>
              <a:t>table2</a:t>
            </a:r>
            <a:br>
              <a:rPr lang="en-IN" i="1" dirty="0"/>
            </a:br>
            <a:r>
              <a:rPr lang="en-IN" dirty="0"/>
              <a:t>ON </a:t>
            </a:r>
            <a:r>
              <a:rPr lang="en-IN" i="1" dirty="0"/>
              <a:t>table1.column_name </a:t>
            </a:r>
            <a:r>
              <a:rPr lang="en-IN" dirty="0"/>
              <a:t>=</a:t>
            </a:r>
            <a:r>
              <a:rPr lang="en-IN" i="1" dirty="0"/>
              <a:t> table2.column_name</a:t>
            </a:r>
            <a:r>
              <a:rPr lang="en-IN" dirty="0"/>
              <a:t>;</a:t>
            </a:r>
          </a:p>
        </p:txBody>
      </p:sp>
    </p:spTree>
    <p:extLst>
      <p:ext uri="{BB962C8B-B14F-4D97-AF65-F5344CB8AC3E}">
        <p14:creationId xmlns:p14="http://schemas.microsoft.com/office/powerpoint/2010/main" val="2857759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493EF9-EBEA-C0F7-1ECB-E4A95042A2BB}"/>
              </a:ext>
            </a:extLst>
          </p:cNvPr>
          <p:cNvSpPr>
            <a:spLocks noGrp="1"/>
          </p:cNvSpPr>
          <p:nvPr>
            <p:ph idx="1"/>
          </p:nvPr>
        </p:nvSpPr>
        <p:spPr>
          <a:xfrm>
            <a:off x="838200" y="546756"/>
            <a:ext cx="10515600" cy="5630208"/>
          </a:xfrm>
        </p:spPr>
        <p:txBody>
          <a:bodyPr/>
          <a:lstStyle/>
          <a:p>
            <a:r>
              <a:rPr lang="en-IN" dirty="0"/>
              <a:t>Orders</a:t>
            </a:r>
          </a:p>
          <a:p>
            <a:endParaRPr lang="en-IN" dirty="0"/>
          </a:p>
          <a:p>
            <a:endParaRPr lang="en-IN" dirty="0"/>
          </a:p>
          <a:p>
            <a:endParaRPr lang="en-IN" dirty="0"/>
          </a:p>
          <a:p>
            <a:endParaRPr lang="en-IN" dirty="0"/>
          </a:p>
          <a:p>
            <a:endParaRPr lang="en-IN" dirty="0"/>
          </a:p>
          <a:p>
            <a:r>
              <a:rPr lang="en-IN" dirty="0"/>
              <a:t>Employees</a:t>
            </a:r>
          </a:p>
          <a:p>
            <a:endParaRPr lang="en-IN" dirty="0"/>
          </a:p>
        </p:txBody>
      </p:sp>
      <p:graphicFrame>
        <p:nvGraphicFramePr>
          <p:cNvPr id="4" name="Table 3">
            <a:extLst>
              <a:ext uri="{FF2B5EF4-FFF2-40B4-BE49-F238E27FC236}">
                <a16:creationId xmlns:a16="http://schemas.microsoft.com/office/drawing/2014/main" id="{E5DF60A1-9AC8-EE30-E9BC-A73C5240CD9A}"/>
              </a:ext>
            </a:extLst>
          </p:cNvPr>
          <p:cNvGraphicFramePr>
            <a:graphicFrameLocks noGrp="1"/>
          </p:cNvGraphicFramePr>
          <p:nvPr>
            <p:extLst>
              <p:ext uri="{D42A27DB-BD31-4B8C-83A1-F6EECF244321}">
                <p14:modId xmlns:p14="http://schemas.microsoft.com/office/powerpoint/2010/main" val="938196474"/>
              </p:ext>
            </p:extLst>
          </p:nvPr>
        </p:nvGraphicFramePr>
        <p:xfrm>
          <a:off x="1074656" y="1071146"/>
          <a:ext cx="9191133" cy="2460396"/>
        </p:xfrm>
        <a:graphic>
          <a:graphicData uri="http://schemas.openxmlformats.org/drawingml/2006/table">
            <a:tbl>
              <a:tblPr>
                <a:tableStyleId>{5C22544A-7EE6-4342-B048-85BDC9FD1C3A}</a:tableStyleId>
              </a:tblPr>
              <a:tblGrid>
                <a:gridCol w="1345437">
                  <a:extLst>
                    <a:ext uri="{9D8B030D-6E8A-4147-A177-3AD203B41FA5}">
                      <a16:colId xmlns:a16="http://schemas.microsoft.com/office/drawing/2014/main" val="3719699220"/>
                    </a:ext>
                  </a:extLst>
                </a:gridCol>
                <a:gridCol w="1961424">
                  <a:extLst>
                    <a:ext uri="{9D8B030D-6E8A-4147-A177-3AD203B41FA5}">
                      <a16:colId xmlns:a16="http://schemas.microsoft.com/office/drawing/2014/main" val="3586742765"/>
                    </a:ext>
                  </a:extLst>
                </a:gridCol>
                <a:gridCol w="1961424">
                  <a:extLst>
                    <a:ext uri="{9D8B030D-6E8A-4147-A177-3AD203B41FA5}">
                      <a16:colId xmlns:a16="http://schemas.microsoft.com/office/drawing/2014/main" val="2765562845"/>
                    </a:ext>
                  </a:extLst>
                </a:gridCol>
                <a:gridCol w="1961424">
                  <a:extLst>
                    <a:ext uri="{9D8B030D-6E8A-4147-A177-3AD203B41FA5}">
                      <a16:colId xmlns:a16="http://schemas.microsoft.com/office/drawing/2014/main" val="3942437345"/>
                    </a:ext>
                  </a:extLst>
                </a:gridCol>
                <a:gridCol w="1961424">
                  <a:extLst>
                    <a:ext uri="{9D8B030D-6E8A-4147-A177-3AD203B41FA5}">
                      <a16:colId xmlns:a16="http://schemas.microsoft.com/office/drawing/2014/main" val="1422045121"/>
                    </a:ext>
                  </a:extLst>
                </a:gridCol>
              </a:tblGrid>
              <a:tr h="615099">
                <a:tc>
                  <a:txBody>
                    <a:bodyPr/>
                    <a:lstStyle/>
                    <a:p>
                      <a:pPr marL="0" marR="0" algn="ctr" fontAlgn="t">
                        <a:spcBef>
                          <a:spcPts val="1500"/>
                        </a:spcBef>
                        <a:spcAft>
                          <a:spcPts val="1500"/>
                        </a:spcAft>
                        <a:buNone/>
                      </a:pPr>
                      <a:r>
                        <a:rPr lang="en-IN" sz="1600" b="1" dirty="0">
                          <a:effectLst/>
                        </a:rPr>
                        <a:t>Order ID</a:t>
                      </a:r>
                      <a:endParaRPr lang="en-IN" sz="1600" b="1" i="0" dirty="0">
                        <a:solidFill>
                          <a:srgbClr val="000000"/>
                        </a:solidFill>
                        <a:effectLst/>
                        <a:latin typeface="Segoe UI" panose="020B0502040204020203" pitchFamily="34" charset="0"/>
                      </a:endParaRPr>
                    </a:p>
                  </a:txBody>
                  <a:tcPr marL="121920" marR="60960" marT="60960" marB="60960"/>
                </a:tc>
                <a:tc>
                  <a:txBody>
                    <a:bodyPr/>
                    <a:lstStyle/>
                    <a:p>
                      <a:pPr marL="0" marR="0" algn="ctr" fontAlgn="t">
                        <a:spcBef>
                          <a:spcPts val="1500"/>
                        </a:spcBef>
                        <a:spcAft>
                          <a:spcPts val="1500"/>
                        </a:spcAft>
                        <a:buNone/>
                      </a:pPr>
                      <a:r>
                        <a:rPr lang="en-IN" sz="1600" b="1" dirty="0">
                          <a:effectLst/>
                        </a:rPr>
                        <a:t>Customer ID</a:t>
                      </a:r>
                      <a:endParaRPr lang="en-IN" sz="1600" b="1" i="0" dirty="0">
                        <a:solidFill>
                          <a:srgbClr val="000000"/>
                        </a:solidFill>
                        <a:effectLst/>
                        <a:latin typeface="Segoe UI" panose="020B0502040204020203" pitchFamily="34" charset="0"/>
                      </a:endParaRPr>
                    </a:p>
                  </a:txBody>
                  <a:tcPr marL="60960" marR="60960" marT="60960" marB="60960"/>
                </a:tc>
                <a:tc>
                  <a:txBody>
                    <a:bodyPr/>
                    <a:lstStyle/>
                    <a:p>
                      <a:pPr marL="0" marR="0" algn="ctr" fontAlgn="t">
                        <a:spcBef>
                          <a:spcPts val="1500"/>
                        </a:spcBef>
                        <a:spcAft>
                          <a:spcPts val="1500"/>
                        </a:spcAft>
                        <a:buNone/>
                      </a:pPr>
                      <a:r>
                        <a:rPr lang="en-IN" sz="1600" b="1" dirty="0">
                          <a:effectLst/>
                        </a:rPr>
                        <a:t>Employee ID</a:t>
                      </a:r>
                      <a:endParaRPr lang="en-IN" sz="1600" b="1" i="0" dirty="0">
                        <a:solidFill>
                          <a:srgbClr val="000000"/>
                        </a:solidFill>
                        <a:effectLst/>
                        <a:latin typeface="Segoe UI" panose="020B0502040204020203" pitchFamily="34" charset="0"/>
                      </a:endParaRPr>
                    </a:p>
                  </a:txBody>
                  <a:tcPr marL="60960" marR="60960" marT="60960" marB="60960"/>
                </a:tc>
                <a:tc>
                  <a:txBody>
                    <a:bodyPr/>
                    <a:lstStyle/>
                    <a:p>
                      <a:pPr marL="0" marR="0" algn="ctr" fontAlgn="t">
                        <a:spcBef>
                          <a:spcPts val="1500"/>
                        </a:spcBef>
                        <a:spcAft>
                          <a:spcPts val="1500"/>
                        </a:spcAft>
                        <a:buNone/>
                      </a:pPr>
                      <a:r>
                        <a:rPr lang="en-IN" sz="1600" b="1" dirty="0">
                          <a:effectLst/>
                        </a:rPr>
                        <a:t>Order Date</a:t>
                      </a:r>
                      <a:endParaRPr lang="en-IN" sz="1600" b="1" i="0" dirty="0">
                        <a:solidFill>
                          <a:srgbClr val="000000"/>
                        </a:solidFill>
                        <a:effectLst/>
                        <a:latin typeface="Segoe UI" panose="020B0502040204020203" pitchFamily="34" charset="0"/>
                      </a:endParaRPr>
                    </a:p>
                  </a:txBody>
                  <a:tcPr marL="60960" marR="60960" marT="60960" marB="60960"/>
                </a:tc>
                <a:tc>
                  <a:txBody>
                    <a:bodyPr/>
                    <a:lstStyle/>
                    <a:p>
                      <a:pPr marL="0" marR="0" algn="ctr" fontAlgn="t">
                        <a:spcBef>
                          <a:spcPts val="1500"/>
                        </a:spcBef>
                        <a:spcAft>
                          <a:spcPts val="1500"/>
                        </a:spcAft>
                        <a:buNone/>
                      </a:pPr>
                      <a:r>
                        <a:rPr lang="en-IN" sz="1600" b="1" dirty="0">
                          <a:effectLst/>
                        </a:rPr>
                        <a:t>Shipper ID</a:t>
                      </a:r>
                      <a:endParaRPr lang="en-IN" sz="1600" b="1" i="0" dirty="0">
                        <a:solidFill>
                          <a:srgbClr val="000000"/>
                        </a:solidFill>
                        <a:effectLst/>
                        <a:latin typeface="Segoe UI" panose="020B0502040204020203" pitchFamily="34" charset="0"/>
                      </a:endParaRPr>
                    </a:p>
                  </a:txBody>
                  <a:tcPr marL="60960" marR="60960" marT="60960" marB="60960"/>
                </a:tc>
                <a:extLst>
                  <a:ext uri="{0D108BD9-81ED-4DB2-BD59-A6C34878D82A}">
                    <a16:rowId xmlns:a16="http://schemas.microsoft.com/office/drawing/2014/main" val="1254636129"/>
                  </a:ext>
                </a:extLst>
              </a:tr>
              <a:tr h="615099">
                <a:tc>
                  <a:txBody>
                    <a:bodyPr/>
                    <a:lstStyle/>
                    <a:p>
                      <a:pPr marL="0" marR="0" algn="ctr" fontAlgn="t">
                        <a:spcBef>
                          <a:spcPts val="1500"/>
                        </a:spcBef>
                        <a:spcAft>
                          <a:spcPts val="1500"/>
                        </a:spcAft>
                        <a:buNone/>
                      </a:pPr>
                      <a:r>
                        <a:rPr lang="en-IN" sz="1600">
                          <a:effectLst/>
                        </a:rPr>
                        <a:t>10308</a:t>
                      </a:r>
                      <a:endParaRPr lang="en-IN" sz="1600" b="0" i="0">
                        <a:solidFill>
                          <a:srgbClr val="000000"/>
                        </a:solidFill>
                        <a:effectLst/>
                        <a:latin typeface="Segoe UI" panose="020B0502040204020203" pitchFamily="34" charset="0"/>
                      </a:endParaRPr>
                    </a:p>
                  </a:txBody>
                  <a:tcPr marL="121920" marR="60960" marT="60960" marB="60960"/>
                </a:tc>
                <a:tc>
                  <a:txBody>
                    <a:bodyPr/>
                    <a:lstStyle/>
                    <a:p>
                      <a:pPr marL="0" marR="0" algn="ctr" fontAlgn="t">
                        <a:spcBef>
                          <a:spcPts val="1500"/>
                        </a:spcBef>
                        <a:spcAft>
                          <a:spcPts val="1500"/>
                        </a:spcAft>
                        <a:buNone/>
                      </a:pPr>
                      <a:r>
                        <a:rPr lang="en-IN" sz="1600">
                          <a:effectLst/>
                        </a:rPr>
                        <a:t>2</a:t>
                      </a:r>
                      <a:endParaRPr lang="en-IN" sz="1600" b="0" i="0">
                        <a:solidFill>
                          <a:srgbClr val="000000"/>
                        </a:solidFill>
                        <a:effectLst/>
                        <a:latin typeface="Segoe UI" panose="020B0502040204020203" pitchFamily="34" charset="0"/>
                      </a:endParaRPr>
                    </a:p>
                  </a:txBody>
                  <a:tcPr marL="60960" marR="60960" marT="60960" marB="60960"/>
                </a:tc>
                <a:tc>
                  <a:txBody>
                    <a:bodyPr/>
                    <a:lstStyle/>
                    <a:p>
                      <a:pPr marL="0" marR="0" algn="ctr" fontAlgn="t">
                        <a:spcBef>
                          <a:spcPts val="1500"/>
                        </a:spcBef>
                        <a:spcAft>
                          <a:spcPts val="1500"/>
                        </a:spcAft>
                        <a:buNone/>
                      </a:pPr>
                      <a:r>
                        <a:rPr lang="en-IN" sz="1600" dirty="0">
                          <a:effectLst/>
                        </a:rPr>
                        <a:t>7</a:t>
                      </a:r>
                      <a:endParaRPr lang="en-IN" sz="1600" b="0" i="0" dirty="0">
                        <a:solidFill>
                          <a:srgbClr val="000000"/>
                        </a:solidFill>
                        <a:effectLst/>
                        <a:latin typeface="Segoe UI" panose="020B0502040204020203" pitchFamily="34" charset="0"/>
                      </a:endParaRPr>
                    </a:p>
                  </a:txBody>
                  <a:tcPr marL="60960" marR="60960" marT="60960" marB="60960"/>
                </a:tc>
                <a:tc>
                  <a:txBody>
                    <a:bodyPr/>
                    <a:lstStyle/>
                    <a:p>
                      <a:pPr marL="0" marR="0" algn="ctr" fontAlgn="t">
                        <a:spcBef>
                          <a:spcPts val="1500"/>
                        </a:spcBef>
                        <a:spcAft>
                          <a:spcPts val="1500"/>
                        </a:spcAft>
                        <a:buNone/>
                      </a:pPr>
                      <a:r>
                        <a:rPr lang="en-IN" sz="1600">
                          <a:effectLst/>
                        </a:rPr>
                        <a:t>1996-09-18</a:t>
                      </a:r>
                      <a:endParaRPr lang="en-IN" sz="1600" b="0" i="0">
                        <a:solidFill>
                          <a:srgbClr val="000000"/>
                        </a:solidFill>
                        <a:effectLst/>
                        <a:latin typeface="Segoe UI" panose="020B0502040204020203" pitchFamily="34" charset="0"/>
                      </a:endParaRPr>
                    </a:p>
                  </a:txBody>
                  <a:tcPr marL="60960" marR="60960" marT="60960" marB="60960"/>
                </a:tc>
                <a:tc>
                  <a:txBody>
                    <a:bodyPr/>
                    <a:lstStyle/>
                    <a:p>
                      <a:pPr marL="0" marR="0" algn="ctr" fontAlgn="t">
                        <a:spcBef>
                          <a:spcPts val="1500"/>
                        </a:spcBef>
                        <a:spcAft>
                          <a:spcPts val="1500"/>
                        </a:spcAft>
                        <a:buNone/>
                      </a:pPr>
                      <a:r>
                        <a:rPr lang="en-IN" sz="1600">
                          <a:effectLst/>
                        </a:rPr>
                        <a:t>3</a:t>
                      </a:r>
                      <a:endParaRPr lang="en-IN" sz="1600" b="0" i="0">
                        <a:solidFill>
                          <a:srgbClr val="000000"/>
                        </a:solidFill>
                        <a:effectLst/>
                        <a:latin typeface="Segoe UI" panose="020B0502040204020203" pitchFamily="34" charset="0"/>
                      </a:endParaRPr>
                    </a:p>
                  </a:txBody>
                  <a:tcPr marL="60960" marR="60960" marT="60960" marB="60960"/>
                </a:tc>
                <a:extLst>
                  <a:ext uri="{0D108BD9-81ED-4DB2-BD59-A6C34878D82A}">
                    <a16:rowId xmlns:a16="http://schemas.microsoft.com/office/drawing/2014/main" val="2946285704"/>
                  </a:ext>
                </a:extLst>
              </a:tr>
              <a:tr h="615099">
                <a:tc>
                  <a:txBody>
                    <a:bodyPr/>
                    <a:lstStyle/>
                    <a:p>
                      <a:pPr marL="0" marR="0" algn="ctr" fontAlgn="t">
                        <a:spcBef>
                          <a:spcPts val="1500"/>
                        </a:spcBef>
                        <a:spcAft>
                          <a:spcPts val="1500"/>
                        </a:spcAft>
                        <a:buNone/>
                      </a:pPr>
                      <a:r>
                        <a:rPr lang="en-IN" sz="1600">
                          <a:effectLst/>
                        </a:rPr>
                        <a:t>10309</a:t>
                      </a:r>
                      <a:endParaRPr lang="en-IN" sz="1600" b="0" i="0">
                        <a:solidFill>
                          <a:srgbClr val="000000"/>
                        </a:solidFill>
                        <a:effectLst/>
                        <a:latin typeface="Segoe UI" panose="020B0502040204020203" pitchFamily="34" charset="0"/>
                      </a:endParaRPr>
                    </a:p>
                  </a:txBody>
                  <a:tcPr marL="121920" marR="60960" marT="60960" marB="60960"/>
                </a:tc>
                <a:tc>
                  <a:txBody>
                    <a:bodyPr/>
                    <a:lstStyle/>
                    <a:p>
                      <a:pPr marL="0" marR="0" algn="ctr" fontAlgn="t">
                        <a:spcBef>
                          <a:spcPts val="1500"/>
                        </a:spcBef>
                        <a:spcAft>
                          <a:spcPts val="1500"/>
                        </a:spcAft>
                        <a:buNone/>
                      </a:pPr>
                      <a:r>
                        <a:rPr lang="en-IN" sz="1600">
                          <a:effectLst/>
                        </a:rPr>
                        <a:t>37</a:t>
                      </a:r>
                      <a:endParaRPr lang="en-IN" sz="1600" b="0" i="0">
                        <a:solidFill>
                          <a:srgbClr val="000000"/>
                        </a:solidFill>
                        <a:effectLst/>
                        <a:latin typeface="Segoe UI" panose="020B0502040204020203" pitchFamily="34" charset="0"/>
                      </a:endParaRPr>
                    </a:p>
                  </a:txBody>
                  <a:tcPr marL="60960" marR="60960" marT="60960" marB="60960"/>
                </a:tc>
                <a:tc>
                  <a:txBody>
                    <a:bodyPr/>
                    <a:lstStyle/>
                    <a:p>
                      <a:pPr marL="0" marR="0" algn="ctr" fontAlgn="t">
                        <a:spcBef>
                          <a:spcPts val="1500"/>
                        </a:spcBef>
                        <a:spcAft>
                          <a:spcPts val="1500"/>
                        </a:spcAft>
                        <a:buNone/>
                      </a:pPr>
                      <a:r>
                        <a:rPr lang="en-IN" sz="1600">
                          <a:effectLst/>
                        </a:rPr>
                        <a:t>3</a:t>
                      </a:r>
                      <a:endParaRPr lang="en-IN" sz="1600" b="0" i="0">
                        <a:solidFill>
                          <a:srgbClr val="000000"/>
                        </a:solidFill>
                        <a:effectLst/>
                        <a:latin typeface="Segoe UI" panose="020B0502040204020203" pitchFamily="34" charset="0"/>
                      </a:endParaRPr>
                    </a:p>
                  </a:txBody>
                  <a:tcPr marL="60960" marR="60960" marT="60960" marB="60960"/>
                </a:tc>
                <a:tc>
                  <a:txBody>
                    <a:bodyPr/>
                    <a:lstStyle/>
                    <a:p>
                      <a:pPr marL="0" marR="0" algn="ctr" fontAlgn="t">
                        <a:spcBef>
                          <a:spcPts val="1500"/>
                        </a:spcBef>
                        <a:spcAft>
                          <a:spcPts val="1500"/>
                        </a:spcAft>
                        <a:buNone/>
                      </a:pPr>
                      <a:r>
                        <a:rPr lang="en-IN" sz="1600" dirty="0">
                          <a:effectLst/>
                        </a:rPr>
                        <a:t>1996-09-19</a:t>
                      </a:r>
                      <a:endParaRPr lang="en-IN" sz="1600" b="0" i="0" dirty="0">
                        <a:solidFill>
                          <a:srgbClr val="000000"/>
                        </a:solidFill>
                        <a:effectLst/>
                        <a:latin typeface="Segoe UI" panose="020B0502040204020203" pitchFamily="34" charset="0"/>
                      </a:endParaRPr>
                    </a:p>
                  </a:txBody>
                  <a:tcPr marL="60960" marR="60960" marT="60960" marB="60960"/>
                </a:tc>
                <a:tc>
                  <a:txBody>
                    <a:bodyPr/>
                    <a:lstStyle/>
                    <a:p>
                      <a:pPr marL="0" marR="0" algn="ctr" fontAlgn="t">
                        <a:spcBef>
                          <a:spcPts val="1500"/>
                        </a:spcBef>
                        <a:spcAft>
                          <a:spcPts val="1500"/>
                        </a:spcAft>
                        <a:buNone/>
                      </a:pPr>
                      <a:r>
                        <a:rPr lang="en-IN" sz="1600">
                          <a:effectLst/>
                        </a:rPr>
                        <a:t>1</a:t>
                      </a:r>
                      <a:endParaRPr lang="en-IN" sz="1600" b="0" i="0">
                        <a:solidFill>
                          <a:srgbClr val="000000"/>
                        </a:solidFill>
                        <a:effectLst/>
                        <a:latin typeface="Segoe UI" panose="020B0502040204020203" pitchFamily="34" charset="0"/>
                      </a:endParaRPr>
                    </a:p>
                  </a:txBody>
                  <a:tcPr marL="60960" marR="60960" marT="60960" marB="60960"/>
                </a:tc>
                <a:extLst>
                  <a:ext uri="{0D108BD9-81ED-4DB2-BD59-A6C34878D82A}">
                    <a16:rowId xmlns:a16="http://schemas.microsoft.com/office/drawing/2014/main" val="3825351058"/>
                  </a:ext>
                </a:extLst>
              </a:tr>
              <a:tr h="615099">
                <a:tc>
                  <a:txBody>
                    <a:bodyPr/>
                    <a:lstStyle/>
                    <a:p>
                      <a:pPr marL="0" marR="0" algn="ctr" fontAlgn="t">
                        <a:spcBef>
                          <a:spcPts val="1500"/>
                        </a:spcBef>
                        <a:spcAft>
                          <a:spcPts val="1500"/>
                        </a:spcAft>
                        <a:buNone/>
                      </a:pPr>
                      <a:r>
                        <a:rPr lang="en-IN" sz="1600" dirty="0">
                          <a:effectLst/>
                        </a:rPr>
                        <a:t>10310</a:t>
                      </a:r>
                      <a:endParaRPr lang="en-IN" sz="1600" b="0" i="0" dirty="0">
                        <a:solidFill>
                          <a:srgbClr val="000000"/>
                        </a:solidFill>
                        <a:effectLst/>
                        <a:latin typeface="Segoe UI" panose="020B0502040204020203" pitchFamily="34" charset="0"/>
                      </a:endParaRPr>
                    </a:p>
                  </a:txBody>
                  <a:tcPr marL="121920" marR="60960" marT="60960" marB="60960"/>
                </a:tc>
                <a:tc>
                  <a:txBody>
                    <a:bodyPr/>
                    <a:lstStyle/>
                    <a:p>
                      <a:pPr marL="0" marR="0" algn="ctr" fontAlgn="t">
                        <a:spcBef>
                          <a:spcPts val="1500"/>
                        </a:spcBef>
                        <a:spcAft>
                          <a:spcPts val="1500"/>
                        </a:spcAft>
                        <a:buNone/>
                      </a:pPr>
                      <a:r>
                        <a:rPr lang="en-IN" sz="1600" dirty="0">
                          <a:effectLst/>
                        </a:rPr>
                        <a:t>77</a:t>
                      </a:r>
                      <a:endParaRPr lang="en-IN" sz="1600" b="0" i="0" dirty="0">
                        <a:solidFill>
                          <a:srgbClr val="000000"/>
                        </a:solidFill>
                        <a:effectLst/>
                        <a:latin typeface="Segoe UI" panose="020B0502040204020203" pitchFamily="34" charset="0"/>
                      </a:endParaRPr>
                    </a:p>
                  </a:txBody>
                  <a:tcPr marL="60960" marR="60960" marT="60960" marB="60960"/>
                </a:tc>
                <a:tc>
                  <a:txBody>
                    <a:bodyPr/>
                    <a:lstStyle/>
                    <a:p>
                      <a:pPr marL="0" marR="0" algn="ctr" fontAlgn="t">
                        <a:spcBef>
                          <a:spcPts val="1500"/>
                        </a:spcBef>
                        <a:spcAft>
                          <a:spcPts val="1500"/>
                        </a:spcAft>
                        <a:buNone/>
                      </a:pPr>
                      <a:r>
                        <a:rPr lang="en-IN" sz="1600">
                          <a:effectLst/>
                        </a:rPr>
                        <a:t>8</a:t>
                      </a:r>
                      <a:endParaRPr lang="en-IN" sz="1600" b="0" i="0">
                        <a:solidFill>
                          <a:srgbClr val="000000"/>
                        </a:solidFill>
                        <a:effectLst/>
                        <a:latin typeface="Segoe UI" panose="020B0502040204020203" pitchFamily="34" charset="0"/>
                      </a:endParaRPr>
                    </a:p>
                  </a:txBody>
                  <a:tcPr marL="60960" marR="60960" marT="60960" marB="60960"/>
                </a:tc>
                <a:tc>
                  <a:txBody>
                    <a:bodyPr/>
                    <a:lstStyle/>
                    <a:p>
                      <a:pPr marL="0" marR="0" algn="ctr" fontAlgn="t">
                        <a:spcBef>
                          <a:spcPts val="1500"/>
                        </a:spcBef>
                        <a:spcAft>
                          <a:spcPts val="1500"/>
                        </a:spcAft>
                        <a:buNone/>
                      </a:pPr>
                      <a:r>
                        <a:rPr lang="en-IN" sz="1600">
                          <a:effectLst/>
                        </a:rPr>
                        <a:t>1996-09-20</a:t>
                      </a:r>
                      <a:endParaRPr lang="en-IN" sz="1600" b="0" i="0">
                        <a:solidFill>
                          <a:srgbClr val="000000"/>
                        </a:solidFill>
                        <a:effectLst/>
                        <a:latin typeface="Segoe UI" panose="020B0502040204020203" pitchFamily="34" charset="0"/>
                      </a:endParaRPr>
                    </a:p>
                  </a:txBody>
                  <a:tcPr marL="60960" marR="60960" marT="60960" marB="60960"/>
                </a:tc>
                <a:tc>
                  <a:txBody>
                    <a:bodyPr/>
                    <a:lstStyle/>
                    <a:p>
                      <a:pPr marL="0" marR="0" algn="ctr" fontAlgn="t">
                        <a:spcBef>
                          <a:spcPts val="1500"/>
                        </a:spcBef>
                        <a:spcAft>
                          <a:spcPts val="1500"/>
                        </a:spcAft>
                        <a:buNone/>
                      </a:pPr>
                      <a:r>
                        <a:rPr lang="en-IN" sz="1600" dirty="0">
                          <a:effectLst/>
                        </a:rPr>
                        <a:t>2</a:t>
                      </a:r>
                      <a:endParaRPr lang="en-IN" sz="1600" b="0" i="0" dirty="0">
                        <a:solidFill>
                          <a:srgbClr val="000000"/>
                        </a:solidFill>
                        <a:effectLst/>
                        <a:latin typeface="Segoe UI" panose="020B0502040204020203" pitchFamily="34" charset="0"/>
                      </a:endParaRPr>
                    </a:p>
                  </a:txBody>
                  <a:tcPr marL="60960" marR="60960" marT="60960" marB="60960"/>
                </a:tc>
                <a:extLst>
                  <a:ext uri="{0D108BD9-81ED-4DB2-BD59-A6C34878D82A}">
                    <a16:rowId xmlns:a16="http://schemas.microsoft.com/office/drawing/2014/main" val="1749189582"/>
                  </a:ext>
                </a:extLst>
              </a:tr>
            </a:tbl>
          </a:graphicData>
        </a:graphic>
      </p:graphicFrame>
      <p:graphicFrame>
        <p:nvGraphicFramePr>
          <p:cNvPr id="5" name="Table 4">
            <a:extLst>
              <a:ext uri="{FF2B5EF4-FFF2-40B4-BE49-F238E27FC236}">
                <a16:creationId xmlns:a16="http://schemas.microsoft.com/office/drawing/2014/main" id="{6D87A571-E8B9-45ED-E94F-5EDB6560D7C7}"/>
              </a:ext>
            </a:extLst>
          </p:cNvPr>
          <p:cNvGraphicFramePr>
            <a:graphicFrameLocks noGrp="1"/>
          </p:cNvGraphicFramePr>
          <p:nvPr>
            <p:extLst>
              <p:ext uri="{D42A27DB-BD31-4B8C-83A1-F6EECF244321}">
                <p14:modId xmlns:p14="http://schemas.microsoft.com/office/powerpoint/2010/main" val="1344076378"/>
              </p:ext>
            </p:extLst>
          </p:nvPr>
        </p:nvGraphicFramePr>
        <p:xfrm>
          <a:off x="1366887" y="4317476"/>
          <a:ext cx="8225140" cy="2064472"/>
        </p:xfrm>
        <a:graphic>
          <a:graphicData uri="http://schemas.openxmlformats.org/drawingml/2006/table">
            <a:tbl>
              <a:tblPr>
                <a:tableStyleId>{5C22544A-7EE6-4342-B048-85BDC9FD1C3A}</a:tableStyleId>
              </a:tblPr>
              <a:tblGrid>
                <a:gridCol w="1645028">
                  <a:extLst>
                    <a:ext uri="{9D8B030D-6E8A-4147-A177-3AD203B41FA5}">
                      <a16:colId xmlns:a16="http://schemas.microsoft.com/office/drawing/2014/main" val="2010855766"/>
                    </a:ext>
                  </a:extLst>
                </a:gridCol>
                <a:gridCol w="1645028">
                  <a:extLst>
                    <a:ext uri="{9D8B030D-6E8A-4147-A177-3AD203B41FA5}">
                      <a16:colId xmlns:a16="http://schemas.microsoft.com/office/drawing/2014/main" val="240567893"/>
                    </a:ext>
                  </a:extLst>
                </a:gridCol>
                <a:gridCol w="1645028">
                  <a:extLst>
                    <a:ext uri="{9D8B030D-6E8A-4147-A177-3AD203B41FA5}">
                      <a16:colId xmlns:a16="http://schemas.microsoft.com/office/drawing/2014/main" val="615805632"/>
                    </a:ext>
                  </a:extLst>
                </a:gridCol>
                <a:gridCol w="1645028">
                  <a:extLst>
                    <a:ext uri="{9D8B030D-6E8A-4147-A177-3AD203B41FA5}">
                      <a16:colId xmlns:a16="http://schemas.microsoft.com/office/drawing/2014/main" val="105605526"/>
                    </a:ext>
                  </a:extLst>
                </a:gridCol>
                <a:gridCol w="1645028">
                  <a:extLst>
                    <a:ext uri="{9D8B030D-6E8A-4147-A177-3AD203B41FA5}">
                      <a16:colId xmlns:a16="http://schemas.microsoft.com/office/drawing/2014/main" val="114322695"/>
                    </a:ext>
                  </a:extLst>
                </a:gridCol>
              </a:tblGrid>
              <a:tr h="516118">
                <a:tc>
                  <a:txBody>
                    <a:bodyPr/>
                    <a:lstStyle/>
                    <a:p>
                      <a:pPr marL="0" marR="0" algn="ctr" fontAlgn="t">
                        <a:spcBef>
                          <a:spcPts val="1500"/>
                        </a:spcBef>
                        <a:spcAft>
                          <a:spcPts val="1500"/>
                        </a:spcAft>
                        <a:buNone/>
                      </a:pPr>
                      <a:r>
                        <a:rPr lang="en-IN" sz="1600" b="1" dirty="0">
                          <a:effectLst/>
                        </a:rPr>
                        <a:t>Employee ID</a:t>
                      </a:r>
                      <a:endParaRPr lang="en-IN" sz="1600" b="1" i="0" dirty="0">
                        <a:solidFill>
                          <a:srgbClr val="000000"/>
                        </a:solidFill>
                        <a:effectLst/>
                        <a:latin typeface="Segoe UI" panose="020B0502040204020203" pitchFamily="34" charset="0"/>
                      </a:endParaRPr>
                    </a:p>
                  </a:txBody>
                  <a:tcPr marL="121920" marR="60960" marT="60960" marB="60960"/>
                </a:tc>
                <a:tc>
                  <a:txBody>
                    <a:bodyPr/>
                    <a:lstStyle/>
                    <a:p>
                      <a:pPr marL="0" marR="0" algn="ctr" fontAlgn="t">
                        <a:spcBef>
                          <a:spcPts val="1500"/>
                        </a:spcBef>
                        <a:spcAft>
                          <a:spcPts val="1500"/>
                        </a:spcAft>
                        <a:buNone/>
                      </a:pPr>
                      <a:r>
                        <a:rPr lang="en-IN" sz="1600" b="1" dirty="0">
                          <a:effectLst/>
                        </a:rPr>
                        <a:t>LastName</a:t>
                      </a:r>
                      <a:endParaRPr lang="en-IN" sz="1600" b="1" i="0" dirty="0">
                        <a:solidFill>
                          <a:srgbClr val="000000"/>
                        </a:solidFill>
                        <a:effectLst/>
                        <a:latin typeface="Segoe UI" panose="020B0502040204020203" pitchFamily="34" charset="0"/>
                      </a:endParaRPr>
                    </a:p>
                  </a:txBody>
                  <a:tcPr marL="60960" marR="60960" marT="60960" marB="60960"/>
                </a:tc>
                <a:tc>
                  <a:txBody>
                    <a:bodyPr/>
                    <a:lstStyle/>
                    <a:p>
                      <a:pPr marL="0" marR="0" algn="ctr" fontAlgn="t">
                        <a:spcBef>
                          <a:spcPts val="1500"/>
                        </a:spcBef>
                        <a:spcAft>
                          <a:spcPts val="1500"/>
                        </a:spcAft>
                        <a:buNone/>
                      </a:pPr>
                      <a:r>
                        <a:rPr lang="en-IN" sz="1600" b="1" dirty="0">
                          <a:effectLst/>
                        </a:rPr>
                        <a:t>FirstName</a:t>
                      </a:r>
                      <a:endParaRPr lang="en-IN" sz="1600" b="1" i="0" dirty="0">
                        <a:solidFill>
                          <a:srgbClr val="000000"/>
                        </a:solidFill>
                        <a:effectLst/>
                        <a:latin typeface="Segoe UI" panose="020B0502040204020203" pitchFamily="34" charset="0"/>
                      </a:endParaRPr>
                    </a:p>
                  </a:txBody>
                  <a:tcPr marL="60960" marR="60960" marT="60960" marB="60960"/>
                </a:tc>
                <a:tc>
                  <a:txBody>
                    <a:bodyPr/>
                    <a:lstStyle/>
                    <a:p>
                      <a:pPr marL="0" marR="0" algn="ctr" fontAlgn="t">
                        <a:spcBef>
                          <a:spcPts val="1500"/>
                        </a:spcBef>
                        <a:spcAft>
                          <a:spcPts val="1500"/>
                        </a:spcAft>
                        <a:buNone/>
                      </a:pPr>
                      <a:r>
                        <a:rPr lang="en-IN" sz="1600" b="1" dirty="0">
                          <a:effectLst/>
                        </a:rPr>
                        <a:t>Birth Date</a:t>
                      </a:r>
                      <a:endParaRPr lang="en-IN" sz="1600" b="1" i="0" dirty="0">
                        <a:solidFill>
                          <a:srgbClr val="000000"/>
                        </a:solidFill>
                        <a:effectLst/>
                        <a:latin typeface="Segoe UI" panose="020B0502040204020203" pitchFamily="34" charset="0"/>
                      </a:endParaRPr>
                    </a:p>
                  </a:txBody>
                  <a:tcPr marL="60960" marR="60960" marT="60960" marB="60960"/>
                </a:tc>
                <a:tc>
                  <a:txBody>
                    <a:bodyPr/>
                    <a:lstStyle/>
                    <a:p>
                      <a:pPr marL="0" marR="0" algn="ctr" fontAlgn="t">
                        <a:spcBef>
                          <a:spcPts val="1500"/>
                        </a:spcBef>
                        <a:spcAft>
                          <a:spcPts val="1500"/>
                        </a:spcAft>
                        <a:buNone/>
                      </a:pPr>
                      <a:r>
                        <a:rPr lang="en-IN" sz="1600" b="1" dirty="0">
                          <a:effectLst/>
                        </a:rPr>
                        <a:t>Photo</a:t>
                      </a:r>
                      <a:endParaRPr lang="en-IN" sz="1600" b="1" i="0" dirty="0">
                        <a:solidFill>
                          <a:srgbClr val="000000"/>
                        </a:solidFill>
                        <a:effectLst/>
                        <a:latin typeface="Segoe UI" panose="020B0502040204020203" pitchFamily="34" charset="0"/>
                      </a:endParaRPr>
                    </a:p>
                  </a:txBody>
                  <a:tcPr marL="60960" marR="60960" marT="60960" marB="60960"/>
                </a:tc>
                <a:extLst>
                  <a:ext uri="{0D108BD9-81ED-4DB2-BD59-A6C34878D82A}">
                    <a16:rowId xmlns:a16="http://schemas.microsoft.com/office/drawing/2014/main" val="3720242298"/>
                  </a:ext>
                </a:extLst>
              </a:tr>
              <a:tr h="516118">
                <a:tc>
                  <a:txBody>
                    <a:bodyPr/>
                    <a:lstStyle/>
                    <a:p>
                      <a:pPr marL="0" marR="0" algn="ctr" fontAlgn="t">
                        <a:spcBef>
                          <a:spcPts val="1500"/>
                        </a:spcBef>
                        <a:spcAft>
                          <a:spcPts val="1500"/>
                        </a:spcAft>
                        <a:buNone/>
                      </a:pPr>
                      <a:r>
                        <a:rPr lang="en-IN" sz="1600">
                          <a:effectLst/>
                        </a:rPr>
                        <a:t>1</a:t>
                      </a:r>
                      <a:endParaRPr lang="en-IN" sz="1600" b="0" i="0">
                        <a:solidFill>
                          <a:srgbClr val="000000"/>
                        </a:solidFill>
                        <a:effectLst/>
                        <a:latin typeface="Segoe UI" panose="020B0502040204020203" pitchFamily="34" charset="0"/>
                      </a:endParaRPr>
                    </a:p>
                  </a:txBody>
                  <a:tcPr marL="121920" marR="60960" marT="60960" marB="60960"/>
                </a:tc>
                <a:tc>
                  <a:txBody>
                    <a:bodyPr/>
                    <a:lstStyle/>
                    <a:p>
                      <a:pPr marL="0" marR="0" algn="ctr" fontAlgn="t">
                        <a:spcBef>
                          <a:spcPts val="1500"/>
                        </a:spcBef>
                        <a:spcAft>
                          <a:spcPts val="1500"/>
                        </a:spcAft>
                        <a:buNone/>
                      </a:pPr>
                      <a:r>
                        <a:rPr lang="en-IN" sz="1600" dirty="0">
                          <a:effectLst/>
                        </a:rPr>
                        <a:t>Davolio</a:t>
                      </a:r>
                      <a:endParaRPr lang="en-IN" sz="1600" b="0" i="0" dirty="0">
                        <a:solidFill>
                          <a:srgbClr val="000000"/>
                        </a:solidFill>
                        <a:effectLst/>
                        <a:latin typeface="Segoe UI" panose="020B0502040204020203" pitchFamily="34" charset="0"/>
                      </a:endParaRPr>
                    </a:p>
                  </a:txBody>
                  <a:tcPr marL="60960" marR="60960" marT="60960" marB="60960"/>
                </a:tc>
                <a:tc>
                  <a:txBody>
                    <a:bodyPr/>
                    <a:lstStyle/>
                    <a:p>
                      <a:pPr marL="0" marR="0" algn="ctr" fontAlgn="t">
                        <a:spcBef>
                          <a:spcPts val="1500"/>
                        </a:spcBef>
                        <a:spcAft>
                          <a:spcPts val="1500"/>
                        </a:spcAft>
                        <a:buNone/>
                      </a:pPr>
                      <a:r>
                        <a:rPr lang="en-IN" sz="1600">
                          <a:effectLst/>
                        </a:rPr>
                        <a:t>Nancy</a:t>
                      </a:r>
                      <a:endParaRPr lang="en-IN" sz="1600" b="0" i="0">
                        <a:solidFill>
                          <a:srgbClr val="000000"/>
                        </a:solidFill>
                        <a:effectLst/>
                        <a:latin typeface="Segoe UI" panose="020B0502040204020203" pitchFamily="34" charset="0"/>
                      </a:endParaRPr>
                    </a:p>
                  </a:txBody>
                  <a:tcPr marL="60960" marR="60960" marT="60960" marB="60960"/>
                </a:tc>
                <a:tc>
                  <a:txBody>
                    <a:bodyPr/>
                    <a:lstStyle/>
                    <a:p>
                      <a:pPr marL="0" marR="0" algn="ctr" fontAlgn="t">
                        <a:spcBef>
                          <a:spcPts val="1500"/>
                        </a:spcBef>
                        <a:spcAft>
                          <a:spcPts val="1500"/>
                        </a:spcAft>
                        <a:buNone/>
                      </a:pPr>
                      <a:r>
                        <a:rPr lang="en-IN" sz="1600" dirty="0">
                          <a:effectLst/>
                        </a:rPr>
                        <a:t>1968-12-08</a:t>
                      </a:r>
                      <a:endParaRPr lang="en-IN" sz="1600" b="0" i="0" dirty="0">
                        <a:solidFill>
                          <a:srgbClr val="000000"/>
                        </a:solidFill>
                        <a:effectLst/>
                        <a:latin typeface="Segoe UI" panose="020B0502040204020203" pitchFamily="34" charset="0"/>
                      </a:endParaRPr>
                    </a:p>
                  </a:txBody>
                  <a:tcPr marL="60960" marR="60960" marT="60960" marB="60960"/>
                </a:tc>
                <a:tc>
                  <a:txBody>
                    <a:bodyPr/>
                    <a:lstStyle/>
                    <a:p>
                      <a:pPr marL="0" marR="0" algn="ctr" fontAlgn="t">
                        <a:spcBef>
                          <a:spcPts val="1500"/>
                        </a:spcBef>
                        <a:spcAft>
                          <a:spcPts val="1500"/>
                        </a:spcAft>
                        <a:buNone/>
                      </a:pPr>
                      <a:r>
                        <a:rPr lang="en-IN" sz="1600">
                          <a:effectLst/>
                        </a:rPr>
                        <a:t>EmpID1.pic</a:t>
                      </a:r>
                      <a:endParaRPr lang="en-IN" sz="1600" b="0" i="0">
                        <a:solidFill>
                          <a:srgbClr val="000000"/>
                        </a:solidFill>
                        <a:effectLst/>
                        <a:latin typeface="Segoe UI" panose="020B0502040204020203" pitchFamily="34" charset="0"/>
                      </a:endParaRPr>
                    </a:p>
                  </a:txBody>
                  <a:tcPr marL="60960" marR="60960" marT="60960" marB="60960"/>
                </a:tc>
                <a:extLst>
                  <a:ext uri="{0D108BD9-81ED-4DB2-BD59-A6C34878D82A}">
                    <a16:rowId xmlns:a16="http://schemas.microsoft.com/office/drawing/2014/main" val="4154921578"/>
                  </a:ext>
                </a:extLst>
              </a:tr>
              <a:tr h="516118">
                <a:tc>
                  <a:txBody>
                    <a:bodyPr/>
                    <a:lstStyle/>
                    <a:p>
                      <a:pPr marL="0" marR="0" algn="ctr" fontAlgn="t">
                        <a:spcBef>
                          <a:spcPts val="1500"/>
                        </a:spcBef>
                        <a:spcAft>
                          <a:spcPts val="1500"/>
                        </a:spcAft>
                        <a:buNone/>
                      </a:pPr>
                      <a:r>
                        <a:rPr lang="en-IN" sz="1600">
                          <a:effectLst/>
                        </a:rPr>
                        <a:t>2</a:t>
                      </a:r>
                      <a:endParaRPr lang="en-IN" sz="1600" b="0" i="0">
                        <a:solidFill>
                          <a:srgbClr val="000000"/>
                        </a:solidFill>
                        <a:effectLst/>
                        <a:latin typeface="Segoe UI" panose="020B0502040204020203" pitchFamily="34" charset="0"/>
                      </a:endParaRPr>
                    </a:p>
                  </a:txBody>
                  <a:tcPr marL="121920" marR="60960" marT="60960" marB="60960"/>
                </a:tc>
                <a:tc>
                  <a:txBody>
                    <a:bodyPr/>
                    <a:lstStyle/>
                    <a:p>
                      <a:pPr marL="0" marR="0" algn="ctr" fontAlgn="t">
                        <a:spcBef>
                          <a:spcPts val="1500"/>
                        </a:spcBef>
                        <a:spcAft>
                          <a:spcPts val="1500"/>
                        </a:spcAft>
                        <a:buNone/>
                      </a:pPr>
                      <a:r>
                        <a:rPr lang="en-IN" sz="1600">
                          <a:effectLst/>
                        </a:rPr>
                        <a:t>Fuller</a:t>
                      </a:r>
                      <a:endParaRPr lang="en-IN" sz="1600" b="0" i="0">
                        <a:solidFill>
                          <a:srgbClr val="000000"/>
                        </a:solidFill>
                        <a:effectLst/>
                        <a:latin typeface="Segoe UI" panose="020B0502040204020203" pitchFamily="34" charset="0"/>
                      </a:endParaRPr>
                    </a:p>
                  </a:txBody>
                  <a:tcPr marL="60960" marR="60960" marT="60960" marB="60960"/>
                </a:tc>
                <a:tc>
                  <a:txBody>
                    <a:bodyPr/>
                    <a:lstStyle/>
                    <a:p>
                      <a:pPr marL="0" marR="0" algn="ctr" fontAlgn="t">
                        <a:spcBef>
                          <a:spcPts val="1500"/>
                        </a:spcBef>
                        <a:spcAft>
                          <a:spcPts val="1500"/>
                        </a:spcAft>
                        <a:buNone/>
                      </a:pPr>
                      <a:r>
                        <a:rPr lang="en-IN" sz="1600" dirty="0">
                          <a:effectLst/>
                        </a:rPr>
                        <a:t>Andrew</a:t>
                      </a:r>
                      <a:endParaRPr lang="en-IN" sz="1600" b="0" i="0" dirty="0">
                        <a:solidFill>
                          <a:srgbClr val="000000"/>
                        </a:solidFill>
                        <a:effectLst/>
                        <a:latin typeface="Segoe UI" panose="020B0502040204020203" pitchFamily="34" charset="0"/>
                      </a:endParaRPr>
                    </a:p>
                  </a:txBody>
                  <a:tcPr marL="60960" marR="60960" marT="60960" marB="60960"/>
                </a:tc>
                <a:tc>
                  <a:txBody>
                    <a:bodyPr/>
                    <a:lstStyle/>
                    <a:p>
                      <a:pPr marL="0" marR="0" algn="ctr" fontAlgn="t">
                        <a:spcBef>
                          <a:spcPts val="1500"/>
                        </a:spcBef>
                        <a:spcAft>
                          <a:spcPts val="1500"/>
                        </a:spcAft>
                        <a:buNone/>
                      </a:pPr>
                      <a:r>
                        <a:rPr lang="en-IN" sz="1600" dirty="0">
                          <a:effectLst/>
                        </a:rPr>
                        <a:t>1952-02-19</a:t>
                      </a:r>
                      <a:endParaRPr lang="en-IN" sz="1600" b="0" i="0" dirty="0">
                        <a:solidFill>
                          <a:srgbClr val="000000"/>
                        </a:solidFill>
                        <a:effectLst/>
                        <a:latin typeface="Segoe UI" panose="020B0502040204020203" pitchFamily="34" charset="0"/>
                      </a:endParaRPr>
                    </a:p>
                  </a:txBody>
                  <a:tcPr marL="60960" marR="60960" marT="60960" marB="60960"/>
                </a:tc>
                <a:tc>
                  <a:txBody>
                    <a:bodyPr/>
                    <a:lstStyle/>
                    <a:p>
                      <a:pPr marL="0" marR="0" algn="ctr" fontAlgn="t">
                        <a:spcBef>
                          <a:spcPts val="1500"/>
                        </a:spcBef>
                        <a:spcAft>
                          <a:spcPts val="1500"/>
                        </a:spcAft>
                        <a:buNone/>
                      </a:pPr>
                      <a:r>
                        <a:rPr lang="en-IN" sz="1600" dirty="0">
                          <a:effectLst/>
                        </a:rPr>
                        <a:t>EmpID2.pic</a:t>
                      </a:r>
                      <a:endParaRPr lang="en-IN" sz="1600" b="0" i="0" dirty="0">
                        <a:solidFill>
                          <a:srgbClr val="000000"/>
                        </a:solidFill>
                        <a:effectLst/>
                        <a:latin typeface="Segoe UI" panose="020B0502040204020203" pitchFamily="34" charset="0"/>
                      </a:endParaRPr>
                    </a:p>
                  </a:txBody>
                  <a:tcPr marL="60960" marR="60960" marT="60960" marB="60960"/>
                </a:tc>
                <a:extLst>
                  <a:ext uri="{0D108BD9-81ED-4DB2-BD59-A6C34878D82A}">
                    <a16:rowId xmlns:a16="http://schemas.microsoft.com/office/drawing/2014/main" val="1011268471"/>
                  </a:ext>
                </a:extLst>
              </a:tr>
              <a:tr h="516118">
                <a:tc>
                  <a:txBody>
                    <a:bodyPr/>
                    <a:lstStyle/>
                    <a:p>
                      <a:pPr marL="0" marR="0" algn="ctr" fontAlgn="t">
                        <a:spcBef>
                          <a:spcPts val="1500"/>
                        </a:spcBef>
                        <a:spcAft>
                          <a:spcPts val="1500"/>
                        </a:spcAft>
                        <a:buNone/>
                      </a:pPr>
                      <a:r>
                        <a:rPr lang="en-IN" sz="1600">
                          <a:effectLst/>
                        </a:rPr>
                        <a:t>3</a:t>
                      </a:r>
                      <a:endParaRPr lang="en-IN" sz="1600" b="0" i="0">
                        <a:solidFill>
                          <a:srgbClr val="000000"/>
                        </a:solidFill>
                        <a:effectLst/>
                        <a:latin typeface="Segoe UI" panose="020B0502040204020203" pitchFamily="34" charset="0"/>
                      </a:endParaRPr>
                    </a:p>
                  </a:txBody>
                  <a:tcPr marL="121920" marR="60960" marT="60960" marB="60960"/>
                </a:tc>
                <a:tc>
                  <a:txBody>
                    <a:bodyPr/>
                    <a:lstStyle/>
                    <a:p>
                      <a:pPr marL="0" marR="0" algn="ctr" fontAlgn="t">
                        <a:spcBef>
                          <a:spcPts val="1500"/>
                        </a:spcBef>
                        <a:spcAft>
                          <a:spcPts val="1500"/>
                        </a:spcAft>
                        <a:buNone/>
                      </a:pPr>
                      <a:r>
                        <a:rPr lang="en-IN" sz="1600">
                          <a:effectLst/>
                        </a:rPr>
                        <a:t>Leverling</a:t>
                      </a:r>
                      <a:endParaRPr lang="en-IN" sz="1600" b="0" i="0">
                        <a:solidFill>
                          <a:srgbClr val="000000"/>
                        </a:solidFill>
                        <a:effectLst/>
                        <a:latin typeface="Segoe UI" panose="020B0502040204020203" pitchFamily="34" charset="0"/>
                      </a:endParaRPr>
                    </a:p>
                  </a:txBody>
                  <a:tcPr marL="60960" marR="60960" marT="60960" marB="60960"/>
                </a:tc>
                <a:tc>
                  <a:txBody>
                    <a:bodyPr/>
                    <a:lstStyle/>
                    <a:p>
                      <a:pPr marL="0" marR="0" algn="ctr" fontAlgn="t">
                        <a:spcBef>
                          <a:spcPts val="1500"/>
                        </a:spcBef>
                        <a:spcAft>
                          <a:spcPts val="1500"/>
                        </a:spcAft>
                        <a:buNone/>
                      </a:pPr>
                      <a:r>
                        <a:rPr lang="en-IN" sz="1600">
                          <a:effectLst/>
                        </a:rPr>
                        <a:t>Janet</a:t>
                      </a:r>
                      <a:endParaRPr lang="en-IN" sz="1600" b="0" i="0">
                        <a:solidFill>
                          <a:srgbClr val="000000"/>
                        </a:solidFill>
                        <a:effectLst/>
                        <a:latin typeface="Segoe UI" panose="020B0502040204020203" pitchFamily="34" charset="0"/>
                      </a:endParaRPr>
                    </a:p>
                  </a:txBody>
                  <a:tcPr marL="60960" marR="60960" marT="60960" marB="60960"/>
                </a:tc>
                <a:tc>
                  <a:txBody>
                    <a:bodyPr/>
                    <a:lstStyle/>
                    <a:p>
                      <a:pPr marL="0" marR="0" algn="ctr" fontAlgn="t">
                        <a:spcBef>
                          <a:spcPts val="1500"/>
                        </a:spcBef>
                        <a:spcAft>
                          <a:spcPts val="1500"/>
                        </a:spcAft>
                        <a:buNone/>
                      </a:pPr>
                      <a:r>
                        <a:rPr lang="en-IN" sz="1600">
                          <a:effectLst/>
                        </a:rPr>
                        <a:t>1963-08-30</a:t>
                      </a:r>
                      <a:endParaRPr lang="en-IN" sz="1600" b="0" i="0">
                        <a:solidFill>
                          <a:srgbClr val="000000"/>
                        </a:solidFill>
                        <a:effectLst/>
                        <a:latin typeface="Segoe UI" panose="020B0502040204020203" pitchFamily="34" charset="0"/>
                      </a:endParaRPr>
                    </a:p>
                  </a:txBody>
                  <a:tcPr marL="60960" marR="60960" marT="60960" marB="60960"/>
                </a:tc>
                <a:tc>
                  <a:txBody>
                    <a:bodyPr/>
                    <a:lstStyle/>
                    <a:p>
                      <a:pPr marL="0" marR="0" algn="ctr" fontAlgn="t">
                        <a:spcBef>
                          <a:spcPts val="1500"/>
                        </a:spcBef>
                        <a:spcAft>
                          <a:spcPts val="1500"/>
                        </a:spcAft>
                        <a:buNone/>
                      </a:pPr>
                      <a:r>
                        <a:rPr lang="en-IN" sz="1600" dirty="0">
                          <a:effectLst/>
                        </a:rPr>
                        <a:t>EmpID3.pic</a:t>
                      </a:r>
                      <a:endParaRPr lang="en-IN" sz="1600" b="0" i="0" dirty="0">
                        <a:solidFill>
                          <a:srgbClr val="000000"/>
                        </a:solidFill>
                        <a:effectLst/>
                        <a:latin typeface="Segoe UI" panose="020B0502040204020203" pitchFamily="34" charset="0"/>
                      </a:endParaRPr>
                    </a:p>
                  </a:txBody>
                  <a:tcPr marL="60960" marR="60960" marT="60960" marB="60960"/>
                </a:tc>
                <a:extLst>
                  <a:ext uri="{0D108BD9-81ED-4DB2-BD59-A6C34878D82A}">
                    <a16:rowId xmlns:a16="http://schemas.microsoft.com/office/drawing/2014/main" val="1963341546"/>
                  </a:ext>
                </a:extLst>
              </a:tr>
            </a:tbl>
          </a:graphicData>
        </a:graphic>
      </p:graphicFrame>
    </p:spTree>
    <p:extLst>
      <p:ext uri="{BB962C8B-B14F-4D97-AF65-F5344CB8AC3E}">
        <p14:creationId xmlns:p14="http://schemas.microsoft.com/office/powerpoint/2010/main" val="26202573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E5E70-0AD9-C843-FA6F-611942C3F7A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5E4BFC2-9958-E317-A8B9-D4D22E00F901}"/>
              </a:ext>
            </a:extLst>
          </p:cNvPr>
          <p:cNvSpPr>
            <a:spLocks noGrp="1"/>
          </p:cNvSpPr>
          <p:nvPr>
            <p:ph idx="1"/>
          </p:nvPr>
        </p:nvSpPr>
        <p:spPr/>
        <p:txBody>
          <a:bodyPr/>
          <a:lstStyle/>
          <a:p>
            <a:r>
              <a:rPr lang="en-IN" dirty="0"/>
              <a:t>SELECT </a:t>
            </a:r>
            <a:r>
              <a:rPr lang="en-IN" dirty="0" err="1"/>
              <a:t>Orders.OrderID</a:t>
            </a:r>
            <a:r>
              <a:rPr lang="en-IN" dirty="0"/>
              <a:t>, </a:t>
            </a:r>
            <a:r>
              <a:rPr lang="en-IN" dirty="0" err="1"/>
              <a:t>Employees.LastName</a:t>
            </a:r>
            <a:r>
              <a:rPr lang="en-IN" dirty="0"/>
              <a:t>, </a:t>
            </a:r>
            <a:r>
              <a:rPr lang="en-IN" dirty="0" err="1"/>
              <a:t>Employees.FirstName</a:t>
            </a:r>
            <a:br>
              <a:rPr lang="en-IN" dirty="0"/>
            </a:br>
            <a:r>
              <a:rPr lang="en-IN" dirty="0"/>
              <a:t>FROM Orders</a:t>
            </a:r>
            <a:br>
              <a:rPr lang="en-IN" dirty="0"/>
            </a:br>
            <a:r>
              <a:rPr lang="en-IN" dirty="0"/>
              <a:t>RIGHT JOIN Employees ON </a:t>
            </a:r>
            <a:r>
              <a:rPr lang="en-IN" dirty="0" err="1"/>
              <a:t>Orders.EmployeeID</a:t>
            </a:r>
            <a:r>
              <a:rPr lang="en-IN" dirty="0"/>
              <a:t> = </a:t>
            </a:r>
            <a:r>
              <a:rPr lang="en-IN" dirty="0" err="1"/>
              <a:t>Employees.EmployeeID</a:t>
            </a:r>
            <a:br>
              <a:rPr lang="en-IN" dirty="0"/>
            </a:br>
            <a:r>
              <a:rPr lang="en-IN" dirty="0"/>
              <a:t>ORDER BY </a:t>
            </a:r>
            <a:r>
              <a:rPr lang="en-IN" dirty="0" err="1"/>
              <a:t>Orders.OrderID</a:t>
            </a:r>
            <a:r>
              <a:rPr lang="en-IN" dirty="0"/>
              <a:t>;</a:t>
            </a:r>
          </a:p>
        </p:txBody>
      </p:sp>
      <p:graphicFrame>
        <p:nvGraphicFramePr>
          <p:cNvPr id="4" name="Table 3">
            <a:extLst>
              <a:ext uri="{FF2B5EF4-FFF2-40B4-BE49-F238E27FC236}">
                <a16:creationId xmlns:a16="http://schemas.microsoft.com/office/drawing/2014/main" id="{D2FA2635-84A8-8313-36D0-F38F9DB5982D}"/>
              </a:ext>
            </a:extLst>
          </p:cNvPr>
          <p:cNvGraphicFramePr>
            <a:graphicFrameLocks noGrp="1"/>
          </p:cNvGraphicFramePr>
          <p:nvPr>
            <p:extLst>
              <p:ext uri="{D42A27DB-BD31-4B8C-83A1-F6EECF244321}">
                <p14:modId xmlns:p14="http://schemas.microsoft.com/office/powerpoint/2010/main" val="2745497395"/>
              </p:ext>
            </p:extLst>
          </p:nvPr>
        </p:nvGraphicFramePr>
        <p:xfrm>
          <a:off x="1951350" y="3987538"/>
          <a:ext cx="7918515" cy="2189424"/>
        </p:xfrm>
        <a:graphic>
          <a:graphicData uri="http://schemas.openxmlformats.org/drawingml/2006/table">
            <a:tbl>
              <a:tblPr>
                <a:tableStyleId>{5C22544A-7EE6-4342-B048-85BDC9FD1C3A}</a:tableStyleId>
              </a:tblPr>
              <a:tblGrid>
                <a:gridCol w="2639505">
                  <a:extLst>
                    <a:ext uri="{9D8B030D-6E8A-4147-A177-3AD203B41FA5}">
                      <a16:colId xmlns:a16="http://schemas.microsoft.com/office/drawing/2014/main" val="2919060360"/>
                    </a:ext>
                  </a:extLst>
                </a:gridCol>
                <a:gridCol w="2639505">
                  <a:extLst>
                    <a:ext uri="{9D8B030D-6E8A-4147-A177-3AD203B41FA5}">
                      <a16:colId xmlns:a16="http://schemas.microsoft.com/office/drawing/2014/main" val="448872958"/>
                    </a:ext>
                  </a:extLst>
                </a:gridCol>
                <a:gridCol w="2639505">
                  <a:extLst>
                    <a:ext uri="{9D8B030D-6E8A-4147-A177-3AD203B41FA5}">
                      <a16:colId xmlns:a16="http://schemas.microsoft.com/office/drawing/2014/main" val="123166915"/>
                    </a:ext>
                  </a:extLst>
                </a:gridCol>
              </a:tblGrid>
              <a:tr h="547356">
                <a:tc>
                  <a:txBody>
                    <a:bodyPr/>
                    <a:lstStyle/>
                    <a:p>
                      <a:pPr algn="ctr">
                        <a:buNone/>
                      </a:pPr>
                      <a:r>
                        <a:rPr lang="en-IN" b="1" dirty="0"/>
                        <a:t>Order ID</a:t>
                      </a:r>
                    </a:p>
                  </a:txBody>
                  <a:tcPr anchor="ctr"/>
                </a:tc>
                <a:tc>
                  <a:txBody>
                    <a:bodyPr/>
                    <a:lstStyle/>
                    <a:p>
                      <a:pPr algn="ctr">
                        <a:buNone/>
                      </a:pPr>
                      <a:r>
                        <a:rPr lang="en-IN" b="1" dirty="0"/>
                        <a:t>Last Name</a:t>
                      </a:r>
                    </a:p>
                  </a:txBody>
                  <a:tcPr anchor="ctr"/>
                </a:tc>
                <a:tc>
                  <a:txBody>
                    <a:bodyPr/>
                    <a:lstStyle/>
                    <a:p>
                      <a:pPr algn="ctr">
                        <a:buNone/>
                      </a:pPr>
                      <a:r>
                        <a:rPr lang="en-IN" b="1" dirty="0"/>
                        <a:t>First Name</a:t>
                      </a:r>
                    </a:p>
                  </a:txBody>
                  <a:tcPr anchor="ctr"/>
                </a:tc>
                <a:extLst>
                  <a:ext uri="{0D108BD9-81ED-4DB2-BD59-A6C34878D82A}">
                    <a16:rowId xmlns:a16="http://schemas.microsoft.com/office/drawing/2014/main" val="1119595542"/>
                  </a:ext>
                </a:extLst>
              </a:tr>
              <a:tr h="547356">
                <a:tc>
                  <a:txBody>
                    <a:bodyPr/>
                    <a:lstStyle/>
                    <a:p>
                      <a:pPr algn="ctr">
                        <a:buNone/>
                      </a:pPr>
                      <a:r>
                        <a:rPr lang="en-IN" dirty="0"/>
                        <a:t>NULL</a:t>
                      </a:r>
                    </a:p>
                  </a:txBody>
                  <a:tcPr anchor="ctr"/>
                </a:tc>
                <a:tc>
                  <a:txBody>
                    <a:bodyPr/>
                    <a:lstStyle/>
                    <a:p>
                      <a:pPr algn="ctr">
                        <a:buNone/>
                      </a:pPr>
                      <a:r>
                        <a:rPr lang="en-IN" dirty="0"/>
                        <a:t>Davolio</a:t>
                      </a:r>
                    </a:p>
                  </a:txBody>
                  <a:tcPr anchor="ctr"/>
                </a:tc>
                <a:tc>
                  <a:txBody>
                    <a:bodyPr/>
                    <a:lstStyle/>
                    <a:p>
                      <a:pPr algn="ctr">
                        <a:buNone/>
                      </a:pPr>
                      <a:r>
                        <a:rPr lang="en-IN"/>
                        <a:t>Nancy</a:t>
                      </a:r>
                    </a:p>
                  </a:txBody>
                  <a:tcPr anchor="ctr"/>
                </a:tc>
                <a:extLst>
                  <a:ext uri="{0D108BD9-81ED-4DB2-BD59-A6C34878D82A}">
                    <a16:rowId xmlns:a16="http://schemas.microsoft.com/office/drawing/2014/main" val="4039704159"/>
                  </a:ext>
                </a:extLst>
              </a:tr>
              <a:tr h="547356">
                <a:tc>
                  <a:txBody>
                    <a:bodyPr/>
                    <a:lstStyle/>
                    <a:p>
                      <a:pPr algn="ctr">
                        <a:buNone/>
                      </a:pPr>
                      <a:r>
                        <a:rPr lang="en-IN"/>
                        <a:t>NULL</a:t>
                      </a:r>
                    </a:p>
                  </a:txBody>
                  <a:tcPr anchor="ctr"/>
                </a:tc>
                <a:tc>
                  <a:txBody>
                    <a:bodyPr/>
                    <a:lstStyle/>
                    <a:p>
                      <a:pPr algn="ctr">
                        <a:buNone/>
                      </a:pPr>
                      <a:r>
                        <a:rPr lang="en-IN" dirty="0"/>
                        <a:t>Fuller</a:t>
                      </a:r>
                    </a:p>
                  </a:txBody>
                  <a:tcPr anchor="ctr"/>
                </a:tc>
                <a:tc>
                  <a:txBody>
                    <a:bodyPr/>
                    <a:lstStyle/>
                    <a:p>
                      <a:pPr algn="ctr">
                        <a:buNone/>
                      </a:pPr>
                      <a:r>
                        <a:rPr lang="en-IN" dirty="0"/>
                        <a:t>Andrew</a:t>
                      </a:r>
                    </a:p>
                  </a:txBody>
                  <a:tcPr anchor="ctr"/>
                </a:tc>
                <a:extLst>
                  <a:ext uri="{0D108BD9-81ED-4DB2-BD59-A6C34878D82A}">
                    <a16:rowId xmlns:a16="http://schemas.microsoft.com/office/drawing/2014/main" val="3889410117"/>
                  </a:ext>
                </a:extLst>
              </a:tr>
              <a:tr h="547356">
                <a:tc>
                  <a:txBody>
                    <a:bodyPr/>
                    <a:lstStyle/>
                    <a:p>
                      <a:pPr algn="ctr">
                        <a:buNone/>
                      </a:pPr>
                      <a:r>
                        <a:rPr lang="en-IN"/>
                        <a:t>10309</a:t>
                      </a:r>
                    </a:p>
                  </a:txBody>
                  <a:tcPr anchor="ctr"/>
                </a:tc>
                <a:tc>
                  <a:txBody>
                    <a:bodyPr/>
                    <a:lstStyle/>
                    <a:p>
                      <a:pPr algn="ctr">
                        <a:buNone/>
                      </a:pPr>
                      <a:r>
                        <a:rPr lang="en-IN" dirty="0" err="1"/>
                        <a:t>Leverling</a:t>
                      </a:r>
                      <a:endParaRPr lang="en-IN" dirty="0"/>
                    </a:p>
                  </a:txBody>
                  <a:tcPr anchor="ctr"/>
                </a:tc>
                <a:tc>
                  <a:txBody>
                    <a:bodyPr/>
                    <a:lstStyle/>
                    <a:p>
                      <a:pPr algn="ctr">
                        <a:buNone/>
                      </a:pPr>
                      <a:r>
                        <a:rPr lang="en-IN" dirty="0"/>
                        <a:t>Janet</a:t>
                      </a:r>
                    </a:p>
                  </a:txBody>
                  <a:tcPr anchor="ctr"/>
                </a:tc>
                <a:extLst>
                  <a:ext uri="{0D108BD9-81ED-4DB2-BD59-A6C34878D82A}">
                    <a16:rowId xmlns:a16="http://schemas.microsoft.com/office/drawing/2014/main" val="1540548577"/>
                  </a:ext>
                </a:extLst>
              </a:tr>
            </a:tbl>
          </a:graphicData>
        </a:graphic>
      </p:graphicFrame>
    </p:spTree>
    <p:extLst>
      <p:ext uri="{BB962C8B-B14F-4D97-AF65-F5344CB8AC3E}">
        <p14:creationId xmlns:p14="http://schemas.microsoft.com/office/powerpoint/2010/main" val="471443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B26C7-3D99-9A87-FF29-DF9443F7A405}"/>
              </a:ext>
            </a:extLst>
          </p:cNvPr>
          <p:cNvSpPr>
            <a:spLocks noGrp="1"/>
          </p:cNvSpPr>
          <p:nvPr>
            <p:ph type="title"/>
          </p:nvPr>
        </p:nvSpPr>
        <p:spPr/>
        <p:txBody>
          <a:bodyPr/>
          <a:lstStyle/>
          <a:p>
            <a:r>
              <a:rPr lang="en-IN" b="1" dirty="0"/>
              <a:t>FULL JOIN</a:t>
            </a:r>
          </a:p>
        </p:txBody>
      </p:sp>
      <p:sp>
        <p:nvSpPr>
          <p:cNvPr id="3" name="Content Placeholder 2">
            <a:extLst>
              <a:ext uri="{FF2B5EF4-FFF2-40B4-BE49-F238E27FC236}">
                <a16:creationId xmlns:a16="http://schemas.microsoft.com/office/drawing/2014/main" id="{88E62503-EDDE-8844-0095-74F476241182}"/>
              </a:ext>
            </a:extLst>
          </p:cNvPr>
          <p:cNvSpPr>
            <a:spLocks noGrp="1"/>
          </p:cNvSpPr>
          <p:nvPr>
            <p:ph idx="1"/>
          </p:nvPr>
        </p:nvSpPr>
        <p:spPr/>
        <p:txBody>
          <a:bodyPr/>
          <a:lstStyle/>
          <a:p>
            <a:r>
              <a:rPr lang="en-IN" dirty="0"/>
              <a:t>The FULL JOIN returns </a:t>
            </a:r>
            <a:r>
              <a:rPr lang="en-IN" b="1" dirty="0"/>
              <a:t>all rows</a:t>
            </a:r>
            <a:r>
              <a:rPr lang="en-IN" dirty="0"/>
              <a:t> when there is a match in either the left or right table.</a:t>
            </a:r>
          </a:p>
          <a:p>
            <a:r>
              <a:rPr lang="en-IN" dirty="0"/>
              <a:t>If a row in the left table has no match in the right table, the result set includes the left row's data and NULL values for all columns of the right table.</a:t>
            </a:r>
          </a:p>
          <a:p>
            <a:r>
              <a:rPr lang="en-IN" dirty="0"/>
              <a:t>The FULL JOIN and FULL OUTER JOIN keywords are equal - the OUTER keyword is optional.</a:t>
            </a:r>
          </a:p>
          <a:p>
            <a:br>
              <a:rPr lang="en-IN" dirty="0"/>
            </a:br>
            <a:endParaRPr lang="en-IN" dirty="0"/>
          </a:p>
        </p:txBody>
      </p:sp>
      <p:pic>
        <p:nvPicPr>
          <p:cNvPr id="5" name="Picture 4">
            <a:extLst>
              <a:ext uri="{FF2B5EF4-FFF2-40B4-BE49-F238E27FC236}">
                <a16:creationId xmlns:a16="http://schemas.microsoft.com/office/drawing/2014/main" id="{D593A7BD-E7F2-95B0-DFC3-84C5BC0E34E9}"/>
              </a:ext>
            </a:extLst>
          </p:cNvPr>
          <p:cNvPicPr>
            <a:picLocks noChangeAspect="1"/>
          </p:cNvPicPr>
          <p:nvPr/>
        </p:nvPicPr>
        <p:blipFill>
          <a:blip r:embed="rId2"/>
          <a:stretch>
            <a:fillRect/>
          </a:stretch>
        </p:blipFill>
        <p:spPr>
          <a:xfrm>
            <a:off x="5118820" y="4523280"/>
            <a:ext cx="3010161" cy="1653683"/>
          </a:xfrm>
          <a:prstGeom prst="rect">
            <a:avLst/>
          </a:prstGeom>
        </p:spPr>
      </p:pic>
    </p:spTree>
    <p:extLst>
      <p:ext uri="{BB962C8B-B14F-4D97-AF65-F5344CB8AC3E}">
        <p14:creationId xmlns:p14="http://schemas.microsoft.com/office/powerpoint/2010/main" val="887844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D1430-E908-0AEC-B821-44D39A719D9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8C93CBA-2702-8FA1-CF62-4ADD03CA423F}"/>
              </a:ext>
            </a:extLst>
          </p:cNvPr>
          <p:cNvSpPr>
            <a:spLocks noGrp="1"/>
          </p:cNvSpPr>
          <p:nvPr>
            <p:ph idx="1"/>
          </p:nvPr>
        </p:nvSpPr>
        <p:spPr/>
        <p:txBody>
          <a:bodyPr/>
          <a:lstStyle/>
          <a:p>
            <a:r>
              <a:rPr lang="en-IN" dirty="0"/>
              <a:t>SELECT </a:t>
            </a:r>
            <a:r>
              <a:rPr lang="en-IN" i="1" dirty="0" err="1"/>
              <a:t>column_name</a:t>
            </a:r>
            <a:r>
              <a:rPr lang="en-IN" i="1" dirty="0"/>
              <a:t>(s)</a:t>
            </a:r>
            <a:br>
              <a:rPr lang="en-IN" dirty="0"/>
            </a:br>
            <a:r>
              <a:rPr lang="en-IN" dirty="0"/>
              <a:t>FROM </a:t>
            </a:r>
            <a:r>
              <a:rPr lang="en-IN" i="1" dirty="0"/>
              <a:t>table1</a:t>
            </a:r>
            <a:br>
              <a:rPr lang="en-IN" dirty="0"/>
            </a:br>
            <a:r>
              <a:rPr lang="en-IN" dirty="0"/>
              <a:t>FULL JOIN </a:t>
            </a:r>
            <a:r>
              <a:rPr lang="en-IN" i="1" dirty="0"/>
              <a:t>table2</a:t>
            </a:r>
            <a:br>
              <a:rPr lang="en-IN" dirty="0"/>
            </a:br>
            <a:r>
              <a:rPr lang="en-IN" dirty="0"/>
              <a:t>ON </a:t>
            </a:r>
            <a:r>
              <a:rPr lang="en-IN" i="1" dirty="0"/>
              <a:t>table1.column_name</a:t>
            </a:r>
            <a:r>
              <a:rPr lang="en-IN" dirty="0"/>
              <a:t> = </a:t>
            </a:r>
            <a:r>
              <a:rPr lang="en-IN" i="1" dirty="0"/>
              <a:t>table2.column_name</a:t>
            </a:r>
            <a:br>
              <a:rPr lang="en-IN" dirty="0"/>
            </a:br>
            <a:r>
              <a:rPr lang="en-IN" dirty="0"/>
              <a:t>WHERE </a:t>
            </a:r>
            <a:r>
              <a:rPr lang="en-IN" i="1" dirty="0"/>
              <a:t>condition</a:t>
            </a:r>
            <a:r>
              <a:rPr lang="en-IN" dirty="0"/>
              <a:t>;</a:t>
            </a:r>
          </a:p>
        </p:txBody>
      </p:sp>
    </p:spTree>
    <p:extLst>
      <p:ext uri="{BB962C8B-B14F-4D97-AF65-F5344CB8AC3E}">
        <p14:creationId xmlns:p14="http://schemas.microsoft.com/office/powerpoint/2010/main" val="17672699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D8D89-B06B-5574-F193-61B2F5758CFF}"/>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2456AA8B-019A-0056-4E75-1ECB7238BC83}"/>
              </a:ext>
            </a:extLst>
          </p:cNvPr>
          <p:cNvGraphicFramePr>
            <a:graphicFrameLocks noGrp="1"/>
          </p:cNvGraphicFramePr>
          <p:nvPr>
            <p:ph idx="1"/>
            <p:extLst>
              <p:ext uri="{D42A27DB-BD31-4B8C-83A1-F6EECF244321}">
                <p14:modId xmlns:p14="http://schemas.microsoft.com/office/powerpoint/2010/main" val="2542107495"/>
              </p:ext>
            </p:extLst>
          </p:nvPr>
        </p:nvGraphicFramePr>
        <p:xfrm>
          <a:off x="838200" y="441008"/>
          <a:ext cx="7651926" cy="2499360"/>
        </p:xfrm>
        <a:graphic>
          <a:graphicData uri="http://schemas.openxmlformats.org/drawingml/2006/table">
            <a:tbl>
              <a:tblPr>
                <a:tableStyleId>{5C22544A-7EE6-4342-B048-85BDC9FD1C3A}</a:tableStyleId>
              </a:tblPr>
              <a:tblGrid>
                <a:gridCol w="1146810">
                  <a:extLst>
                    <a:ext uri="{9D8B030D-6E8A-4147-A177-3AD203B41FA5}">
                      <a16:colId xmlns:a16="http://schemas.microsoft.com/office/drawing/2014/main" val="541734016"/>
                    </a:ext>
                  </a:extLst>
                </a:gridCol>
                <a:gridCol w="1084186">
                  <a:extLst>
                    <a:ext uri="{9D8B030D-6E8A-4147-A177-3AD203B41FA5}">
                      <a16:colId xmlns:a16="http://schemas.microsoft.com/office/drawing/2014/main" val="3883927118"/>
                    </a:ext>
                  </a:extLst>
                </a:gridCol>
                <a:gridCol w="1084186">
                  <a:extLst>
                    <a:ext uri="{9D8B030D-6E8A-4147-A177-3AD203B41FA5}">
                      <a16:colId xmlns:a16="http://schemas.microsoft.com/office/drawing/2014/main" val="1575043542"/>
                    </a:ext>
                  </a:extLst>
                </a:gridCol>
                <a:gridCol w="1084186">
                  <a:extLst>
                    <a:ext uri="{9D8B030D-6E8A-4147-A177-3AD203B41FA5}">
                      <a16:colId xmlns:a16="http://schemas.microsoft.com/office/drawing/2014/main" val="1037140938"/>
                    </a:ext>
                  </a:extLst>
                </a:gridCol>
                <a:gridCol w="1084186">
                  <a:extLst>
                    <a:ext uri="{9D8B030D-6E8A-4147-A177-3AD203B41FA5}">
                      <a16:colId xmlns:a16="http://schemas.microsoft.com/office/drawing/2014/main" val="3019474211"/>
                    </a:ext>
                  </a:extLst>
                </a:gridCol>
                <a:gridCol w="1084186">
                  <a:extLst>
                    <a:ext uri="{9D8B030D-6E8A-4147-A177-3AD203B41FA5}">
                      <a16:colId xmlns:a16="http://schemas.microsoft.com/office/drawing/2014/main" val="1696586199"/>
                    </a:ext>
                  </a:extLst>
                </a:gridCol>
                <a:gridCol w="1084186">
                  <a:extLst>
                    <a:ext uri="{9D8B030D-6E8A-4147-A177-3AD203B41FA5}">
                      <a16:colId xmlns:a16="http://schemas.microsoft.com/office/drawing/2014/main" val="2977436752"/>
                    </a:ext>
                  </a:extLst>
                </a:gridCol>
              </a:tblGrid>
              <a:tr h="0">
                <a:tc>
                  <a:txBody>
                    <a:bodyPr/>
                    <a:lstStyle/>
                    <a:p>
                      <a:pPr marL="0" marR="0" algn="l" fontAlgn="t">
                        <a:spcBef>
                          <a:spcPts val="1500"/>
                        </a:spcBef>
                        <a:spcAft>
                          <a:spcPts val="1500"/>
                        </a:spcAft>
                        <a:buNone/>
                      </a:pPr>
                      <a:r>
                        <a:rPr lang="en-IN" sz="1200">
                          <a:effectLst/>
                        </a:rPr>
                        <a:t>CustomerID</a:t>
                      </a:r>
                      <a:endParaRPr lang="en-IN" sz="1200" b="0" i="0">
                        <a:solidFill>
                          <a:srgbClr val="000000"/>
                        </a:solidFill>
                        <a:effectLst/>
                        <a:latin typeface="Segoe UI" panose="020B0502040204020203" pitchFamily="34" charset="0"/>
                      </a:endParaRPr>
                    </a:p>
                  </a:txBody>
                  <a:tcPr marL="121920" marR="60960" marT="60960" marB="60960"/>
                </a:tc>
                <a:tc>
                  <a:txBody>
                    <a:bodyPr/>
                    <a:lstStyle/>
                    <a:p>
                      <a:pPr marL="0" marR="0" algn="l" fontAlgn="t">
                        <a:spcBef>
                          <a:spcPts val="1500"/>
                        </a:spcBef>
                        <a:spcAft>
                          <a:spcPts val="1500"/>
                        </a:spcAft>
                        <a:buNone/>
                      </a:pPr>
                      <a:r>
                        <a:rPr lang="en-IN" sz="1200">
                          <a:effectLst/>
                        </a:rPr>
                        <a:t>CustomerName</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ContactName</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Address</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dirty="0">
                          <a:effectLst/>
                        </a:rPr>
                        <a:t>City</a:t>
                      </a:r>
                      <a:endParaRPr lang="en-IN" sz="1200" b="0" i="0" dirty="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PostalCode</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Country</a:t>
                      </a:r>
                      <a:endParaRPr lang="en-IN" sz="1200" b="0" i="0">
                        <a:solidFill>
                          <a:srgbClr val="000000"/>
                        </a:solidFill>
                        <a:effectLst/>
                        <a:latin typeface="Segoe UI" panose="020B0502040204020203" pitchFamily="34" charset="0"/>
                      </a:endParaRPr>
                    </a:p>
                  </a:txBody>
                  <a:tcPr marL="60960" marR="60960" marT="60960" marB="60960"/>
                </a:tc>
                <a:extLst>
                  <a:ext uri="{0D108BD9-81ED-4DB2-BD59-A6C34878D82A}">
                    <a16:rowId xmlns:a16="http://schemas.microsoft.com/office/drawing/2014/main" val="4197706168"/>
                  </a:ext>
                </a:extLst>
              </a:tr>
              <a:tr h="0">
                <a:tc>
                  <a:txBody>
                    <a:bodyPr/>
                    <a:lstStyle/>
                    <a:p>
                      <a:pPr marL="0" marR="0" algn="l" fontAlgn="t">
                        <a:spcBef>
                          <a:spcPts val="1500"/>
                        </a:spcBef>
                        <a:spcAft>
                          <a:spcPts val="1500"/>
                        </a:spcAft>
                        <a:buNone/>
                      </a:pPr>
                      <a:r>
                        <a:rPr lang="en-IN" sz="1200">
                          <a:effectLst/>
                        </a:rPr>
                        <a:t>1</a:t>
                      </a:r>
                      <a:br>
                        <a:rPr lang="en-IN" sz="1200">
                          <a:effectLst/>
                        </a:rPr>
                      </a:br>
                      <a:br>
                        <a:rPr lang="en-IN" sz="1200">
                          <a:effectLst/>
                        </a:rPr>
                      </a:br>
                      <a:endParaRPr lang="en-IN" sz="1200" b="0" i="0">
                        <a:solidFill>
                          <a:srgbClr val="000000"/>
                        </a:solidFill>
                        <a:effectLst/>
                        <a:latin typeface="Segoe UI" panose="020B0502040204020203" pitchFamily="34" charset="0"/>
                      </a:endParaRPr>
                    </a:p>
                  </a:txBody>
                  <a:tcPr marL="121920" marR="60960" marT="60960" marB="60960"/>
                </a:tc>
                <a:tc>
                  <a:txBody>
                    <a:bodyPr/>
                    <a:lstStyle/>
                    <a:p>
                      <a:pPr marL="0" marR="0" algn="l" fontAlgn="t">
                        <a:spcBef>
                          <a:spcPts val="1500"/>
                        </a:spcBef>
                        <a:spcAft>
                          <a:spcPts val="1500"/>
                        </a:spcAft>
                        <a:buNone/>
                      </a:pPr>
                      <a:r>
                        <a:rPr lang="en-IN" sz="1200">
                          <a:effectLst/>
                        </a:rPr>
                        <a:t>Alfreds Futterkiste</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Maria Anders</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Obere Str. 57</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Berlin</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12209</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Germany</a:t>
                      </a:r>
                      <a:endParaRPr lang="en-IN" sz="1200" b="0" i="0">
                        <a:solidFill>
                          <a:srgbClr val="000000"/>
                        </a:solidFill>
                        <a:effectLst/>
                        <a:latin typeface="Segoe UI" panose="020B0502040204020203" pitchFamily="34" charset="0"/>
                      </a:endParaRPr>
                    </a:p>
                  </a:txBody>
                  <a:tcPr marL="60960" marR="60960" marT="60960" marB="60960"/>
                </a:tc>
                <a:extLst>
                  <a:ext uri="{0D108BD9-81ED-4DB2-BD59-A6C34878D82A}">
                    <a16:rowId xmlns:a16="http://schemas.microsoft.com/office/drawing/2014/main" val="494629243"/>
                  </a:ext>
                </a:extLst>
              </a:tr>
              <a:tr h="0">
                <a:tc>
                  <a:txBody>
                    <a:bodyPr/>
                    <a:lstStyle/>
                    <a:p>
                      <a:pPr marL="0" marR="0" algn="l" fontAlgn="t">
                        <a:spcBef>
                          <a:spcPts val="1500"/>
                        </a:spcBef>
                        <a:spcAft>
                          <a:spcPts val="1500"/>
                        </a:spcAft>
                        <a:buNone/>
                      </a:pPr>
                      <a:r>
                        <a:rPr lang="en-IN" sz="1200">
                          <a:effectLst/>
                        </a:rPr>
                        <a:t>2</a:t>
                      </a:r>
                      <a:endParaRPr lang="en-IN" sz="1200" b="0" i="0">
                        <a:solidFill>
                          <a:srgbClr val="000000"/>
                        </a:solidFill>
                        <a:effectLst/>
                        <a:latin typeface="Segoe UI" panose="020B0502040204020203" pitchFamily="34" charset="0"/>
                      </a:endParaRPr>
                    </a:p>
                  </a:txBody>
                  <a:tcPr marL="121920" marR="60960" marT="60960" marB="60960"/>
                </a:tc>
                <a:tc>
                  <a:txBody>
                    <a:bodyPr/>
                    <a:lstStyle/>
                    <a:p>
                      <a:pPr marL="0" marR="0" algn="l" fontAlgn="t">
                        <a:spcBef>
                          <a:spcPts val="1500"/>
                        </a:spcBef>
                        <a:spcAft>
                          <a:spcPts val="1500"/>
                        </a:spcAft>
                        <a:buNone/>
                      </a:pPr>
                      <a:r>
                        <a:rPr lang="en-IN" sz="1200">
                          <a:effectLst/>
                        </a:rPr>
                        <a:t>Ana Trujillo Emparedados y helados</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Ana Trujillo</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Avda. de la Constitución 2222</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México D.F.</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05021</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Mexico</a:t>
                      </a:r>
                      <a:endParaRPr lang="en-IN" sz="1200" b="0" i="0">
                        <a:solidFill>
                          <a:srgbClr val="000000"/>
                        </a:solidFill>
                        <a:effectLst/>
                        <a:latin typeface="Segoe UI" panose="020B0502040204020203" pitchFamily="34" charset="0"/>
                      </a:endParaRPr>
                    </a:p>
                  </a:txBody>
                  <a:tcPr marL="60960" marR="60960" marT="60960" marB="60960"/>
                </a:tc>
                <a:extLst>
                  <a:ext uri="{0D108BD9-81ED-4DB2-BD59-A6C34878D82A}">
                    <a16:rowId xmlns:a16="http://schemas.microsoft.com/office/drawing/2014/main" val="4182559044"/>
                  </a:ext>
                </a:extLst>
              </a:tr>
              <a:tr h="0">
                <a:tc>
                  <a:txBody>
                    <a:bodyPr/>
                    <a:lstStyle/>
                    <a:p>
                      <a:pPr marL="0" marR="0" algn="l" fontAlgn="t">
                        <a:spcBef>
                          <a:spcPts val="1500"/>
                        </a:spcBef>
                        <a:spcAft>
                          <a:spcPts val="1500"/>
                        </a:spcAft>
                        <a:buNone/>
                      </a:pPr>
                      <a:r>
                        <a:rPr lang="en-IN" sz="1200">
                          <a:effectLst/>
                        </a:rPr>
                        <a:t>3</a:t>
                      </a:r>
                      <a:endParaRPr lang="en-IN" sz="1200" b="0" i="0">
                        <a:solidFill>
                          <a:srgbClr val="000000"/>
                        </a:solidFill>
                        <a:effectLst/>
                        <a:latin typeface="Segoe UI" panose="020B0502040204020203" pitchFamily="34" charset="0"/>
                      </a:endParaRPr>
                    </a:p>
                  </a:txBody>
                  <a:tcPr marL="121920" marR="60960" marT="60960" marB="60960"/>
                </a:tc>
                <a:tc>
                  <a:txBody>
                    <a:bodyPr/>
                    <a:lstStyle/>
                    <a:p>
                      <a:pPr marL="0" marR="0" algn="l" fontAlgn="t">
                        <a:spcBef>
                          <a:spcPts val="1500"/>
                        </a:spcBef>
                        <a:spcAft>
                          <a:spcPts val="1500"/>
                        </a:spcAft>
                        <a:buNone/>
                      </a:pPr>
                      <a:r>
                        <a:rPr lang="en-IN" sz="1200">
                          <a:effectLst/>
                        </a:rPr>
                        <a:t>Antonio Moreno Taquería</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Antonio Moreno</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Mataderos 2312</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México D.F.</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05023</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dirty="0">
                          <a:effectLst/>
                        </a:rPr>
                        <a:t>Mexico</a:t>
                      </a:r>
                      <a:endParaRPr lang="en-IN" sz="1200" b="0" i="0" dirty="0">
                        <a:solidFill>
                          <a:srgbClr val="000000"/>
                        </a:solidFill>
                        <a:effectLst/>
                        <a:latin typeface="Segoe UI" panose="020B0502040204020203" pitchFamily="34" charset="0"/>
                      </a:endParaRPr>
                    </a:p>
                  </a:txBody>
                  <a:tcPr marL="60960" marR="60960" marT="60960" marB="60960"/>
                </a:tc>
                <a:extLst>
                  <a:ext uri="{0D108BD9-81ED-4DB2-BD59-A6C34878D82A}">
                    <a16:rowId xmlns:a16="http://schemas.microsoft.com/office/drawing/2014/main" val="1199896117"/>
                  </a:ext>
                </a:extLst>
              </a:tr>
            </a:tbl>
          </a:graphicData>
        </a:graphic>
      </p:graphicFrame>
      <p:graphicFrame>
        <p:nvGraphicFramePr>
          <p:cNvPr id="5" name="Table 4">
            <a:extLst>
              <a:ext uri="{FF2B5EF4-FFF2-40B4-BE49-F238E27FC236}">
                <a16:creationId xmlns:a16="http://schemas.microsoft.com/office/drawing/2014/main" id="{FBCCA55A-33A0-C6CB-0A60-F5FE02B5AAD7}"/>
              </a:ext>
            </a:extLst>
          </p:cNvPr>
          <p:cNvGraphicFramePr>
            <a:graphicFrameLocks noGrp="1"/>
          </p:cNvGraphicFramePr>
          <p:nvPr>
            <p:extLst>
              <p:ext uri="{D42A27DB-BD31-4B8C-83A1-F6EECF244321}">
                <p14:modId xmlns:p14="http://schemas.microsoft.com/office/powerpoint/2010/main" val="3296494691"/>
              </p:ext>
            </p:extLst>
          </p:nvPr>
        </p:nvGraphicFramePr>
        <p:xfrm>
          <a:off x="838200" y="4749154"/>
          <a:ext cx="7651926" cy="1219200"/>
        </p:xfrm>
        <a:graphic>
          <a:graphicData uri="http://schemas.openxmlformats.org/drawingml/2006/table">
            <a:tbl>
              <a:tblPr>
                <a:tableStyleId>{5C22544A-7EE6-4342-B048-85BDC9FD1C3A}</a:tableStyleId>
              </a:tblPr>
              <a:tblGrid>
                <a:gridCol w="1146810">
                  <a:extLst>
                    <a:ext uri="{9D8B030D-6E8A-4147-A177-3AD203B41FA5}">
                      <a16:colId xmlns:a16="http://schemas.microsoft.com/office/drawing/2014/main" val="3989947414"/>
                    </a:ext>
                  </a:extLst>
                </a:gridCol>
                <a:gridCol w="1626279">
                  <a:extLst>
                    <a:ext uri="{9D8B030D-6E8A-4147-A177-3AD203B41FA5}">
                      <a16:colId xmlns:a16="http://schemas.microsoft.com/office/drawing/2014/main" val="2703913899"/>
                    </a:ext>
                  </a:extLst>
                </a:gridCol>
                <a:gridCol w="1626279">
                  <a:extLst>
                    <a:ext uri="{9D8B030D-6E8A-4147-A177-3AD203B41FA5}">
                      <a16:colId xmlns:a16="http://schemas.microsoft.com/office/drawing/2014/main" val="3061034241"/>
                    </a:ext>
                  </a:extLst>
                </a:gridCol>
                <a:gridCol w="1626279">
                  <a:extLst>
                    <a:ext uri="{9D8B030D-6E8A-4147-A177-3AD203B41FA5}">
                      <a16:colId xmlns:a16="http://schemas.microsoft.com/office/drawing/2014/main" val="3880813061"/>
                    </a:ext>
                  </a:extLst>
                </a:gridCol>
                <a:gridCol w="1626279">
                  <a:extLst>
                    <a:ext uri="{9D8B030D-6E8A-4147-A177-3AD203B41FA5}">
                      <a16:colId xmlns:a16="http://schemas.microsoft.com/office/drawing/2014/main" val="435095791"/>
                    </a:ext>
                  </a:extLst>
                </a:gridCol>
              </a:tblGrid>
              <a:tr h="0">
                <a:tc>
                  <a:txBody>
                    <a:bodyPr/>
                    <a:lstStyle/>
                    <a:p>
                      <a:pPr marL="0" marR="0" algn="l" fontAlgn="t">
                        <a:spcBef>
                          <a:spcPts val="1500"/>
                        </a:spcBef>
                        <a:spcAft>
                          <a:spcPts val="1500"/>
                        </a:spcAft>
                        <a:buNone/>
                      </a:pPr>
                      <a:r>
                        <a:rPr lang="en-IN" sz="1200">
                          <a:effectLst/>
                        </a:rPr>
                        <a:t>OrderID</a:t>
                      </a:r>
                      <a:endParaRPr lang="en-IN" sz="1200" b="0" i="0">
                        <a:solidFill>
                          <a:srgbClr val="000000"/>
                        </a:solidFill>
                        <a:effectLst/>
                        <a:latin typeface="Segoe UI" panose="020B0502040204020203" pitchFamily="34" charset="0"/>
                      </a:endParaRPr>
                    </a:p>
                  </a:txBody>
                  <a:tcPr marL="121920" marR="60960" marT="60960" marB="60960"/>
                </a:tc>
                <a:tc>
                  <a:txBody>
                    <a:bodyPr/>
                    <a:lstStyle/>
                    <a:p>
                      <a:pPr marL="0" marR="0" algn="l" fontAlgn="t">
                        <a:spcBef>
                          <a:spcPts val="1500"/>
                        </a:spcBef>
                        <a:spcAft>
                          <a:spcPts val="1500"/>
                        </a:spcAft>
                        <a:buNone/>
                      </a:pPr>
                      <a:r>
                        <a:rPr lang="en-IN" sz="1200">
                          <a:effectLst/>
                        </a:rPr>
                        <a:t>CustomerID</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EmployeeID</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OrderDate</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ShipperID</a:t>
                      </a:r>
                      <a:endParaRPr lang="en-IN" sz="1200" b="0" i="0">
                        <a:solidFill>
                          <a:srgbClr val="000000"/>
                        </a:solidFill>
                        <a:effectLst/>
                        <a:latin typeface="Segoe UI" panose="020B0502040204020203" pitchFamily="34" charset="0"/>
                      </a:endParaRPr>
                    </a:p>
                  </a:txBody>
                  <a:tcPr marL="60960" marR="60960" marT="60960" marB="60960"/>
                </a:tc>
                <a:extLst>
                  <a:ext uri="{0D108BD9-81ED-4DB2-BD59-A6C34878D82A}">
                    <a16:rowId xmlns:a16="http://schemas.microsoft.com/office/drawing/2014/main" val="687522759"/>
                  </a:ext>
                </a:extLst>
              </a:tr>
              <a:tr h="0">
                <a:tc>
                  <a:txBody>
                    <a:bodyPr/>
                    <a:lstStyle/>
                    <a:p>
                      <a:pPr marL="0" marR="0" algn="l" fontAlgn="t">
                        <a:spcBef>
                          <a:spcPts val="1500"/>
                        </a:spcBef>
                        <a:spcAft>
                          <a:spcPts val="1500"/>
                        </a:spcAft>
                        <a:buNone/>
                      </a:pPr>
                      <a:r>
                        <a:rPr lang="en-IN" sz="1200">
                          <a:effectLst/>
                        </a:rPr>
                        <a:t>10308</a:t>
                      </a:r>
                      <a:endParaRPr lang="en-IN" sz="1200" b="0" i="0">
                        <a:solidFill>
                          <a:srgbClr val="000000"/>
                        </a:solidFill>
                        <a:effectLst/>
                        <a:latin typeface="Segoe UI" panose="020B0502040204020203" pitchFamily="34" charset="0"/>
                      </a:endParaRPr>
                    </a:p>
                  </a:txBody>
                  <a:tcPr marL="121920" marR="60960" marT="60960" marB="60960"/>
                </a:tc>
                <a:tc>
                  <a:txBody>
                    <a:bodyPr/>
                    <a:lstStyle/>
                    <a:p>
                      <a:pPr marL="0" marR="0" algn="l" fontAlgn="t">
                        <a:spcBef>
                          <a:spcPts val="1500"/>
                        </a:spcBef>
                        <a:spcAft>
                          <a:spcPts val="1500"/>
                        </a:spcAft>
                        <a:buNone/>
                      </a:pPr>
                      <a:r>
                        <a:rPr lang="en-IN" sz="1200">
                          <a:effectLst/>
                        </a:rPr>
                        <a:t>2</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7</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1996-09-18</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3</a:t>
                      </a:r>
                      <a:endParaRPr lang="en-IN" sz="1200" b="0" i="0">
                        <a:solidFill>
                          <a:srgbClr val="000000"/>
                        </a:solidFill>
                        <a:effectLst/>
                        <a:latin typeface="Segoe UI" panose="020B0502040204020203" pitchFamily="34" charset="0"/>
                      </a:endParaRPr>
                    </a:p>
                  </a:txBody>
                  <a:tcPr marL="60960" marR="60960" marT="60960" marB="60960"/>
                </a:tc>
                <a:extLst>
                  <a:ext uri="{0D108BD9-81ED-4DB2-BD59-A6C34878D82A}">
                    <a16:rowId xmlns:a16="http://schemas.microsoft.com/office/drawing/2014/main" val="1234010481"/>
                  </a:ext>
                </a:extLst>
              </a:tr>
              <a:tr h="0">
                <a:tc>
                  <a:txBody>
                    <a:bodyPr/>
                    <a:lstStyle/>
                    <a:p>
                      <a:pPr marL="0" marR="0" algn="l" fontAlgn="t">
                        <a:spcBef>
                          <a:spcPts val="1500"/>
                        </a:spcBef>
                        <a:spcAft>
                          <a:spcPts val="1500"/>
                        </a:spcAft>
                        <a:buNone/>
                      </a:pPr>
                      <a:r>
                        <a:rPr lang="en-IN" sz="1200">
                          <a:effectLst/>
                        </a:rPr>
                        <a:t>10309</a:t>
                      </a:r>
                      <a:endParaRPr lang="en-IN" sz="1200" b="0" i="0">
                        <a:solidFill>
                          <a:srgbClr val="000000"/>
                        </a:solidFill>
                        <a:effectLst/>
                        <a:latin typeface="Segoe UI" panose="020B0502040204020203" pitchFamily="34" charset="0"/>
                      </a:endParaRPr>
                    </a:p>
                  </a:txBody>
                  <a:tcPr marL="121920" marR="60960" marT="60960" marB="60960"/>
                </a:tc>
                <a:tc>
                  <a:txBody>
                    <a:bodyPr/>
                    <a:lstStyle/>
                    <a:p>
                      <a:pPr marL="0" marR="0" algn="l" fontAlgn="t">
                        <a:spcBef>
                          <a:spcPts val="1500"/>
                        </a:spcBef>
                        <a:spcAft>
                          <a:spcPts val="1500"/>
                        </a:spcAft>
                        <a:buNone/>
                      </a:pPr>
                      <a:r>
                        <a:rPr lang="en-IN" sz="1200">
                          <a:effectLst/>
                        </a:rPr>
                        <a:t>37</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dirty="0">
                          <a:effectLst/>
                        </a:rPr>
                        <a:t>3</a:t>
                      </a:r>
                      <a:endParaRPr lang="en-IN" sz="1200" b="0" i="0" dirty="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1996-09-19</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1</a:t>
                      </a:r>
                      <a:endParaRPr lang="en-IN" sz="1200" b="0" i="0">
                        <a:solidFill>
                          <a:srgbClr val="000000"/>
                        </a:solidFill>
                        <a:effectLst/>
                        <a:latin typeface="Segoe UI" panose="020B0502040204020203" pitchFamily="34" charset="0"/>
                      </a:endParaRPr>
                    </a:p>
                  </a:txBody>
                  <a:tcPr marL="60960" marR="60960" marT="60960" marB="60960"/>
                </a:tc>
                <a:extLst>
                  <a:ext uri="{0D108BD9-81ED-4DB2-BD59-A6C34878D82A}">
                    <a16:rowId xmlns:a16="http://schemas.microsoft.com/office/drawing/2014/main" val="3759105708"/>
                  </a:ext>
                </a:extLst>
              </a:tr>
              <a:tr h="0">
                <a:tc>
                  <a:txBody>
                    <a:bodyPr/>
                    <a:lstStyle/>
                    <a:p>
                      <a:pPr marL="0" marR="0" algn="l" fontAlgn="t">
                        <a:spcBef>
                          <a:spcPts val="1500"/>
                        </a:spcBef>
                        <a:spcAft>
                          <a:spcPts val="1500"/>
                        </a:spcAft>
                        <a:buNone/>
                      </a:pPr>
                      <a:r>
                        <a:rPr lang="en-IN" sz="1200">
                          <a:effectLst/>
                        </a:rPr>
                        <a:t>10310</a:t>
                      </a:r>
                      <a:endParaRPr lang="en-IN" sz="1200" b="0" i="0">
                        <a:solidFill>
                          <a:srgbClr val="000000"/>
                        </a:solidFill>
                        <a:effectLst/>
                        <a:latin typeface="Segoe UI" panose="020B0502040204020203" pitchFamily="34" charset="0"/>
                      </a:endParaRPr>
                    </a:p>
                  </a:txBody>
                  <a:tcPr marL="121920" marR="60960" marT="60960" marB="60960"/>
                </a:tc>
                <a:tc>
                  <a:txBody>
                    <a:bodyPr/>
                    <a:lstStyle/>
                    <a:p>
                      <a:pPr marL="0" marR="0" algn="l" fontAlgn="t">
                        <a:spcBef>
                          <a:spcPts val="1500"/>
                        </a:spcBef>
                        <a:spcAft>
                          <a:spcPts val="1500"/>
                        </a:spcAft>
                        <a:buNone/>
                      </a:pPr>
                      <a:r>
                        <a:rPr lang="en-IN" sz="1200">
                          <a:effectLst/>
                        </a:rPr>
                        <a:t>77</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8</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a:effectLst/>
                        </a:rPr>
                        <a:t>1996-09-20</a:t>
                      </a:r>
                      <a:endParaRPr lang="en-IN" sz="1200" b="0" i="0">
                        <a:solidFill>
                          <a:srgbClr val="000000"/>
                        </a:solidFill>
                        <a:effectLst/>
                        <a:latin typeface="Segoe UI" panose="020B0502040204020203" pitchFamily="34" charset="0"/>
                      </a:endParaRPr>
                    </a:p>
                  </a:txBody>
                  <a:tcPr marL="60960" marR="60960" marT="60960" marB="60960"/>
                </a:tc>
                <a:tc>
                  <a:txBody>
                    <a:bodyPr/>
                    <a:lstStyle/>
                    <a:p>
                      <a:pPr marL="0" marR="0" algn="l" fontAlgn="t">
                        <a:spcBef>
                          <a:spcPts val="1500"/>
                        </a:spcBef>
                        <a:spcAft>
                          <a:spcPts val="1500"/>
                        </a:spcAft>
                        <a:buNone/>
                      </a:pPr>
                      <a:r>
                        <a:rPr lang="en-IN" sz="1200" dirty="0">
                          <a:effectLst/>
                        </a:rPr>
                        <a:t>2</a:t>
                      </a:r>
                      <a:endParaRPr lang="en-IN" sz="1200" b="0" i="0" dirty="0">
                        <a:solidFill>
                          <a:srgbClr val="000000"/>
                        </a:solidFill>
                        <a:effectLst/>
                        <a:latin typeface="Segoe UI" panose="020B0502040204020203" pitchFamily="34" charset="0"/>
                      </a:endParaRPr>
                    </a:p>
                  </a:txBody>
                  <a:tcPr marL="60960" marR="60960" marT="60960" marB="60960"/>
                </a:tc>
                <a:extLst>
                  <a:ext uri="{0D108BD9-81ED-4DB2-BD59-A6C34878D82A}">
                    <a16:rowId xmlns:a16="http://schemas.microsoft.com/office/drawing/2014/main" val="4222210297"/>
                  </a:ext>
                </a:extLst>
              </a:tr>
            </a:tbl>
          </a:graphicData>
        </a:graphic>
      </p:graphicFrame>
    </p:spTree>
    <p:extLst>
      <p:ext uri="{BB962C8B-B14F-4D97-AF65-F5344CB8AC3E}">
        <p14:creationId xmlns:p14="http://schemas.microsoft.com/office/powerpoint/2010/main" val="518518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E4C50-9B32-DF65-786B-515282BBBB2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F5EDCCF-DEA8-8857-E214-2891859D2C00}"/>
              </a:ext>
            </a:extLst>
          </p:cNvPr>
          <p:cNvSpPr>
            <a:spLocks noGrp="1"/>
          </p:cNvSpPr>
          <p:nvPr>
            <p:ph idx="1"/>
          </p:nvPr>
        </p:nvSpPr>
        <p:spPr/>
        <p:txBody>
          <a:bodyPr/>
          <a:lstStyle/>
          <a:p>
            <a:r>
              <a:rPr lang="en-IN" dirty="0"/>
              <a:t>SELECT </a:t>
            </a:r>
            <a:r>
              <a:rPr lang="en-IN" dirty="0" err="1"/>
              <a:t>Customers.CustomerName</a:t>
            </a:r>
            <a:r>
              <a:rPr lang="en-IN" dirty="0"/>
              <a:t>, </a:t>
            </a:r>
            <a:r>
              <a:rPr lang="en-IN" dirty="0" err="1"/>
              <a:t>Orders.OrderID</a:t>
            </a:r>
            <a:br>
              <a:rPr lang="en-IN" dirty="0"/>
            </a:br>
            <a:r>
              <a:rPr lang="en-IN" dirty="0"/>
              <a:t>FROM Customers</a:t>
            </a:r>
            <a:br>
              <a:rPr lang="en-IN" dirty="0"/>
            </a:br>
            <a:r>
              <a:rPr lang="en-IN" dirty="0"/>
              <a:t>FULL JOIN Orders</a:t>
            </a:r>
            <a:br>
              <a:rPr lang="en-IN" dirty="0"/>
            </a:br>
            <a:r>
              <a:rPr lang="en-IN" dirty="0"/>
              <a:t>ON </a:t>
            </a:r>
            <a:r>
              <a:rPr lang="en-IN" dirty="0" err="1"/>
              <a:t>Customers.CustomerID</a:t>
            </a:r>
            <a:r>
              <a:rPr lang="en-IN" dirty="0"/>
              <a:t> = </a:t>
            </a:r>
            <a:r>
              <a:rPr lang="en-IN" dirty="0" err="1"/>
              <a:t>Orders.CustomerID</a:t>
            </a:r>
            <a:r>
              <a:rPr lang="en-IN" dirty="0"/>
              <a:t>;</a:t>
            </a:r>
          </a:p>
        </p:txBody>
      </p:sp>
      <p:graphicFrame>
        <p:nvGraphicFramePr>
          <p:cNvPr id="4" name="Table 3">
            <a:extLst>
              <a:ext uri="{FF2B5EF4-FFF2-40B4-BE49-F238E27FC236}">
                <a16:creationId xmlns:a16="http://schemas.microsoft.com/office/drawing/2014/main" id="{4E0822F2-BFBD-A1CF-E76A-1F75998B3DDC}"/>
              </a:ext>
            </a:extLst>
          </p:cNvPr>
          <p:cNvGraphicFramePr>
            <a:graphicFrameLocks noGrp="1"/>
          </p:cNvGraphicFramePr>
          <p:nvPr>
            <p:extLst>
              <p:ext uri="{D42A27DB-BD31-4B8C-83A1-F6EECF244321}">
                <p14:modId xmlns:p14="http://schemas.microsoft.com/office/powerpoint/2010/main" val="1712228018"/>
              </p:ext>
            </p:extLst>
          </p:nvPr>
        </p:nvGraphicFramePr>
        <p:xfrm>
          <a:off x="1101112" y="4001294"/>
          <a:ext cx="7651928" cy="1828800"/>
        </p:xfrm>
        <a:graphic>
          <a:graphicData uri="http://schemas.openxmlformats.org/drawingml/2006/table">
            <a:tbl>
              <a:tblPr>
                <a:tableStyleId>{5C22544A-7EE6-4342-B048-85BDC9FD1C3A}</a:tableStyleId>
              </a:tblPr>
              <a:tblGrid>
                <a:gridCol w="3825964">
                  <a:extLst>
                    <a:ext uri="{9D8B030D-6E8A-4147-A177-3AD203B41FA5}">
                      <a16:colId xmlns:a16="http://schemas.microsoft.com/office/drawing/2014/main" val="2556965935"/>
                    </a:ext>
                  </a:extLst>
                </a:gridCol>
                <a:gridCol w="3825964">
                  <a:extLst>
                    <a:ext uri="{9D8B030D-6E8A-4147-A177-3AD203B41FA5}">
                      <a16:colId xmlns:a16="http://schemas.microsoft.com/office/drawing/2014/main" val="762615863"/>
                    </a:ext>
                  </a:extLst>
                </a:gridCol>
              </a:tblGrid>
              <a:tr h="0">
                <a:tc>
                  <a:txBody>
                    <a:bodyPr/>
                    <a:lstStyle/>
                    <a:p>
                      <a:pPr marL="0" marR="0" algn="l" fontAlgn="t">
                        <a:spcBef>
                          <a:spcPts val="1500"/>
                        </a:spcBef>
                        <a:spcAft>
                          <a:spcPts val="1500"/>
                        </a:spcAft>
                        <a:buNone/>
                      </a:pPr>
                      <a:r>
                        <a:rPr lang="en-IN" sz="1200">
                          <a:effectLst/>
                        </a:rPr>
                        <a:t>CustomerName</a:t>
                      </a:r>
                      <a:endParaRPr lang="en-IN" sz="1200" b="0" i="0">
                        <a:solidFill>
                          <a:srgbClr val="000000"/>
                        </a:solidFill>
                        <a:effectLst/>
                        <a:latin typeface="Segoe UI" panose="020B0502040204020203" pitchFamily="34" charset="0"/>
                      </a:endParaRPr>
                    </a:p>
                  </a:txBody>
                  <a:tcPr marL="121920" marR="60960" marT="60960" marB="60960"/>
                </a:tc>
                <a:tc>
                  <a:txBody>
                    <a:bodyPr/>
                    <a:lstStyle/>
                    <a:p>
                      <a:pPr marL="0" marR="0" algn="l" fontAlgn="t">
                        <a:spcBef>
                          <a:spcPts val="1500"/>
                        </a:spcBef>
                        <a:spcAft>
                          <a:spcPts val="1500"/>
                        </a:spcAft>
                        <a:buNone/>
                      </a:pPr>
                      <a:r>
                        <a:rPr lang="en-IN" sz="1200">
                          <a:effectLst/>
                        </a:rPr>
                        <a:t>OrderID</a:t>
                      </a:r>
                      <a:endParaRPr lang="en-IN" sz="1200" b="0" i="0">
                        <a:solidFill>
                          <a:srgbClr val="000000"/>
                        </a:solidFill>
                        <a:effectLst/>
                        <a:latin typeface="Segoe UI" panose="020B0502040204020203" pitchFamily="34" charset="0"/>
                      </a:endParaRPr>
                    </a:p>
                  </a:txBody>
                  <a:tcPr marL="60960" marR="60960" marT="60960" marB="60960"/>
                </a:tc>
                <a:extLst>
                  <a:ext uri="{0D108BD9-81ED-4DB2-BD59-A6C34878D82A}">
                    <a16:rowId xmlns:a16="http://schemas.microsoft.com/office/drawing/2014/main" val="99923561"/>
                  </a:ext>
                </a:extLst>
              </a:tr>
              <a:tr h="0">
                <a:tc>
                  <a:txBody>
                    <a:bodyPr/>
                    <a:lstStyle/>
                    <a:p>
                      <a:pPr marL="0" marR="0" algn="l" fontAlgn="t">
                        <a:spcBef>
                          <a:spcPts val="1500"/>
                        </a:spcBef>
                        <a:spcAft>
                          <a:spcPts val="1500"/>
                        </a:spcAft>
                        <a:buNone/>
                      </a:pPr>
                      <a:r>
                        <a:rPr lang="en-IN" sz="1200">
                          <a:effectLst/>
                        </a:rPr>
                        <a:t>Null</a:t>
                      </a:r>
                      <a:endParaRPr lang="en-IN" sz="1200" b="0" i="0">
                        <a:solidFill>
                          <a:srgbClr val="000000"/>
                        </a:solidFill>
                        <a:effectLst/>
                        <a:latin typeface="Segoe UI" panose="020B0502040204020203" pitchFamily="34" charset="0"/>
                      </a:endParaRPr>
                    </a:p>
                  </a:txBody>
                  <a:tcPr marL="121920" marR="60960" marT="60960" marB="60960"/>
                </a:tc>
                <a:tc>
                  <a:txBody>
                    <a:bodyPr/>
                    <a:lstStyle/>
                    <a:p>
                      <a:pPr marL="0" marR="0" algn="l" fontAlgn="t">
                        <a:spcBef>
                          <a:spcPts val="1500"/>
                        </a:spcBef>
                        <a:spcAft>
                          <a:spcPts val="1500"/>
                        </a:spcAft>
                        <a:buNone/>
                      </a:pPr>
                      <a:r>
                        <a:rPr lang="en-IN" sz="1200">
                          <a:effectLst/>
                        </a:rPr>
                        <a:t>10309</a:t>
                      </a:r>
                      <a:endParaRPr lang="en-IN" sz="1200" b="0" i="0">
                        <a:solidFill>
                          <a:srgbClr val="000000"/>
                        </a:solidFill>
                        <a:effectLst/>
                        <a:latin typeface="Segoe UI" panose="020B0502040204020203" pitchFamily="34" charset="0"/>
                      </a:endParaRPr>
                    </a:p>
                  </a:txBody>
                  <a:tcPr marL="60960" marR="60960" marT="60960" marB="60960"/>
                </a:tc>
                <a:extLst>
                  <a:ext uri="{0D108BD9-81ED-4DB2-BD59-A6C34878D82A}">
                    <a16:rowId xmlns:a16="http://schemas.microsoft.com/office/drawing/2014/main" val="1390392242"/>
                  </a:ext>
                </a:extLst>
              </a:tr>
              <a:tr h="0">
                <a:tc>
                  <a:txBody>
                    <a:bodyPr/>
                    <a:lstStyle/>
                    <a:p>
                      <a:pPr marL="0" marR="0" algn="l" fontAlgn="t">
                        <a:spcBef>
                          <a:spcPts val="1500"/>
                        </a:spcBef>
                        <a:spcAft>
                          <a:spcPts val="1500"/>
                        </a:spcAft>
                        <a:buNone/>
                      </a:pPr>
                      <a:r>
                        <a:rPr lang="en-IN" sz="1200">
                          <a:effectLst/>
                        </a:rPr>
                        <a:t>Null</a:t>
                      </a:r>
                      <a:endParaRPr lang="en-IN" sz="1200" b="0" i="0">
                        <a:solidFill>
                          <a:srgbClr val="000000"/>
                        </a:solidFill>
                        <a:effectLst/>
                        <a:latin typeface="Segoe UI" panose="020B0502040204020203" pitchFamily="34" charset="0"/>
                      </a:endParaRPr>
                    </a:p>
                  </a:txBody>
                  <a:tcPr marL="121920" marR="60960" marT="60960" marB="60960"/>
                </a:tc>
                <a:tc>
                  <a:txBody>
                    <a:bodyPr/>
                    <a:lstStyle/>
                    <a:p>
                      <a:pPr marL="0" marR="0" algn="l" fontAlgn="t">
                        <a:spcBef>
                          <a:spcPts val="1500"/>
                        </a:spcBef>
                        <a:spcAft>
                          <a:spcPts val="1500"/>
                        </a:spcAft>
                        <a:buNone/>
                      </a:pPr>
                      <a:r>
                        <a:rPr lang="en-IN" sz="1200">
                          <a:effectLst/>
                        </a:rPr>
                        <a:t>10310</a:t>
                      </a:r>
                      <a:endParaRPr lang="en-IN" sz="1200" b="0" i="0">
                        <a:solidFill>
                          <a:srgbClr val="000000"/>
                        </a:solidFill>
                        <a:effectLst/>
                        <a:latin typeface="Segoe UI" panose="020B0502040204020203" pitchFamily="34" charset="0"/>
                      </a:endParaRPr>
                    </a:p>
                  </a:txBody>
                  <a:tcPr marL="60960" marR="60960" marT="60960" marB="60960"/>
                </a:tc>
                <a:extLst>
                  <a:ext uri="{0D108BD9-81ED-4DB2-BD59-A6C34878D82A}">
                    <a16:rowId xmlns:a16="http://schemas.microsoft.com/office/drawing/2014/main" val="4037104689"/>
                  </a:ext>
                </a:extLst>
              </a:tr>
              <a:tr h="0">
                <a:tc>
                  <a:txBody>
                    <a:bodyPr/>
                    <a:lstStyle/>
                    <a:p>
                      <a:pPr marL="0" marR="0" algn="l" fontAlgn="t">
                        <a:spcBef>
                          <a:spcPts val="1500"/>
                        </a:spcBef>
                        <a:spcAft>
                          <a:spcPts val="1500"/>
                        </a:spcAft>
                        <a:buNone/>
                      </a:pPr>
                      <a:r>
                        <a:rPr lang="en-IN" sz="1200">
                          <a:effectLst/>
                        </a:rPr>
                        <a:t>Alfreds Futterkiste</a:t>
                      </a:r>
                      <a:endParaRPr lang="en-IN" sz="1200" b="0" i="0">
                        <a:solidFill>
                          <a:srgbClr val="000000"/>
                        </a:solidFill>
                        <a:effectLst/>
                        <a:latin typeface="Segoe UI" panose="020B0502040204020203" pitchFamily="34" charset="0"/>
                      </a:endParaRPr>
                    </a:p>
                  </a:txBody>
                  <a:tcPr marL="121920" marR="60960" marT="60960" marB="60960"/>
                </a:tc>
                <a:tc>
                  <a:txBody>
                    <a:bodyPr/>
                    <a:lstStyle/>
                    <a:p>
                      <a:pPr marL="0" marR="0" algn="l" fontAlgn="t">
                        <a:spcBef>
                          <a:spcPts val="1500"/>
                        </a:spcBef>
                        <a:spcAft>
                          <a:spcPts val="1500"/>
                        </a:spcAft>
                        <a:buNone/>
                      </a:pPr>
                      <a:r>
                        <a:rPr lang="en-IN" sz="1200">
                          <a:effectLst/>
                        </a:rPr>
                        <a:t>Null</a:t>
                      </a:r>
                      <a:endParaRPr lang="en-IN" sz="1200" b="0" i="0">
                        <a:solidFill>
                          <a:srgbClr val="000000"/>
                        </a:solidFill>
                        <a:effectLst/>
                        <a:latin typeface="Segoe UI" panose="020B0502040204020203" pitchFamily="34" charset="0"/>
                      </a:endParaRPr>
                    </a:p>
                  </a:txBody>
                  <a:tcPr marL="60960" marR="60960" marT="60960" marB="60960"/>
                </a:tc>
                <a:extLst>
                  <a:ext uri="{0D108BD9-81ED-4DB2-BD59-A6C34878D82A}">
                    <a16:rowId xmlns:a16="http://schemas.microsoft.com/office/drawing/2014/main" val="3634409405"/>
                  </a:ext>
                </a:extLst>
              </a:tr>
              <a:tr h="0">
                <a:tc>
                  <a:txBody>
                    <a:bodyPr/>
                    <a:lstStyle/>
                    <a:p>
                      <a:pPr marL="0" marR="0" algn="l" fontAlgn="t">
                        <a:spcBef>
                          <a:spcPts val="1500"/>
                        </a:spcBef>
                        <a:spcAft>
                          <a:spcPts val="1500"/>
                        </a:spcAft>
                        <a:buNone/>
                      </a:pPr>
                      <a:r>
                        <a:rPr lang="en-IN" sz="1200">
                          <a:effectLst/>
                        </a:rPr>
                        <a:t>Ana Trujillo Emparedados y helados</a:t>
                      </a:r>
                      <a:endParaRPr lang="en-IN" sz="1200" b="0" i="0">
                        <a:solidFill>
                          <a:srgbClr val="000000"/>
                        </a:solidFill>
                        <a:effectLst/>
                        <a:latin typeface="Segoe UI" panose="020B0502040204020203" pitchFamily="34" charset="0"/>
                      </a:endParaRPr>
                    </a:p>
                  </a:txBody>
                  <a:tcPr marL="121920" marR="60960" marT="60960" marB="60960"/>
                </a:tc>
                <a:tc>
                  <a:txBody>
                    <a:bodyPr/>
                    <a:lstStyle/>
                    <a:p>
                      <a:pPr marL="0" marR="0" algn="l" fontAlgn="t">
                        <a:spcBef>
                          <a:spcPts val="1500"/>
                        </a:spcBef>
                        <a:spcAft>
                          <a:spcPts val="1500"/>
                        </a:spcAft>
                        <a:buNone/>
                      </a:pPr>
                      <a:r>
                        <a:rPr lang="en-IN" sz="1200">
                          <a:effectLst/>
                        </a:rPr>
                        <a:t>10308</a:t>
                      </a:r>
                      <a:endParaRPr lang="en-IN" sz="1200" b="0" i="0">
                        <a:solidFill>
                          <a:srgbClr val="000000"/>
                        </a:solidFill>
                        <a:effectLst/>
                        <a:latin typeface="Segoe UI" panose="020B0502040204020203" pitchFamily="34" charset="0"/>
                      </a:endParaRPr>
                    </a:p>
                  </a:txBody>
                  <a:tcPr marL="60960" marR="60960" marT="60960" marB="60960"/>
                </a:tc>
                <a:extLst>
                  <a:ext uri="{0D108BD9-81ED-4DB2-BD59-A6C34878D82A}">
                    <a16:rowId xmlns:a16="http://schemas.microsoft.com/office/drawing/2014/main" val="2032930002"/>
                  </a:ext>
                </a:extLst>
              </a:tr>
              <a:tr h="0">
                <a:tc>
                  <a:txBody>
                    <a:bodyPr/>
                    <a:lstStyle/>
                    <a:p>
                      <a:pPr marL="0" marR="0" algn="l" fontAlgn="t">
                        <a:spcBef>
                          <a:spcPts val="1500"/>
                        </a:spcBef>
                        <a:spcAft>
                          <a:spcPts val="1500"/>
                        </a:spcAft>
                        <a:buNone/>
                      </a:pPr>
                      <a:r>
                        <a:rPr lang="en-IN" sz="1200">
                          <a:effectLst/>
                        </a:rPr>
                        <a:t>Antonio Moreno Taquería</a:t>
                      </a:r>
                      <a:endParaRPr lang="en-IN" sz="1200" b="0" i="0">
                        <a:solidFill>
                          <a:srgbClr val="000000"/>
                        </a:solidFill>
                        <a:effectLst/>
                        <a:latin typeface="Segoe UI" panose="020B0502040204020203" pitchFamily="34" charset="0"/>
                      </a:endParaRPr>
                    </a:p>
                  </a:txBody>
                  <a:tcPr marL="121920" marR="60960" marT="60960" marB="60960"/>
                </a:tc>
                <a:tc>
                  <a:txBody>
                    <a:bodyPr/>
                    <a:lstStyle/>
                    <a:p>
                      <a:pPr marL="0" marR="0" algn="l" fontAlgn="t">
                        <a:spcBef>
                          <a:spcPts val="1500"/>
                        </a:spcBef>
                        <a:spcAft>
                          <a:spcPts val="1500"/>
                        </a:spcAft>
                        <a:buNone/>
                      </a:pPr>
                      <a:r>
                        <a:rPr lang="en-IN" sz="1200" dirty="0">
                          <a:effectLst/>
                        </a:rPr>
                        <a:t>Null</a:t>
                      </a:r>
                      <a:endParaRPr lang="en-IN" sz="1200" b="0" i="0" dirty="0">
                        <a:solidFill>
                          <a:srgbClr val="000000"/>
                        </a:solidFill>
                        <a:effectLst/>
                        <a:latin typeface="Segoe UI" panose="020B0502040204020203" pitchFamily="34" charset="0"/>
                      </a:endParaRPr>
                    </a:p>
                  </a:txBody>
                  <a:tcPr marL="60960" marR="60960" marT="60960" marB="60960"/>
                </a:tc>
                <a:extLst>
                  <a:ext uri="{0D108BD9-81ED-4DB2-BD59-A6C34878D82A}">
                    <a16:rowId xmlns:a16="http://schemas.microsoft.com/office/drawing/2014/main" val="1517814996"/>
                  </a:ext>
                </a:extLst>
              </a:tr>
            </a:tbl>
          </a:graphicData>
        </a:graphic>
      </p:graphicFrame>
    </p:spTree>
    <p:extLst>
      <p:ext uri="{BB962C8B-B14F-4D97-AF65-F5344CB8AC3E}">
        <p14:creationId xmlns:p14="http://schemas.microsoft.com/office/powerpoint/2010/main" val="10074125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D375C-05E5-B7B5-B8F3-CC2725702CE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0BBEE3D-6E7C-E087-5478-66502F5DB1A7}"/>
              </a:ext>
            </a:extLst>
          </p:cNvPr>
          <p:cNvSpPr>
            <a:spLocks noGrp="1"/>
          </p:cNvSpPr>
          <p:nvPr>
            <p:ph idx="1"/>
          </p:nvPr>
        </p:nvSpPr>
        <p:spPr/>
        <p:txBody>
          <a:bodyPr/>
          <a:lstStyle/>
          <a:p>
            <a:r>
              <a:rPr lang="en-IN" dirty="0"/>
              <a:t>FULL JOIN returns all matching records from both tables whether the other table matches or not. </a:t>
            </a:r>
          </a:p>
          <a:p>
            <a:r>
              <a:rPr lang="en-IN" dirty="0"/>
              <a:t>So, if there are rows in "Customers" that do not have matches in "Orders", or if there are rows in "Orders" that do not have matches in "Customers", those rows will be listed as well.</a:t>
            </a:r>
          </a:p>
          <a:p>
            <a:endParaRPr lang="en-IN" dirty="0"/>
          </a:p>
        </p:txBody>
      </p:sp>
    </p:spTree>
    <p:extLst>
      <p:ext uri="{BB962C8B-B14F-4D97-AF65-F5344CB8AC3E}">
        <p14:creationId xmlns:p14="http://schemas.microsoft.com/office/powerpoint/2010/main" val="11549311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54829-0875-7D2C-D1F8-C7487ACD3CE4}"/>
              </a:ext>
            </a:extLst>
          </p:cNvPr>
          <p:cNvSpPr>
            <a:spLocks noGrp="1"/>
          </p:cNvSpPr>
          <p:nvPr>
            <p:ph type="title"/>
          </p:nvPr>
        </p:nvSpPr>
        <p:spPr/>
        <p:txBody>
          <a:bodyPr>
            <a:normAutofit/>
          </a:bodyPr>
          <a:lstStyle/>
          <a:p>
            <a:pPr algn="ctr"/>
            <a:r>
              <a:rPr lang="en-IN" b="1" dirty="0"/>
              <a:t>SQL Views</a:t>
            </a:r>
          </a:p>
        </p:txBody>
      </p:sp>
      <p:sp>
        <p:nvSpPr>
          <p:cNvPr id="3" name="Content Placeholder 2">
            <a:extLst>
              <a:ext uri="{FF2B5EF4-FFF2-40B4-BE49-F238E27FC236}">
                <a16:creationId xmlns:a16="http://schemas.microsoft.com/office/drawing/2014/main" id="{8E85A1CB-CA01-E3E8-3A24-5E3338A8EAB9}"/>
              </a:ext>
            </a:extLst>
          </p:cNvPr>
          <p:cNvSpPr>
            <a:spLocks noGrp="1"/>
          </p:cNvSpPr>
          <p:nvPr>
            <p:ph idx="1"/>
          </p:nvPr>
        </p:nvSpPr>
        <p:spPr/>
        <p:txBody>
          <a:bodyPr>
            <a:normAutofit lnSpcReduction="10000"/>
          </a:bodyPr>
          <a:lstStyle/>
          <a:p>
            <a:r>
              <a:rPr lang="en-IN" dirty="0"/>
              <a:t>An SQL view is a virtual table based on the result-set of an SQL statement. </a:t>
            </a:r>
          </a:p>
          <a:p>
            <a:r>
              <a:rPr lang="en-IN" dirty="0"/>
              <a:t>An SQL view contains rows and columns, just like a real table. </a:t>
            </a:r>
          </a:p>
          <a:p>
            <a:r>
              <a:rPr lang="en-IN" dirty="0"/>
              <a:t>The fields in the view are fields from one or more real tables in the database.</a:t>
            </a:r>
          </a:p>
          <a:p>
            <a:endParaRPr lang="en-IN" dirty="0"/>
          </a:p>
          <a:p>
            <a:r>
              <a:rPr lang="en-IN" dirty="0"/>
              <a:t>A view is created with the CREATE VIEW statement.</a:t>
            </a:r>
          </a:p>
          <a:p>
            <a:endParaRPr lang="en-IN" dirty="0"/>
          </a:p>
          <a:p>
            <a:r>
              <a:rPr lang="en-IN" dirty="0"/>
              <a:t>A view always shows real-time data! The database engine only stores the view's definition (the SELECT statement), not a copy of the data.</a:t>
            </a:r>
          </a:p>
          <a:p>
            <a:endParaRPr lang="en-IN" dirty="0"/>
          </a:p>
          <a:p>
            <a:pPr marL="0" indent="0">
              <a:buNone/>
            </a:pPr>
            <a:endParaRPr lang="en-IN" dirty="0"/>
          </a:p>
        </p:txBody>
      </p:sp>
    </p:spTree>
    <p:extLst>
      <p:ext uri="{BB962C8B-B14F-4D97-AF65-F5344CB8AC3E}">
        <p14:creationId xmlns:p14="http://schemas.microsoft.com/office/powerpoint/2010/main" val="12945053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7CF01-DB98-F709-8DA8-F5BBEA4DAA7A}"/>
              </a:ext>
            </a:extLst>
          </p:cNvPr>
          <p:cNvSpPr>
            <a:spLocks noGrp="1"/>
          </p:cNvSpPr>
          <p:nvPr>
            <p:ph type="title"/>
          </p:nvPr>
        </p:nvSpPr>
        <p:spPr/>
        <p:txBody>
          <a:bodyPr>
            <a:normAutofit/>
          </a:bodyPr>
          <a:lstStyle/>
          <a:p>
            <a:r>
              <a:rPr lang="en-IN" b="1" dirty="0"/>
              <a:t>CREATE VIEW Syntax</a:t>
            </a:r>
          </a:p>
        </p:txBody>
      </p:sp>
      <p:sp>
        <p:nvSpPr>
          <p:cNvPr id="3" name="Content Placeholder 2">
            <a:extLst>
              <a:ext uri="{FF2B5EF4-FFF2-40B4-BE49-F238E27FC236}">
                <a16:creationId xmlns:a16="http://schemas.microsoft.com/office/drawing/2014/main" id="{00E34622-EFE4-AE44-4FA2-E5D295D9F768}"/>
              </a:ext>
            </a:extLst>
          </p:cNvPr>
          <p:cNvSpPr>
            <a:spLocks noGrp="1"/>
          </p:cNvSpPr>
          <p:nvPr>
            <p:ph idx="1"/>
          </p:nvPr>
        </p:nvSpPr>
        <p:spPr>
          <a:xfrm>
            <a:off x="838200" y="1574276"/>
            <a:ext cx="10515600" cy="4918599"/>
          </a:xfrm>
        </p:spPr>
        <p:txBody>
          <a:bodyPr>
            <a:normAutofit/>
          </a:bodyPr>
          <a:lstStyle/>
          <a:p>
            <a:r>
              <a:rPr lang="en-IN" dirty="0"/>
              <a:t>CREATE VIEW </a:t>
            </a:r>
            <a:r>
              <a:rPr lang="en-IN" i="1" dirty="0" err="1"/>
              <a:t>view_name</a:t>
            </a:r>
            <a:r>
              <a:rPr lang="en-IN" dirty="0"/>
              <a:t> AS</a:t>
            </a:r>
            <a:br>
              <a:rPr lang="en-IN" dirty="0"/>
            </a:br>
            <a:r>
              <a:rPr lang="en-IN" dirty="0"/>
              <a:t>SELECT </a:t>
            </a:r>
            <a:r>
              <a:rPr lang="en-IN" i="1" dirty="0"/>
              <a:t>column1</a:t>
            </a:r>
            <a:r>
              <a:rPr lang="en-IN" dirty="0"/>
              <a:t>, </a:t>
            </a:r>
            <a:r>
              <a:rPr lang="en-IN" i="1" dirty="0"/>
              <a:t>column2</a:t>
            </a:r>
            <a:r>
              <a:rPr lang="en-IN" dirty="0"/>
              <a:t>, ...</a:t>
            </a:r>
            <a:br>
              <a:rPr lang="en-IN" dirty="0"/>
            </a:br>
            <a:r>
              <a:rPr lang="en-IN" dirty="0"/>
              <a:t>FROM </a:t>
            </a:r>
            <a:r>
              <a:rPr lang="en-IN" i="1" dirty="0" err="1"/>
              <a:t>table_name</a:t>
            </a:r>
            <a:br>
              <a:rPr lang="en-IN" dirty="0"/>
            </a:br>
            <a:r>
              <a:rPr lang="en-IN" dirty="0"/>
              <a:t>WHERE </a:t>
            </a:r>
            <a:r>
              <a:rPr lang="en-IN" i="1" dirty="0"/>
              <a:t>condition</a:t>
            </a:r>
            <a:r>
              <a:rPr lang="en-IN" dirty="0"/>
              <a:t>;</a:t>
            </a:r>
          </a:p>
          <a:p>
            <a:endParaRPr lang="en-IN" dirty="0"/>
          </a:p>
          <a:p>
            <a:r>
              <a:rPr lang="en-IN" dirty="0"/>
              <a:t>CREATE VIEW [Brazil Customers] AS</a:t>
            </a:r>
            <a:br>
              <a:rPr lang="en-IN" dirty="0"/>
            </a:br>
            <a:r>
              <a:rPr lang="en-IN" dirty="0"/>
              <a:t>SELECT </a:t>
            </a:r>
            <a:r>
              <a:rPr lang="en-IN" dirty="0" err="1"/>
              <a:t>CustomerName</a:t>
            </a:r>
            <a:r>
              <a:rPr lang="en-IN" dirty="0"/>
              <a:t>, </a:t>
            </a:r>
            <a:r>
              <a:rPr lang="en-IN" dirty="0" err="1"/>
              <a:t>ContactName</a:t>
            </a:r>
            <a:br>
              <a:rPr lang="en-IN" dirty="0"/>
            </a:br>
            <a:r>
              <a:rPr lang="en-IN" dirty="0"/>
              <a:t>FROM Customers</a:t>
            </a:r>
            <a:br>
              <a:rPr lang="en-IN" dirty="0"/>
            </a:br>
            <a:r>
              <a:rPr lang="en-IN" dirty="0"/>
              <a:t>WHERE Country = 'Brazil’;</a:t>
            </a:r>
          </a:p>
          <a:p>
            <a:pPr marL="0" indent="0">
              <a:buNone/>
            </a:pPr>
            <a:endParaRPr lang="en-IN" dirty="0"/>
          </a:p>
          <a:p>
            <a:r>
              <a:rPr lang="en-IN" dirty="0"/>
              <a:t>SELECT * FROM [Brazil Customers];</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15555488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ABD29-4C12-AA75-A364-1BA2BE6DEA8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2AF5980-E1C9-A45C-CCD8-0F8EFD5CACD9}"/>
              </a:ext>
            </a:extLst>
          </p:cNvPr>
          <p:cNvSpPr>
            <a:spLocks noGrp="1"/>
          </p:cNvSpPr>
          <p:nvPr>
            <p:ph idx="1"/>
          </p:nvPr>
        </p:nvSpPr>
        <p:spPr/>
        <p:txBody>
          <a:bodyPr/>
          <a:lstStyle/>
          <a:p>
            <a:r>
              <a:rPr lang="en-IN" dirty="0"/>
              <a:t>CREATE VIEW [Products Above Average Price] AS</a:t>
            </a:r>
            <a:br>
              <a:rPr lang="en-IN" dirty="0"/>
            </a:br>
            <a:r>
              <a:rPr lang="en-IN" dirty="0"/>
              <a:t>SELECT ProductName, Price</a:t>
            </a:r>
            <a:br>
              <a:rPr lang="en-IN" dirty="0"/>
            </a:br>
            <a:r>
              <a:rPr lang="en-IN" dirty="0"/>
              <a:t>FROM Products</a:t>
            </a:r>
            <a:br>
              <a:rPr lang="en-IN" dirty="0"/>
            </a:br>
            <a:r>
              <a:rPr lang="en-IN" dirty="0"/>
              <a:t>WHERE Price &gt; (SELECT AVG(Price) FROM Products);</a:t>
            </a:r>
          </a:p>
        </p:txBody>
      </p:sp>
    </p:spTree>
    <p:extLst>
      <p:ext uri="{BB962C8B-B14F-4D97-AF65-F5344CB8AC3E}">
        <p14:creationId xmlns:p14="http://schemas.microsoft.com/office/powerpoint/2010/main" val="240266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40D80-80F5-F7E1-EF8E-CABEAEE2438D}"/>
              </a:ext>
            </a:extLst>
          </p:cNvPr>
          <p:cNvSpPr>
            <a:spLocks noGrp="1"/>
          </p:cNvSpPr>
          <p:nvPr>
            <p:ph type="title"/>
          </p:nvPr>
        </p:nvSpPr>
        <p:spPr/>
        <p:txBody>
          <a:bodyPr/>
          <a:lstStyle/>
          <a:p>
            <a:r>
              <a:rPr lang="en-IN" b="1" dirty="0"/>
              <a:t>ALTER VIEW Statement</a:t>
            </a:r>
          </a:p>
        </p:txBody>
      </p:sp>
      <p:sp>
        <p:nvSpPr>
          <p:cNvPr id="3" name="Content Placeholder 2">
            <a:extLst>
              <a:ext uri="{FF2B5EF4-FFF2-40B4-BE49-F238E27FC236}">
                <a16:creationId xmlns:a16="http://schemas.microsoft.com/office/drawing/2014/main" id="{2ECD52C9-2DCD-C647-E31E-59CCC972BCBB}"/>
              </a:ext>
            </a:extLst>
          </p:cNvPr>
          <p:cNvSpPr>
            <a:spLocks noGrp="1"/>
          </p:cNvSpPr>
          <p:nvPr>
            <p:ph idx="1"/>
          </p:nvPr>
        </p:nvSpPr>
        <p:spPr/>
        <p:txBody>
          <a:bodyPr/>
          <a:lstStyle/>
          <a:p>
            <a:r>
              <a:rPr lang="en-IN" dirty="0"/>
              <a:t>ALTER VIEW </a:t>
            </a:r>
            <a:r>
              <a:rPr lang="en-IN" i="1" dirty="0" err="1"/>
              <a:t>view_name</a:t>
            </a:r>
            <a:r>
              <a:rPr lang="en-IN" dirty="0"/>
              <a:t> AS</a:t>
            </a:r>
            <a:br>
              <a:rPr lang="en-IN" dirty="0"/>
            </a:br>
            <a:r>
              <a:rPr lang="en-IN" dirty="0"/>
              <a:t>SELECT </a:t>
            </a:r>
            <a:r>
              <a:rPr lang="en-IN" i="1" dirty="0"/>
              <a:t>column1</a:t>
            </a:r>
            <a:r>
              <a:rPr lang="en-IN" dirty="0"/>
              <a:t>, </a:t>
            </a:r>
            <a:r>
              <a:rPr lang="en-IN" i="1" dirty="0"/>
              <a:t>column2</a:t>
            </a:r>
            <a:r>
              <a:rPr lang="en-IN" dirty="0"/>
              <a:t>, ...</a:t>
            </a:r>
            <a:br>
              <a:rPr lang="en-IN" dirty="0"/>
            </a:br>
            <a:r>
              <a:rPr lang="en-IN" dirty="0"/>
              <a:t>FROM </a:t>
            </a:r>
            <a:r>
              <a:rPr lang="en-IN" i="1" dirty="0" err="1"/>
              <a:t>table_name</a:t>
            </a:r>
            <a:br>
              <a:rPr lang="en-IN" dirty="0"/>
            </a:br>
            <a:r>
              <a:rPr lang="en-IN" dirty="0"/>
              <a:t>WHERE </a:t>
            </a:r>
            <a:r>
              <a:rPr lang="en-IN" i="1" dirty="0"/>
              <a:t>condition</a:t>
            </a:r>
            <a:r>
              <a:rPr lang="en-IN" dirty="0"/>
              <a:t>;</a:t>
            </a:r>
          </a:p>
          <a:p>
            <a:endParaRPr lang="en-IN" dirty="0"/>
          </a:p>
          <a:p>
            <a:r>
              <a:rPr lang="en-IN" dirty="0"/>
              <a:t>ALTER VIEW [Brazil Customers] AS</a:t>
            </a:r>
            <a:br>
              <a:rPr lang="en-IN" dirty="0"/>
            </a:br>
            <a:r>
              <a:rPr lang="en-IN" dirty="0"/>
              <a:t>SELECT </a:t>
            </a:r>
            <a:r>
              <a:rPr lang="en-IN" dirty="0" err="1"/>
              <a:t>CustomerName</a:t>
            </a:r>
            <a:r>
              <a:rPr lang="en-IN" dirty="0"/>
              <a:t>, </a:t>
            </a:r>
            <a:r>
              <a:rPr lang="en-IN" dirty="0" err="1"/>
              <a:t>ContactName</a:t>
            </a:r>
            <a:r>
              <a:rPr lang="en-IN" dirty="0"/>
              <a:t>, City</a:t>
            </a:r>
            <a:br>
              <a:rPr lang="en-IN" dirty="0"/>
            </a:br>
            <a:r>
              <a:rPr lang="en-IN" dirty="0"/>
              <a:t>FROM Customers</a:t>
            </a:r>
            <a:br>
              <a:rPr lang="en-IN" dirty="0"/>
            </a:br>
            <a:r>
              <a:rPr lang="en-IN" dirty="0"/>
              <a:t>WHERE Country = 'Brazil';</a:t>
            </a:r>
          </a:p>
        </p:txBody>
      </p:sp>
    </p:spTree>
    <p:extLst>
      <p:ext uri="{BB962C8B-B14F-4D97-AF65-F5344CB8AC3E}">
        <p14:creationId xmlns:p14="http://schemas.microsoft.com/office/powerpoint/2010/main" val="35902884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A88FC-9224-0E6F-39DB-F1226B76D232}"/>
              </a:ext>
            </a:extLst>
          </p:cNvPr>
          <p:cNvSpPr>
            <a:spLocks noGrp="1"/>
          </p:cNvSpPr>
          <p:nvPr>
            <p:ph type="title"/>
          </p:nvPr>
        </p:nvSpPr>
        <p:spPr/>
        <p:txBody>
          <a:bodyPr/>
          <a:lstStyle/>
          <a:p>
            <a:r>
              <a:rPr lang="en-IN" b="1" dirty="0"/>
              <a:t>CREATE OR REPLACE VIEW Syntax</a:t>
            </a:r>
          </a:p>
        </p:txBody>
      </p:sp>
      <p:sp>
        <p:nvSpPr>
          <p:cNvPr id="3" name="Content Placeholder 2">
            <a:extLst>
              <a:ext uri="{FF2B5EF4-FFF2-40B4-BE49-F238E27FC236}">
                <a16:creationId xmlns:a16="http://schemas.microsoft.com/office/drawing/2014/main" id="{6FF99B02-5CE8-45A7-AC49-BF08F41F4D63}"/>
              </a:ext>
            </a:extLst>
          </p:cNvPr>
          <p:cNvSpPr>
            <a:spLocks noGrp="1"/>
          </p:cNvSpPr>
          <p:nvPr>
            <p:ph idx="1"/>
          </p:nvPr>
        </p:nvSpPr>
        <p:spPr/>
        <p:txBody>
          <a:bodyPr/>
          <a:lstStyle/>
          <a:p>
            <a:r>
              <a:rPr lang="en-IN" dirty="0"/>
              <a:t>CREATE OR REPLACE VIEW </a:t>
            </a:r>
            <a:r>
              <a:rPr lang="en-IN" i="1" dirty="0" err="1"/>
              <a:t>view_name</a:t>
            </a:r>
            <a:r>
              <a:rPr lang="en-IN" dirty="0"/>
              <a:t> AS</a:t>
            </a:r>
            <a:br>
              <a:rPr lang="en-IN" dirty="0"/>
            </a:br>
            <a:r>
              <a:rPr lang="en-IN" dirty="0"/>
              <a:t>SELECT </a:t>
            </a:r>
            <a:r>
              <a:rPr lang="en-IN" i="1" dirty="0"/>
              <a:t>column1</a:t>
            </a:r>
            <a:r>
              <a:rPr lang="en-IN" dirty="0"/>
              <a:t>, </a:t>
            </a:r>
            <a:r>
              <a:rPr lang="en-IN" i="1" dirty="0"/>
              <a:t>column2</a:t>
            </a:r>
            <a:r>
              <a:rPr lang="en-IN" dirty="0"/>
              <a:t>, ...</a:t>
            </a:r>
            <a:br>
              <a:rPr lang="en-IN" dirty="0"/>
            </a:br>
            <a:r>
              <a:rPr lang="en-IN" dirty="0"/>
              <a:t>FROM </a:t>
            </a:r>
            <a:r>
              <a:rPr lang="en-IN" i="1" dirty="0" err="1"/>
              <a:t>table_name</a:t>
            </a:r>
            <a:br>
              <a:rPr lang="en-IN" dirty="0"/>
            </a:br>
            <a:r>
              <a:rPr lang="en-IN" dirty="0"/>
              <a:t>WHERE </a:t>
            </a:r>
            <a:r>
              <a:rPr lang="en-IN" i="1" dirty="0"/>
              <a:t>condition</a:t>
            </a:r>
            <a:r>
              <a:rPr lang="en-IN" dirty="0"/>
              <a:t>;</a:t>
            </a:r>
          </a:p>
          <a:p>
            <a:pPr marL="0" indent="0">
              <a:buNone/>
            </a:pPr>
            <a:endParaRPr lang="en-IN" dirty="0"/>
          </a:p>
          <a:p>
            <a:r>
              <a:rPr lang="en-IN" dirty="0"/>
              <a:t>CREATE OR REPLACE VIEW [Brazil Customers] AS</a:t>
            </a:r>
            <a:br>
              <a:rPr lang="en-IN" dirty="0"/>
            </a:br>
            <a:r>
              <a:rPr lang="en-IN" dirty="0"/>
              <a:t>SELECT </a:t>
            </a:r>
            <a:r>
              <a:rPr lang="en-IN" dirty="0" err="1"/>
              <a:t>CustomerName</a:t>
            </a:r>
            <a:r>
              <a:rPr lang="en-IN" dirty="0"/>
              <a:t>, </a:t>
            </a:r>
            <a:r>
              <a:rPr lang="en-IN" dirty="0" err="1"/>
              <a:t>ContactName</a:t>
            </a:r>
            <a:r>
              <a:rPr lang="en-IN" dirty="0"/>
              <a:t>, City</a:t>
            </a:r>
            <a:br>
              <a:rPr lang="en-IN" dirty="0"/>
            </a:br>
            <a:r>
              <a:rPr lang="en-IN" dirty="0"/>
              <a:t>FROM Customers</a:t>
            </a:r>
            <a:br>
              <a:rPr lang="en-IN" dirty="0"/>
            </a:br>
            <a:r>
              <a:rPr lang="en-IN" dirty="0"/>
              <a:t>WHERE Country = 'Brazil';</a:t>
            </a:r>
          </a:p>
        </p:txBody>
      </p:sp>
    </p:spTree>
    <p:extLst>
      <p:ext uri="{BB962C8B-B14F-4D97-AF65-F5344CB8AC3E}">
        <p14:creationId xmlns:p14="http://schemas.microsoft.com/office/powerpoint/2010/main" val="11035711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D7819-AE3C-A7C0-BE53-71E1D1969A7B}"/>
              </a:ext>
            </a:extLst>
          </p:cNvPr>
          <p:cNvSpPr>
            <a:spLocks noGrp="1"/>
          </p:cNvSpPr>
          <p:nvPr>
            <p:ph type="title"/>
          </p:nvPr>
        </p:nvSpPr>
        <p:spPr/>
        <p:txBody>
          <a:bodyPr/>
          <a:lstStyle/>
          <a:p>
            <a:r>
              <a:rPr lang="en-IN" b="1" dirty="0"/>
              <a:t>DROP VIEW</a:t>
            </a:r>
          </a:p>
        </p:txBody>
      </p:sp>
      <p:sp>
        <p:nvSpPr>
          <p:cNvPr id="3" name="Content Placeholder 2">
            <a:extLst>
              <a:ext uri="{FF2B5EF4-FFF2-40B4-BE49-F238E27FC236}">
                <a16:creationId xmlns:a16="http://schemas.microsoft.com/office/drawing/2014/main" id="{03771BDA-C0BA-336C-B409-3B933DA105CF}"/>
              </a:ext>
            </a:extLst>
          </p:cNvPr>
          <p:cNvSpPr>
            <a:spLocks noGrp="1"/>
          </p:cNvSpPr>
          <p:nvPr>
            <p:ph idx="1"/>
          </p:nvPr>
        </p:nvSpPr>
        <p:spPr/>
        <p:txBody>
          <a:bodyPr/>
          <a:lstStyle/>
          <a:p>
            <a:r>
              <a:rPr lang="en-IN" dirty="0"/>
              <a:t>DROP VIEW </a:t>
            </a:r>
            <a:r>
              <a:rPr lang="en-IN" i="1" dirty="0" err="1"/>
              <a:t>view_name</a:t>
            </a:r>
            <a:r>
              <a:rPr lang="en-IN" dirty="0"/>
              <a:t>;</a:t>
            </a:r>
          </a:p>
        </p:txBody>
      </p:sp>
    </p:spTree>
    <p:extLst>
      <p:ext uri="{BB962C8B-B14F-4D97-AF65-F5344CB8AC3E}">
        <p14:creationId xmlns:p14="http://schemas.microsoft.com/office/powerpoint/2010/main" val="22717318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316</TotalTime>
  <Words>1334</Words>
  <Application>Microsoft Office PowerPoint</Application>
  <PresentationFormat>Widescreen</PresentationFormat>
  <Paragraphs>299</Paragraphs>
  <Slides>27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Calibri Light</vt:lpstr>
      <vt:lpstr>Segoe UI</vt:lpstr>
      <vt:lpstr>Office Theme</vt:lpstr>
      <vt:lpstr>DBMS  </vt:lpstr>
      <vt:lpstr>MySQL Joins</vt:lpstr>
      <vt:lpstr>Types of JOINs</vt:lpstr>
      <vt:lpstr>INNER JOIN</vt:lpstr>
      <vt:lpstr>PowerPoint Presentation</vt:lpstr>
      <vt:lpstr>PowerPoint Presentation</vt:lpstr>
      <vt:lpstr>PowerPoint Presentation</vt:lpstr>
      <vt:lpstr>JOIN Multiple Tables</vt:lpstr>
      <vt:lpstr>LEFT JOIN</vt:lpstr>
      <vt:lpstr>PowerPoint Presentation</vt:lpstr>
      <vt:lpstr>PowerPoint Presentation</vt:lpstr>
      <vt:lpstr>PowerPoint Presentation</vt:lpstr>
      <vt:lpstr>RIGHT JOIN</vt:lpstr>
      <vt:lpstr>PowerPoint Presentation</vt:lpstr>
      <vt:lpstr>PowerPoint Presentation</vt:lpstr>
      <vt:lpstr>PowerPoint Presentation</vt:lpstr>
      <vt:lpstr>FULL JOIN</vt:lpstr>
      <vt:lpstr>PowerPoint Presentation</vt:lpstr>
      <vt:lpstr>PowerPoint Presentation</vt:lpstr>
      <vt:lpstr>PowerPoint Presentation</vt:lpstr>
      <vt:lpstr>PowerPoint Presentation</vt:lpstr>
      <vt:lpstr>SQL Views</vt:lpstr>
      <vt:lpstr>CREATE VIEW Syntax</vt:lpstr>
      <vt:lpstr>PowerPoint Presentation</vt:lpstr>
      <vt:lpstr>ALTER VIEW Statement</vt:lpstr>
      <vt:lpstr>CREATE OR REPLACE VIEW Syntax</vt:lpstr>
      <vt:lpstr>DROP 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babu</dc:creator>
  <cp:lastModifiedBy>john babu</cp:lastModifiedBy>
  <cp:revision>48</cp:revision>
  <dcterms:created xsi:type="dcterms:W3CDTF">2026-09-15T15:00:32Z</dcterms:created>
  <dcterms:modified xsi:type="dcterms:W3CDTF">2026-09-22T10:23:08Z</dcterms:modified>
</cp:coreProperties>
</file>