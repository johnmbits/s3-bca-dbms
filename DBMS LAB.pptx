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80" r:id="rId8"/>
    <p:sldId id="262" r:id="rId9"/>
    <p:sldId id="264" r:id="rId10"/>
    <p:sldId id="265" r:id="rId11"/>
    <p:sldId id="266" r:id="rId12"/>
    <p:sldId id="263" r:id="rId13"/>
    <p:sldId id="267" r:id="rId14"/>
    <p:sldId id="282" r:id="rId15"/>
    <p:sldId id="268" r:id="rId16"/>
    <p:sldId id="269" r:id="rId17"/>
    <p:sldId id="272" r:id="rId18"/>
    <p:sldId id="281" r:id="rId19"/>
    <p:sldId id="270" r:id="rId20"/>
    <p:sldId id="271" r:id="rId21"/>
    <p:sldId id="273" r:id="rId22"/>
    <p:sldId id="274" r:id="rId23"/>
    <p:sldId id="275" r:id="rId24"/>
    <p:sldId id="277" r:id="rId25"/>
    <p:sldId id="278" r:id="rId26"/>
    <p:sldId id="279" r:id="rId27"/>
    <p:sldId id="305" r:id="rId28"/>
    <p:sldId id="306" r:id="rId29"/>
    <p:sldId id="307" r:id="rId30"/>
    <p:sldId id="276" r:id="rId31"/>
    <p:sldId id="308" r:id="rId32"/>
    <p:sldId id="283" r:id="rId33"/>
    <p:sldId id="284" r:id="rId34"/>
    <p:sldId id="285" r:id="rId35"/>
    <p:sldId id="287" r:id="rId36"/>
    <p:sldId id="288" r:id="rId37"/>
    <p:sldId id="309" r:id="rId38"/>
    <p:sldId id="310" r:id="rId39"/>
    <p:sldId id="311" r:id="rId40"/>
    <p:sldId id="313" r:id="rId41"/>
    <p:sldId id="312" r:id="rId42"/>
    <p:sldId id="289" r:id="rId43"/>
    <p:sldId id="290" r:id="rId44"/>
    <p:sldId id="291" r:id="rId45"/>
    <p:sldId id="293" r:id="rId46"/>
    <p:sldId id="294" r:id="rId47"/>
    <p:sldId id="295" r:id="rId48"/>
    <p:sldId id="296" r:id="rId49"/>
    <p:sldId id="297" r:id="rId50"/>
    <p:sldId id="292" r:id="rId51"/>
    <p:sldId id="299" r:id="rId52"/>
    <p:sldId id="304" r:id="rId53"/>
    <p:sldId id="314" r:id="rId54"/>
    <p:sldId id="315" r:id="rId55"/>
    <p:sldId id="316" r:id="rId56"/>
    <p:sldId id="318" r:id="rId57"/>
    <p:sldId id="319" r:id="rId58"/>
    <p:sldId id="317" r:id="rId59"/>
    <p:sldId id="320" r:id="rId60"/>
    <p:sldId id="321" r:id="rId61"/>
    <p:sldId id="323" r:id="rId62"/>
    <p:sldId id="324" r:id="rId63"/>
    <p:sldId id="325" r:id="rId64"/>
    <p:sldId id="326" r:id="rId65"/>
    <p:sldId id="327" r:id="rId66"/>
    <p:sldId id="328" r:id="rId67"/>
    <p:sldId id="329" r:id="rId68"/>
    <p:sldId id="330" r:id="rId69"/>
    <p:sldId id="331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E8BA-2535-D75B-D179-84E404149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82F61-1587-0DAE-2C8F-986857D2C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184C-FB04-E84C-1E51-E925D2A2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0EF24-434E-86C5-96F8-F28B3341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A8137-BF6F-BE1C-C9A3-2F42394C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901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625E-20C1-7B8E-CF46-55A7D8C8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994AA-C66A-F256-CA38-0273418F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CD253-0799-00C8-307B-546F6A54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958C8-0D4B-CD6B-0C62-92AE105C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FE771-9DA3-4B63-7E19-8709C12F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73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2824-8434-EA90-D128-5098D6A20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85280-AB22-E4D9-A444-B53426E34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78EC9-E74D-E818-29EA-8E31CF9F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36EB7-C38B-ED08-4F10-19593E56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CA43C-F15A-FD44-12C5-976099BD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03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E621B-CA42-37DA-6A56-CAA817242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5AF5-6DE3-F5D4-6B84-3D98DE5CA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6B4F6-7684-F1A5-6E77-6F99A58FB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1DE07-89A9-0BA3-5983-3E8B57EF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F621A-8852-F85A-AC55-633EB0563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82E1E-40CC-4A72-B935-88247F63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949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4039-AAE1-97D4-416B-FB7C2ED25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5629D-2138-CED4-2B3F-B46EDE19E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4E232-7982-ED82-46BF-B5965C463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D3741-7C6E-B545-E803-0F7CADE01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28C14E-BA61-484C-47D1-5EBD772D9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4A63B-3B6F-8841-A540-431A3D554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0AFD4-B290-35B1-4109-2F6A70728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5D5E4-0C4C-FD2E-A61C-982F9D71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73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4156B-A04C-0E05-685E-16B831EF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326D35-E72B-8BB0-3A0B-F31BD386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8F2AC-EFB4-3899-CFD6-F04B5A9E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80482-EA36-52D3-BE98-140937DA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10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256689-FC08-5D31-E9FC-CC53C4DD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0B84A-47B3-1B41-BEFF-0EA46765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F06E5-29E7-5AB4-1678-A71FC324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454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004E-0988-190A-D822-58867A784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CFB75-665A-8627-C9B0-4E652ED61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51B50-57FB-C616-D617-52F23F610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20AB8-01C2-8D03-546C-3B4EB156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2DEEF-63EC-AEBF-3D15-B662EA89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F5B62-4BA5-D679-6C62-37B9B9D80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663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04A6-9376-5CB8-A545-9271292A2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B131FE-4A48-5083-5748-C95500C6F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6263B-9922-3255-6644-AB1B0EC22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14E1F-3C9F-17FA-43E2-CC1B45AF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583D9-20C2-41A8-C13A-8DD6C054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D910C-E7F7-DCAF-47E2-3946DA4B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657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2D9E-0F94-F902-446E-99C7F72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4EB9C-1A85-307C-8525-AF0CEEAB1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1E4A8-1A15-6E36-C368-ED6FAAE4A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94BB6-BE6D-400D-0466-1764C8DE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87F91-2646-A1D5-56EF-1D0DE635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022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FC111-A948-31D2-375A-3B52C4D8D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B9A07-229D-6AB2-EC2C-A2E328864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B57F4-639E-9907-E039-A5E802AC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4DC5F-9CB5-36E6-D5B5-23E3A8F4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68A56-9E2E-5E1D-4546-52DBC5F8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38A04-25CD-B6CD-723E-FC2C1191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DB968-6887-3185-DCFC-744C2B0F6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F7917-0E5F-8D77-F696-E71923CA6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7122C-795E-475F-A603-1EE9E868497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0C20E-3F00-38EE-916E-2EE025237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679D7-D310-FEFD-C4C0-EAB859487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59D0F-41E1-43B5-8B2E-D461983D9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599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sql_alter.asp" TargetMode="External"/><Relationship Id="rId2" Type="http://schemas.openxmlformats.org/officeDocument/2006/relationships/hyperlink" Target="https://www.w3schools.com/sql/sql_create_table.asp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sql/sql_create_index.asp" TargetMode="External"/><Relationship Id="rId3" Type="http://schemas.openxmlformats.org/officeDocument/2006/relationships/hyperlink" Target="https://www.w3schools.com/sql/sql_unique.asp" TargetMode="External"/><Relationship Id="rId7" Type="http://schemas.openxmlformats.org/officeDocument/2006/relationships/hyperlink" Target="https://www.w3schools.com/sql/sql_default.asp" TargetMode="External"/><Relationship Id="rId2" Type="http://schemas.openxmlformats.org/officeDocument/2006/relationships/hyperlink" Target="https://www.w3schools.com/sql/sql_notnull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sql/sql_check.asp" TargetMode="External"/><Relationship Id="rId5" Type="http://schemas.openxmlformats.org/officeDocument/2006/relationships/hyperlink" Target="https://www.w3schools.com/sql/sql_foreignkey.asp" TargetMode="External"/><Relationship Id="rId4" Type="http://schemas.openxmlformats.org/officeDocument/2006/relationships/hyperlink" Target="https://www.w3schools.com/sql/sql_primarykey.asp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FB6B-D6B3-26C6-A99B-95A8150B0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DBMS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DDC77-62C5-F09C-9558-A6D4406FCC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S3 BCA</a:t>
            </a:r>
          </a:p>
        </p:txBody>
      </p:sp>
    </p:spTree>
    <p:extLst>
      <p:ext uri="{BB962C8B-B14F-4D97-AF65-F5344CB8AC3E}">
        <p14:creationId xmlns:p14="http://schemas.microsoft.com/office/powerpoint/2010/main" val="1102867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C71D-2B57-7990-3F9C-9BC15BADA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Login to MySQL as the Root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3CD89-C902-34D4-407F-0F5341C03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mysql</a:t>
            </a:r>
            <a:r>
              <a:rPr lang="en-IN" dirty="0"/>
              <a:t>  -u root -p     or </a:t>
            </a:r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mysql</a:t>
            </a:r>
            <a:endParaRPr lang="en-IN" dirty="0"/>
          </a:p>
          <a:p>
            <a:r>
              <a:rPr lang="en-IN" dirty="0"/>
              <a:t>Enter password: root    or   mbits111</a:t>
            </a:r>
          </a:p>
          <a:p>
            <a:r>
              <a:rPr lang="en-IN" dirty="0"/>
              <a:t>create database MCA;</a:t>
            </a:r>
          </a:p>
          <a:p>
            <a:r>
              <a:rPr lang="en-IN" dirty="0"/>
              <a:t>use MCA;</a:t>
            </a:r>
          </a:p>
          <a:p>
            <a:r>
              <a:rPr lang="en-IN" dirty="0"/>
              <a:t>CREATE TABLE student ( </a:t>
            </a:r>
            <a:r>
              <a:rPr lang="en-IN" dirty="0" err="1"/>
              <a:t>RollNo</a:t>
            </a:r>
            <a:r>
              <a:rPr lang="en-IN" dirty="0"/>
              <a:t> INT PRIMARY KEY, Name VARCHAR(255),     Course VARCHAR(50), Year INT ); </a:t>
            </a:r>
          </a:p>
          <a:p>
            <a:r>
              <a:rPr lang="en-IN" dirty="0" err="1"/>
              <a:t>desc</a:t>
            </a:r>
            <a:r>
              <a:rPr lang="en-IN" dirty="0"/>
              <a:t> student;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 Describe the Table Structure “student”</a:t>
            </a:r>
          </a:p>
        </p:txBody>
      </p:sp>
    </p:spTree>
    <p:extLst>
      <p:ext uri="{BB962C8B-B14F-4D97-AF65-F5344CB8AC3E}">
        <p14:creationId xmlns:p14="http://schemas.microsoft.com/office/powerpoint/2010/main" val="170032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CACE2-9533-A8CF-BEB9-13BA06354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95"/>
            <a:ext cx="10515600" cy="607326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4C8945-741F-B904-0E82-0E6899A17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53" y="103695"/>
            <a:ext cx="10420547" cy="60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2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B561-CD4B-AC8A-E88E-F954F97E2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Data Definition Language (DDL)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069BE-DB66-BB5A-418D-1BAD277E8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DDL (Data Definition Language)</a:t>
            </a:r>
            <a:r>
              <a:rPr lang="en-IN" dirty="0"/>
              <a:t> commands in SQL are used to define, modify, and delete the structure of database objects such as tables, schemas, indexes, and views.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DDL is used for </a:t>
            </a:r>
            <a:r>
              <a:rPr lang="en-IN" u="sng" dirty="0"/>
              <a:t>specifying the database schema</a:t>
            </a:r>
            <a:r>
              <a:rPr lang="en-IN" dirty="0"/>
              <a:t>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It is used for creating tables, schema, indexes, constraints etc. in database.</a:t>
            </a:r>
          </a:p>
        </p:txBody>
      </p:sp>
    </p:spTree>
    <p:extLst>
      <p:ext uri="{BB962C8B-B14F-4D97-AF65-F5344CB8AC3E}">
        <p14:creationId xmlns:p14="http://schemas.microsoft.com/office/powerpoint/2010/main" val="112982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C952-A708-DEE5-E566-1B389D2F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3DD0-4C72-D38A-CC0C-704B2892E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create the database instance – </a:t>
            </a:r>
            <a:r>
              <a:rPr lang="en-IN" b="1" dirty="0"/>
              <a:t>CREATE</a:t>
            </a: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    </a:t>
            </a:r>
            <a:r>
              <a:rPr lang="en-IN" dirty="0"/>
              <a:t> CREATE DATABASE </a:t>
            </a:r>
            <a:r>
              <a:rPr lang="en-IN" dirty="0" err="1"/>
              <a:t>databaseName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You can verify the successful creation of database using show databases statement.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 SHOW DATABASES;</a:t>
            </a:r>
          </a:p>
        </p:txBody>
      </p:sp>
    </p:spTree>
    <p:extLst>
      <p:ext uri="{BB962C8B-B14F-4D97-AF65-F5344CB8AC3E}">
        <p14:creationId xmlns:p14="http://schemas.microsoft.com/office/powerpoint/2010/main" val="144878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B7C9-577C-11EF-4937-07537534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DROP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89B2A-B34C-C2E6-B8D1-1D8104A1E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DROP DATABASE statement is used to permanently delete an existing SQL database.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DROP DATABASE </a:t>
            </a:r>
            <a:r>
              <a:rPr lang="en-IN" i="1" dirty="0" err="1"/>
              <a:t>databasename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207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AEA9-8C7A-5AF2-1DBB-A8E3913EC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RENAME DATABASE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36731-B374-5605-B5A5-B5C0854D5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</a:t>
            </a:r>
            <a:r>
              <a:rPr lang="en-IN" b="1" dirty="0"/>
              <a:t>SQL RENAME DATABASE...TO</a:t>
            </a:r>
            <a:r>
              <a:rPr lang="en-IN" dirty="0"/>
              <a:t> statement is used to rename an existing user-created database.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RENAME DATABASE </a:t>
            </a:r>
            <a:r>
              <a:rPr lang="en-IN" dirty="0" err="1"/>
              <a:t>OldDatabaseName</a:t>
            </a:r>
            <a:r>
              <a:rPr lang="en-IN" dirty="0"/>
              <a:t> TO </a:t>
            </a:r>
            <a:r>
              <a:rPr lang="en-IN" dirty="0" err="1"/>
              <a:t>NewDatabaseName</a:t>
            </a:r>
            <a:r>
              <a:rPr lang="en-IN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959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D3DA-4978-5BE0-359F-F8078FF17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SQL BACKUP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63C53-5B01-F8CE-7C33-823CF9248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BACKUP DATABASE statement is used in SQL Server to create a full backup of an existing SQL database.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BACKUP DATABASE </a:t>
            </a:r>
            <a:r>
              <a:rPr lang="en-IN" i="1" dirty="0" err="1"/>
              <a:t>databasename</a:t>
            </a:r>
            <a:br>
              <a:rPr lang="en-IN" dirty="0"/>
            </a:br>
            <a:r>
              <a:rPr lang="en-IN" dirty="0"/>
              <a:t>     TO DISK = '</a:t>
            </a:r>
            <a:r>
              <a:rPr lang="en-IN" i="1" dirty="0" err="1"/>
              <a:t>filepath</a:t>
            </a:r>
            <a:r>
              <a:rPr lang="en-IN" dirty="0"/>
              <a:t>’;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67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52206-BAAB-3DB3-1806-D0E2CD7A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Data Types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94423-90C4-63DD-9B0A-9C326D420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SQL, </a:t>
            </a:r>
            <a:r>
              <a:rPr lang="en-IN" b="1" dirty="0"/>
              <a:t>data types</a:t>
            </a:r>
            <a:r>
              <a:rPr lang="en-IN" dirty="0"/>
              <a:t> define the kind of values a column can store, such as numbers, text, dates, or binary data.</a:t>
            </a:r>
          </a:p>
          <a:p>
            <a:r>
              <a:rPr lang="en-IN" b="1" dirty="0"/>
              <a:t>Numeric Data Types : </a:t>
            </a:r>
            <a:r>
              <a:rPr lang="en-IN" dirty="0"/>
              <a:t>Used for storing numbers.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3995FB-5647-10F3-D034-366312615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497050"/>
              </p:ext>
            </p:extLst>
          </p:nvPr>
        </p:nvGraphicFramePr>
        <p:xfrm>
          <a:off x="838199" y="3233394"/>
          <a:ext cx="10515600" cy="314855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713266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692119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58623783"/>
                    </a:ext>
                  </a:extLst>
                </a:gridCol>
              </a:tblGrid>
              <a:tr h="3011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Data Type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Description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Example Values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818009"/>
                  </a:ext>
                </a:extLst>
              </a:tr>
              <a:tr h="114112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 / </a:t>
                      </a: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INTEGER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Whole numbers (±2 billion range)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42, -100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22702"/>
                  </a:ext>
                </a:extLst>
              </a:tr>
              <a:tr h="3011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SMALLINT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Smaller whole numbers (±32K range)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120, -500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011192"/>
                  </a:ext>
                </a:extLst>
              </a:tr>
              <a:tr h="3011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BIGINT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Very large integers (±9 quintillion)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9000000000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744867"/>
                  </a:ext>
                </a:extLst>
              </a:tr>
              <a:tr h="5018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DECIMAL(p,s)</a:t>
                      </a: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 / </a:t>
                      </a: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NUMERIC(p,s)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Fixed-point numbers with precision </a:t>
                      </a: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 and scale </a:t>
                      </a: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s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123.45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33791"/>
                  </a:ext>
                </a:extLst>
              </a:tr>
              <a:tr h="3011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 / </a:t>
                      </a: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REAL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Approximate floating-point numbers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3.14159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97915"/>
                  </a:ext>
                </a:extLst>
              </a:tr>
              <a:tr h="30111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DOUBLE PRECISION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Higher precision floating-point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 dirty="0">
                          <a:effectLst/>
                          <a:latin typeface="Roboto" panose="02000000000000000000" pitchFamily="2" charset="0"/>
                        </a:rPr>
                        <a:t>2.718281828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385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771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D099-6324-2C4E-6A71-23E913F1E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String (Character) Data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925CB-8934-C280-1B09-9F06A1674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Used for storing text.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730F66-69A9-694C-DC27-EB0966C8D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544455"/>
              </p:ext>
            </p:extLst>
          </p:nvPr>
        </p:nvGraphicFramePr>
        <p:xfrm>
          <a:off x="1234911" y="2516956"/>
          <a:ext cx="9265449" cy="3318234"/>
        </p:xfrm>
        <a:graphic>
          <a:graphicData uri="http://schemas.openxmlformats.org/drawingml/2006/table">
            <a:tbl>
              <a:tblPr/>
              <a:tblGrid>
                <a:gridCol w="3088483">
                  <a:extLst>
                    <a:ext uri="{9D8B030D-6E8A-4147-A177-3AD203B41FA5}">
                      <a16:colId xmlns:a16="http://schemas.microsoft.com/office/drawing/2014/main" val="649922599"/>
                    </a:ext>
                  </a:extLst>
                </a:gridCol>
                <a:gridCol w="3088483">
                  <a:extLst>
                    <a:ext uri="{9D8B030D-6E8A-4147-A177-3AD203B41FA5}">
                      <a16:colId xmlns:a16="http://schemas.microsoft.com/office/drawing/2014/main" val="279563292"/>
                    </a:ext>
                  </a:extLst>
                </a:gridCol>
                <a:gridCol w="3088483">
                  <a:extLst>
                    <a:ext uri="{9D8B030D-6E8A-4147-A177-3AD203B41FA5}">
                      <a16:colId xmlns:a16="http://schemas.microsoft.com/office/drawing/2014/main" val="794260246"/>
                    </a:ext>
                  </a:extLst>
                </a:gridCol>
              </a:tblGrid>
              <a:tr h="5530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Data Type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Description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Example Values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171867"/>
                  </a:ext>
                </a:extLst>
              </a:tr>
              <a:tr h="5530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CHAR(n)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Fixed-length string (padded with spaces)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'ABC'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38255"/>
                  </a:ext>
                </a:extLst>
              </a:tr>
              <a:tr h="5530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VARCHAR(n)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Variable-length string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'Hello'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050351"/>
                  </a:ext>
                </a:extLst>
              </a:tr>
              <a:tr h="5530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TEXT</a:t>
                      </a: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 / </a:t>
                      </a: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CLOB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Large text data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'This is a long paragraph...'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741206"/>
                  </a:ext>
                </a:extLst>
              </a:tr>
              <a:tr h="5530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NCHAR(n)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Fixed-length Unicode string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'हिंदी'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45952"/>
                  </a:ext>
                </a:extLst>
              </a:tr>
              <a:tr h="5530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NVARCHAR(n)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Variable-length Unicode string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 dirty="0">
                          <a:effectLst/>
                          <a:latin typeface="Courier New" panose="02070309020205020404" pitchFamily="49" charset="0"/>
                        </a:rPr>
                        <a:t>'</a:t>
                      </a:r>
                      <a:r>
                        <a:rPr lang="en-IN" sz="1200" b="0" i="0" dirty="0" err="1">
                          <a:effectLst/>
                          <a:latin typeface="Courier New" panose="02070309020205020404" pitchFamily="49" charset="0"/>
                        </a:rPr>
                        <a:t>مرحبا</a:t>
                      </a:r>
                      <a:r>
                        <a:rPr lang="en-IN" sz="1200" b="0" i="0" dirty="0">
                          <a:effectLst/>
                          <a:latin typeface="Courier New" panose="02070309020205020404" pitchFamily="49" charset="0"/>
                        </a:rPr>
                        <a:t>'</a:t>
                      </a:r>
                      <a:endParaRPr lang="en-IN" sz="1200" b="0" i="0" dirty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235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774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36BE-92FE-0257-5611-F8CA6B44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Date and Time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B9FA8-CC97-2DAD-897E-10C74FFFF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Used for storing temporal values.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3297CE-40FE-9F9B-395B-B0531C5CB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744017"/>
              </p:ext>
            </p:extLst>
          </p:nvPr>
        </p:nvGraphicFramePr>
        <p:xfrm>
          <a:off x="1027522" y="2507529"/>
          <a:ext cx="9472839" cy="3035430"/>
        </p:xfrm>
        <a:graphic>
          <a:graphicData uri="http://schemas.openxmlformats.org/drawingml/2006/table">
            <a:tbl>
              <a:tblPr/>
              <a:tblGrid>
                <a:gridCol w="3157613">
                  <a:extLst>
                    <a:ext uri="{9D8B030D-6E8A-4147-A177-3AD203B41FA5}">
                      <a16:colId xmlns:a16="http://schemas.microsoft.com/office/drawing/2014/main" val="2914587932"/>
                    </a:ext>
                  </a:extLst>
                </a:gridCol>
                <a:gridCol w="3157613">
                  <a:extLst>
                    <a:ext uri="{9D8B030D-6E8A-4147-A177-3AD203B41FA5}">
                      <a16:colId xmlns:a16="http://schemas.microsoft.com/office/drawing/2014/main" val="624522110"/>
                    </a:ext>
                  </a:extLst>
                </a:gridCol>
                <a:gridCol w="3157613">
                  <a:extLst>
                    <a:ext uri="{9D8B030D-6E8A-4147-A177-3AD203B41FA5}">
                      <a16:colId xmlns:a16="http://schemas.microsoft.com/office/drawing/2014/main" val="1910078228"/>
                    </a:ext>
                  </a:extLst>
                </a:gridCol>
              </a:tblGrid>
              <a:tr h="5059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Data Type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Description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Example Values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369820"/>
                  </a:ext>
                </a:extLst>
              </a:tr>
              <a:tr h="5059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DATE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Stores date only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2026-07-08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872967"/>
                  </a:ext>
                </a:extLst>
              </a:tr>
              <a:tr h="5059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TIME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Stores time only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 dirty="0">
                          <a:effectLst/>
                          <a:latin typeface="Courier New" panose="02070309020205020404" pitchFamily="49" charset="0"/>
                        </a:rPr>
                        <a:t>14:35:00</a:t>
                      </a:r>
                      <a:endParaRPr lang="en-IN" sz="1200" b="0" i="0" dirty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455029"/>
                  </a:ext>
                </a:extLst>
              </a:tr>
              <a:tr h="5059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DATETIME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Stores date and time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2026-07-08 14:35:00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688512"/>
                  </a:ext>
                </a:extLst>
              </a:tr>
              <a:tr h="5059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TIMESTAMP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Date/time with timezone or auto-update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2026-07-08 14:35:00+05:30</a:t>
                      </a:r>
                      <a:endParaRPr lang="en-IN" sz="1200" b="0" i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762337"/>
                  </a:ext>
                </a:extLst>
              </a:tr>
              <a:tr h="5059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Courier New" panose="02070309020205020404" pitchFamily="49" charset="0"/>
                        </a:rPr>
                        <a:t>YEAR</a:t>
                      </a: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 (MySQL)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>
                          <a:effectLst/>
                          <a:latin typeface="Roboto" panose="02000000000000000000" pitchFamily="2" charset="0"/>
                        </a:rPr>
                        <a:t>Stores year only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 dirty="0">
                          <a:effectLst/>
                          <a:latin typeface="Courier New" panose="02070309020205020404" pitchFamily="49" charset="0"/>
                        </a:rPr>
                        <a:t>2026</a:t>
                      </a:r>
                      <a:endParaRPr lang="en-IN" sz="1200" b="0" i="0" dirty="0">
                        <a:effectLst/>
                        <a:latin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038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095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90F9-0223-48A3-DD57-C5641A97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CREATE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0F6C7-2381-D532-73C8-33CED270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 CREATE TABLE statement is used to create a new table in a database.</a:t>
            </a:r>
          </a:p>
          <a:p>
            <a:r>
              <a:rPr lang="en-IN" dirty="0"/>
              <a:t>To add a column in a table, use the following syntax: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IN" dirty="0"/>
              <a:t>CREATE TABLE </a:t>
            </a:r>
            <a:r>
              <a:rPr lang="en-IN" i="1" dirty="0" err="1"/>
              <a:t>table_name</a:t>
            </a:r>
            <a:r>
              <a:rPr lang="en-IN" i="1" dirty="0"/>
              <a:t> 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 	 </a:t>
            </a:r>
            <a:r>
              <a:rPr lang="en-IN" i="1" dirty="0"/>
              <a:t>column1 datatype constraint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  	</a:t>
            </a:r>
            <a:r>
              <a:rPr lang="en-IN" i="1" dirty="0"/>
              <a:t>column2 datatype constraint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  	</a:t>
            </a:r>
            <a:r>
              <a:rPr lang="en-IN" i="1" dirty="0"/>
              <a:t>column3 datatype constraint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  	....</a:t>
            </a:r>
            <a:br>
              <a:rPr lang="en-IN" dirty="0"/>
            </a:br>
            <a:r>
              <a:rPr lang="en-IN" dirty="0"/>
              <a:t>	);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IN" dirty="0"/>
              <a:t>CREATE TABLE Student(</a:t>
            </a:r>
            <a:r>
              <a:rPr lang="en-IN" dirty="0" err="1"/>
              <a:t>Roll_No</a:t>
            </a:r>
            <a:r>
              <a:rPr lang="en-IN" dirty="0"/>
              <a:t> </a:t>
            </a:r>
            <a:r>
              <a:rPr lang="en-IN" dirty="0" err="1"/>
              <a:t>INT,Name</a:t>
            </a:r>
            <a:r>
              <a:rPr lang="en-IN" dirty="0"/>
              <a:t> VARCHAR(50));</a:t>
            </a:r>
          </a:p>
        </p:txBody>
      </p:sp>
    </p:spTree>
    <p:extLst>
      <p:ext uri="{BB962C8B-B14F-4D97-AF65-F5344CB8AC3E}">
        <p14:creationId xmlns:p14="http://schemas.microsoft.com/office/powerpoint/2010/main" val="89368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E82D-D688-BF1E-AED2-D37738EF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Create New Table From Existing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49D36-5387-0DED-84A2-C25FF19F1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CREATE TABLE statement can also be used to create a new table that copies some/all data from an existing table.</a:t>
            </a:r>
          </a:p>
          <a:p>
            <a:pPr marL="0" indent="0">
              <a:buNone/>
            </a:pPr>
            <a:r>
              <a:rPr lang="en-IN" dirty="0"/>
              <a:t>	CREATE TABLE </a:t>
            </a:r>
            <a:r>
              <a:rPr lang="en-IN" i="1" dirty="0" err="1"/>
              <a:t>new_table</a:t>
            </a:r>
            <a:r>
              <a:rPr lang="en-IN" dirty="0"/>
              <a:t> AS</a:t>
            </a:r>
            <a:br>
              <a:rPr lang="en-IN" dirty="0"/>
            </a:br>
            <a:r>
              <a:rPr lang="en-IN" dirty="0"/>
              <a:t>	SELECT </a:t>
            </a:r>
            <a:r>
              <a:rPr lang="en-IN" i="1" dirty="0"/>
              <a:t>column1, column2,...</a:t>
            </a:r>
            <a:br>
              <a:rPr lang="en-IN" dirty="0"/>
            </a:br>
            <a:r>
              <a:rPr lang="en-IN" dirty="0"/>
              <a:t>	FROM </a:t>
            </a:r>
            <a:r>
              <a:rPr lang="en-IN" i="1" dirty="0" err="1"/>
              <a:t>existing_table</a:t>
            </a:r>
            <a:br>
              <a:rPr lang="en-IN" dirty="0"/>
            </a:br>
            <a:r>
              <a:rPr lang="en-IN" dirty="0"/>
              <a:t>	WHERE ....;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CREATE TABLE </a:t>
            </a:r>
            <a:r>
              <a:rPr lang="en-IN" dirty="0" err="1"/>
              <a:t>GermanCustomers</a:t>
            </a:r>
            <a:r>
              <a:rPr lang="en-IN" dirty="0"/>
              <a:t> AS</a:t>
            </a:r>
            <a:br>
              <a:rPr lang="en-IN" dirty="0"/>
            </a:br>
            <a:r>
              <a:rPr lang="en-IN" dirty="0"/>
              <a:t>SELECT * FROM Customers</a:t>
            </a:r>
            <a:br>
              <a:rPr lang="en-IN" dirty="0"/>
            </a:br>
            <a:r>
              <a:rPr lang="en-IN" dirty="0"/>
              <a:t>WHERE Country = 'Germany';</a:t>
            </a:r>
          </a:p>
        </p:txBody>
      </p:sp>
    </p:spTree>
    <p:extLst>
      <p:ext uri="{BB962C8B-B14F-4D97-AF65-F5344CB8AC3E}">
        <p14:creationId xmlns:p14="http://schemas.microsoft.com/office/powerpoint/2010/main" val="64051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FB416-3009-798A-17F3-D3765270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View Table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0AB06-BC20-8F4D-D0F3-084B29C64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DESC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4148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946B-CADE-5172-4EE0-8DE249E6F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DROP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283FC-CC52-BEF6-F423-5BFFBE45A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DROP TABLE statement is used to permanently delete an existing table in a database.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 </a:t>
            </a:r>
            <a:r>
              <a:rPr lang="en-IN" dirty="0"/>
              <a:t>DROP TABLE </a:t>
            </a:r>
            <a:r>
              <a:rPr lang="en-IN" i="1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DROP TABLE IF EXISTS </a:t>
            </a:r>
            <a:r>
              <a:rPr lang="en-IN" i="1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183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6515-4F18-31CD-DB01-7B4F9E73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TRUNCATE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D05C1-7A6C-366E-A6F7-620261FFF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TRUNCATE TABLE statement is used to delete all the records in a table, but it keeps the table structure, columns and constraints.</a:t>
            </a:r>
          </a:p>
          <a:p>
            <a:pPr marL="0" indent="0">
              <a:buNone/>
            </a:pPr>
            <a:r>
              <a:rPr lang="en-IN" dirty="0"/>
              <a:t> 	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 TRUNCATE TABLE </a:t>
            </a:r>
            <a:r>
              <a:rPr lang="en-IN" i="1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053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B441-3A8B-039A-2591-766FFC44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INSERT (DML)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DA065-15BC-AD4E-47E1-80C943969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INSERT INTO statement is used to insert new records in a table.</a:t>
            </a:r>
          </a:p>
          <a:p>
            <a:pPr marL="0" indent="0">
              <a:buNone/>
            </a:pPr>
            <a:r>
              <a:rPr lang="en-IN" dirty="0"/>
              <a:t>	INSERT INTO </a:t>
            </a:r>
            <a:r>
              <a:rPr lang="en-IN" i="1" dirty="0" err="1"/>
              <a:t>table_name</a:t>
            </a:r>
            <a:r>
              <a:rPr lang="en-IN" dirty="0"/>
              <a:t> (</a:t>
            </a:r>
            <a:r>
              <a:rPr lang="en-IN" i="1" dirty="0"/>
              <a:t>column1</a:t>
            </a:r>
            <a:r>
              <a:rPr lang="en-IN" dirty="0"/>
              <a:t>,</a:t>
            </a:r>
            <a:r>
              <a:rPr lang="en-IN" i="1" dirty="0"/>
              <a:t> column2</a:t>
            </a:r>
            <a:r>
              <a:rPr lang="en-IN" dirty="0"/>
              <a:t>,</a:t>
            </a:r>
            <a:r>
              <a:rPr lang="en-IN" i="1" dirty="0"/>
              <a:t> column3</a:t>
            </a:r>
            <a:r>
              <a:rPr lang="en-IN" dirty="0"/>
              <a:t>, ...)</a:t>
            </a:r>
            <a:br>
              <a:rPr lang="en-IN" dirty="0"/>
            </a:br>
            <a:r>
              <a:rPr lang="en-IN" dirty="0"/>
              <a:t>	VALUES (</a:t>
            </a:r>
            <a:r>
              <a:rPr lang="en-IN" i="1" dirty="0"/>
              <a:t>value1</a:t>
            </a:r>
            <a:r>
              <a:rPr lang="en-IN" dirty="0"/>
              <a:t>,</a:t>
            </a:r>
            <a:r>
              <a:rPr lang="en-IN" i="1" dirty="0"/>
              <a:t> value2</a:t>
            </a:r>
            <a:r>
              <a:rPr lang="en-IN" dirty="0"/>
              <a:t>,</a:t>
            </a:r>
            <a:r>
              <a:rPr lang="en-IN" i="1" dirty="0"/>
              <a:t> value3</a:t>
            </a:r>
            <a:r>
              <a:rPr lang="en-IN" dirty="0"/>
              <a:t>, ...);</a:t>
            </a:r>
          </a:p>
          <a:p>
            <a:pPr marL="0" indent="0">
              <a:buNone/>
            </a:pPr>
            <a:r>
              <a:rPr lang="en-IN" dirty="0"/>
              <a:t>				OR</a:t>
            </a:r>
          </a:p>
          <a:p>
            <a:pPr marL="0" indent="0">
              <a:buNone/>
            </a:pPr>
            <a:r>
              <a:rPr lang="en-IN" dirty="0"/>
              <a:t>	INSERT INTO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	VALUES (</a:t>
            </a:r>
            <a:r>
              <a:rPr lang="en-IN" i="1" dirty="0"/>
              <a:t>value1</a:t>
            </a:r>
            <a:r>
              <a:rPr lang="en-IN" dirty="0"/>
              <a:t>,</a:t>
            </a:r>
            <a:r>
              <a:rPr lang="en-IN" i="1" dirty="0"/>
              <a:t> value2</a:t>
            </a:r>
            <a:r>
              <a:rPr lang="en-IN" dirty="0"/>
              <a:t>,</a:t>
            </a:r>
            <a:r>
              <a:rPr lang="en-IN" i="1" dirty="0"/>
              <a:t> value3</a:t>
            </a:r>
            <a:r>
              <a:rPr lang="en-IN" dirty="0"/>
              <a:t>, ...);</a:t>
            </a:r>
          </a:p>
        </p:txBody>
      </p:sp>
    </p:spTree>
    <p:extLst>
      <p:ext uri="{BB962C8B-B14F-4D97-AF65-F5344CB8AC3E}">
        <p14:creationId xmlns:p14="http://schemas.microsoft.com/office/powerpoint/2010/main" val="3947105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9D52-9B9B-12E2-71FD-22DCB2DFD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255B4-B59B-6344-84EE-6BF8F84C1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-- to write a </a:t>
            </a:r>
            <a:r>
              <a:rPr lang="en-IN" b="1" dirty="0"/>
              <a:t>comment on a single line</a:t>
            </a:r>
            <a:r>
              <a:rPr lang="en-IN" dirty="0"/>
              <a:t>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-- This query selects all students from the student table</a:t>
            </a:r>
            <a:br>
              <a:rPr lang="en-IN" dirty="0"/>
            </a:br>
            <a:r>
              <a:rPr lang="en-IN" dirty="0"/>
              <a:t>          Your Query</a:t>
            </a:r>
          </a:p>
        </p:txBody>
      </p:sp>
    </p:spTree>
    <p:extLst>
      <p:ext uri="{BB962C8B-B14F-4D97-AF65-F5344CB8AC3E}">
        <p14:creationId xmlns:p14="http://schemas.microsoft.com/office/powerpoint/2010/main" val="26986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CC3B-9AB6-0F29-FD28-7223018E2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ALTER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BA4AE-72F1-182C-4416-72BCA36FD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4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Common ALTER TABLE operations are: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Add column - Adds a new column to a table</a:t>
            </a:r>
          </a:p>
          <a:p>
            <a:r>
              <a:rPr lang="en-IN" dirty="0"/>
              <a:t>Drop column - Deletes a column in a table</a:t>
            </a:r>
          </a:p>
          <a:p>
            <a:r>
              <a:rPr lang="en-IN" dirty="0"/>
              <a:t>Rename column - Renames a column</a:t>
            </a:r>
          </a:p>
          <a:p>
            <a:r>
              <a:rPr lang="en-IN" dirty="0"/>
              <a:t>Modify column - Changes the data type, size, or constraints of a column</a:t>
            </a:r>
          </a:p>
          <a:p>
            <a:r>
              <a:rPr lang="en-IN" dirty="0"/>
              <a:t>Add constraint - Adds a new constraint</a:t>
            </a:r>
          </a:p>
          <a:p>
            <a:r>
              <a:rPr lang="en-IN" dirty="0"/>
              <a:t>Rename table - Renames a table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6886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FBA4-F664-1600-64BB-05BE2521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ALTER TABLE - ADD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4A75B-D1E0-37F3-24B9-787BFEDE0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ALTER TABLE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ADD </a:t>
            </a:r>
            <a:r>
              <a:rPr lang="en-IN" i="1" dirty="0" err="1"/>
              <a:t>column_name</a:t>
            </a:r>
            <a:r>
              <a:rPr lang="en-IN" i="1" dirty="0"/>
              <a:t> datatype</a:t>
            </a:r>
            <a:r>
              <a:rPr lang="en-IN" dirty="0"/>
              <a:t>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ALTER TABLE Customers</a:t>
            </a:r>
            <a:br>
              <a:rPr lang="en-IN" dirty="0"/>
            </a:br>
            <a:r>
              <a:rPr lang="en-IN" dirty="0"/>
              <a:t>	ADD Email varchar(255);</a:t>
            </a:r>
          </a:p>
        </p:txBody>
      </p:sp>
    </p:spTree>
    <p:extLst>
      <p:ext uri="{BB962C8B-B14F-4D97-AF65-F5344CB8AC3E}">
        <p14:creationId xmlns:p14="http://schemas.microsoft.com/office/powerpoint/2010/main" val="2910355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0765-AF13-707B-A2D0-4423E4D3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ALTER TABLE - DROP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909C-BD8F-7BC7-67A8-4D08826CA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ALTER TABLE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DROP COLUMN </a:t>
            </a:r>
            <a:r>
              <a:rPr lang="en-IN" i="1" dirty="0" err="1"/>
              <a:t>column_name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75518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5081E-F76D-998A-1A05-BD4E19C6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ALTER TABLE - RENAME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41F56-38BE-2712-244F-2A2FDEDB1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ALTER TABLE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RENAME COLUMN </a:t>
            </a:r>
            <a:r>
              <a:rPr lang="en-IN" i="1" dirty="0" err="1"/>
              <a:t>old_name</a:t>
            </a:r>
            <a:r>
              <a:rPr lang="en-IN" dirty="0"/>
              <a:t> to </a:t>
            </a:r>
            <a:r>
              <a:rPr lang="en-IN" i="1" dirty="0" err="1"/>
              <a:t>new_name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ALTER TABLE </a:t>
            </a:r>
            <a:r>
              <a:rPr lang="en-IN" dirty="0" err="1"/>
              <a:t>table_name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CHANGE </a:t>
            </a:r>
            <a:r>
              <a:rPr lang="en-IN" dirty="0" err="1"/>
              <a:t>old_name</a:t>
            </a:r>
            <a:r>
              <a:rPr lang="en-IN" dirty="0"/>
              <a:t> </a:t>
            </a:r>
            <a:r>
              <a:rPr lang="en-IN" dirty="0" err="1"/>
              <a:t>new_name</a:t>
            </a:r>
            <a:r>
              <a:rPr lang="en-IN" dirty="0"/>
              <a:t> datatype;</a:t>
            </a:r>
          </a:p>
        </p:txBody>
      </p:sp>
    </p:spTree>
    <p:extLst>
      <p:ext uri="{BB962C8B-B14F-4D97-AF65-F5344CB8AC3E}">
        <p14:creationId xmlns:p14="http://schemas.microsoft.com/office/powerpoint/2010/main" val="1469810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000A-E1A2-4243-FAE3-13CF933F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ALTER TABLE - MODIFY Datatype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49FE0-775E-B746-A2BB-6A7DC395E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ALTER TABLE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ALTER COLUMN </a:t>
            </a:r>
            <a:r>
              <a:rPr lang="en-IN" i="1" dirty="0" err="1"/>
              <a:t>column_name</a:t>
            </a:r>
            <a:r>
              <a:rPr lang="en-IN" i="1" dirty="0"/>
              <a:t> </a:t>
            </a:r>
            <a:r>
              <a:rPr lang="en-IN" i="1" dirty="0" err="1"/>
              <a:t>new_datatype</a:t>
            </a:r>
            <a:r>
              <a:rPr lang="en-IN" i="1" dirty="0"/>
              <a:t> 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ALTER TABLE </a:t>
            </a:r>
            <a:r>
              <a:rPr lang="en-IN" dirty="0" err="1"/>
              <a:t>table_name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MODIFY </a:t>
            </a:r>
            <a:r>
              <a:rPr lang="en-IN" dirty="0" err="1"/>
              <a:t>column_name</a:t>
            </a:r>
            <a:r>
              <a:rPr lang="en-IN" dirty="0"/>
              <a:t> </a:t>
            </a:r>
            <a:r>
              <a:rPr lang="en-IN" dirty="0" err="1"/>
              <a:t>new_datatype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922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C978-E2F7-C1A7-8970-8C5D80B7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ALTER TABLE - Rename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AC605-7981-3C22-C1F3-C6FCC4BAD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ALTER TABLE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RENAME TO </a:t>
            </a:r>
            <a:r>
              <a:rPr lang="en-IN" i="1" dirty="0" err="1"/>
              <a:t>new_table_name</a:t>
            </a:r>
            <a:r>
              <a:rPr lang="en-IN" dirty="0"/>
              <a:t>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 </a:t>
            </a:r>
            <a:r>
              <a:rPr lang="en-IN" dirty="0"/>
              <a:t>ALTER TABLE Customers</a:t>
            </a:r>
            <a:br>
              <a:rPr lang="en-IN" dirty="0"/>
            </a:br>
            <a:r>
              <a:rPr lang="en-IN" dirty="0"/>
              <a:t>	     RENAME TO Clients;</a:t>
            </a:r>
          </a:p>
        </p:txBody>
      </p:sp>
    </p:spTree>
    <p:extLst>
      <p:ext uri="{BB962C8B-B14F-4D97-AF65-F5344CB8AC3E}">
        <p14:creationId xmlns:p14="http://schemas.microsoft.com/office/powerpoint/2010/main" val="3406667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A667-F180-1403-3122-83C07249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SQL 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5110-F9CE-249F-B5CE-FC0601E74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SQL constraints are rules for data in a table.</a:t>
            </a:r>
          </a:p>
          <a:p>
            <a:r>
              <a:rPr lang="en-IN" dirty="0"/>
              <a:t>Constraints are used to prevent insertion of invalid data in a table, and ensures the accuracy and reliability of the data in the table.</a:t>
            </a:r>
          </a:p>
          <a:p>
            <a:r>
              <a:rPr lang="en-IN" dirty="0"/>
              <a:t> If there is any violation between the constraint and the data action, the action is aborted.</a:t>
            </a:r>
          </a:p>
          <a:p>
            <a:r>
              <a:rPr lang="en-IN" dirty="0"/>
              <a:t>When a table is created (through the </a:t>
            </a:r>
            <a:r>
              <a:rPr lang="en-IN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 TABLE</a:t>
            </a:r>
            <a:r>
              <a:rPr lang="en-IN" b="1" dirty="0"/>
              <a:t> </a:t>
            </a:r>
            <a:r>
              <a:rPr lang="en-IN" dirty="0"/>
              <a:t>statement)</a:t>
            </a:r>
          </a:p>
          <a:p>
            <a:r>
              <a:rPr lang="en-IN" dirty="0"/>
              <a:t>After a table is created (through the </a:t>
            </a:r>
            <a:r>
              <a:rPr lang="en-IN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ALTER TABLE</a:t>
            </a:r>
            <a:r>
              <a:rPr lang="en-IN" b="1" dirty="0"/>
              <a:t> </a:t>
            </a:r>
            <a:r>
              <a:rPr lang="en-IN" dirty="0"/>
              <a:t>statement)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576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4A2E0-766D-CE93-51AE-03EF5DAA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following constraints are commonly used in SQL: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4641E-FABE-2874-1BD7-445A4123F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IN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 NULL</a:t>
            </a:r>
            <a:r>
              <a:rPr lang="en-IN" dirty="0"/>
              <a:t> - Ensures that a column cannot have a NULL value</a:t>
            </a:r>
          </a:p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UNIQUE</a:t>
            </a:r>
            <a:r>
              <a:rPr lang="en-IN" dirty="0"/>
              <a:t> - Ensures that all values in a column are unique</a:t>
            </a:r>
          </a:p>
          <a:p>
            <a:r>
              <a:rPr lang="en-IN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PRIMARY KEY</a:t>
            </a:r>
            <a:r>
              <a:rPr lang="en-IN" dirty="0"/>
              <a:t> - Uniquely identifies each row in a table (a combination of a NOT NULL and UNIQUE)</a:t>
            </a:r>
          </a:p>
          <a:p>
            <a:r>
              <a:rPr lang="en-IN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FOREIGN KEY</a:t>
            </a:r>
            <a:r>
              <a:rPr lang="en-IN" dirty="0"/>
              <a:t> - Establishes a link between data in two tables, and prevents action that will destroy the link between them</a:t>
            </a:r>
          </a:p>
          <a:p>
            <a:r>
              <a:rPr lang="en-IN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</a:t>
            </a:r>
            <a:r>
              <a:rPr lang="en-IN" dirty="0"/>
              <a:t> - Ensures that the values in a column satisfies a specific condition</a:t>
            </a:r>
          </a:p>
          <a:p>
            <a:r>
              <a:rPr lang="en-IN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DEFAULT</a:t>
            </a:r>
            <a:r>
              <a:rPr lang="en-IN" dirty="0"/>
              <a:t> - Sets a default value for a column if no value is specified</a:t>
            </a:r>
          </a:p>
          <a:p>
            <a:r>
              <a:rPr lang="en-IN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 INDEX</a:t>
            </a:r>
            <a:r>
              <a:rPr lang="en-IN" dirty="0"/>
              <a:t> - Creates indexes on columns to retrieve data from the database faster</a:t>
            </a:r>
          </a:p>
        </p:txBody>
      </p:sp>
    </p:spTree>
    <p:extLst>
      <p:ext uri="{BB962C8B-B14F-4D97-AF65-F5344CB8AC3E}">
        <p14:creationId xmlns:p14="http://schemas.microsoft.com/office/powerpoint/2010/main" val="3459875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04397-1E58-349B-F5E3-21235AE8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CFB43-CEC6-1319-CA48-79031E5D2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PRIMARY KEY constraint uniquely identifies each record in a database table.</a:t>
            </a:r>
          </a:p>
          <a:p>
            <a:pPr marL="0" indent="0">
              <a:buNone/>
            </a:pPr>
            <a:r>
              <a:rPr lang="en-IN" dirty="0"/>
              <a:t>Syntax :</a:t>
            </a:r>
          </a:p>
          <a:p>
            <a:pPr marL="0" indent="0">
              <a:buNone/>
            </a:pPr>
            <a:r>
              <a:rPr lang="en-IN" dirty="0"/>
              <a:t>Create table </a:t>
            </a:r>
            <a:r>
              <a:rPr lang="en-IN" dirty="0" err="1"/>
              <a:t>table_name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column_name</a:t>
            </a:r>
            <a:r>
              <a:rPr lang="en-IN" dirty="0"/>
              <a:t> </a:t>
            </a:r>
            <a:r>
              <a:rPr lang="en-IN" dirty="0" err="1"/>
              <a:t>data_type</a:t>
            </a:r>
            <a:r>
              <a:rPr lang="en-IN" dirty="0"/>
              <a:t> PRIMARY KEY,</a:t>
            </a:r>
          </a:p>
          <a:p>
            <a:pPr marL="0" indent="0">
              <a:buNone/>
            </a:pPr>
            <a:r>
              <a:rPr lang="en-IN" dirty="0"/>
              <a:t>	other columns….);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Only one primary key allowed per table.</a:t>
            </a:r>
          </a:p>
        </p:txBody>
      </p:sp>
    </p:spTree>
    <p:extLst>
      <p:ext uri="{BB962C8B-B14F-4D97-AF65-F5344CB8AC3E}">
        <p14:creationId xmlns:p14="http://schemas.microsoft.com/office/powerpoint/2010/main" val="4216501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9FFF4-9F9C-3CC8-1177-96097083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CBE58-E5C4-B549-1C8A-7CC5748A8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Foreign Key (FK)</a:t>
            </a:r>
            <a:r>
              <a:rPr lang="en-IN" dirty="0"/>
              <a:t> is a column (or set of columns) in one table that refers to the </a:t>
            </a:r>
            <a:r>
              <a:rPr lang="en-IN" b="1" dirty="0"/>
              <a:t>Primary Key (PK)</a:t>
            </a:r>
            <a:r>
              <a:rPr lang="en-IN" dirty="0"/>
              <a:t> of another table. </a:t>
            </a:r>
          </a:p>
          <a:p>
            <a:r>
              <a:rPr lang="en-IN" dirty="0"/>
              <a:t>It creates a relationship between the two tables and ensures </a:t>
            </a:r>
            <a:r>
              <a:rPr lang="en-IN" b="1" dirty="0"/>
              <a:t>referential integrity</a:t>
            </a:r>
            <a:r>
              <a:rPr lang="en-IN" dirty="0"/>
              <a:t>, meaning you cannot insert invalid references.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731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B03F9-3326-7BA7-F670-1AA3636C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FOREIGN KEY Syntax: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CA83B-49F4-3ECA-D6D4-B26C8DDBF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table_name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column_name</a:t>
            </a:r>
            <a:r>
              <a:rPr lang="en-US" dirty="0"/>
              <a:t> datatype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column_name</a:t>
            </a:r>
            <a:r>
              <a:rPr lang="en-US" dirty="0"/>
              <a:t> datatype,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column_name</a:t>
            </a:r>
            <a:r>
              <a:rPr lang="en-US" dirty="0"/>
              <a:t> datatype,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CONSTRAINT </a:t>
            </a:r>
            <a:r>
              <a:rPr lang="en-US" dirty="0" err="1"/>
              <a:t>constraint_name</a:t>
            </a:r>
            <a:r>
              <a:rPr lang="en-US" dirty="0"/>
              <a:t> (optional)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column_name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REFERENCES </a:t>
            </a:r>
            <a:r>
              <a:rPr lang="en-US" dirty="0" err="1"/>
              <a:t>reference_table_name</a:t>
            </a:r>
            <a:r>
              <a:rPr lang="en-US" dirty="0"/>
              <a:t>(</a:t>
            </a:r>
            <a:r>
              <a:rPr lang="en-US" dirty="0" err="1"/>
              <a:t>reference_column_name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102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5950-81C2-90CE-8E7D-488C7A46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ALTER TABLE - ADD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D2745-F721-57D8-EDF3-8A1069B62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ALTER TABLE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ADD CONSTRAINT </a:t>
            </a:r>
            <a:r>
              <a:rPr lang="en-IN" i="1" dirty="0" err="1"/>
              <a:t>constraint_name</a:t>
            </a:r>
            <a:r>
              <a:rPr lang="en-IN" i="1" dirty="0"/>
              <a:t> </a:t>
            </a:r>
            <a:r>
              <a:rPr lang="en-IN" i="1" dirty="0" err="1"/>
              <a:t>constraint_definition</a:t>
            </a:r>
            <a:r>
              <a:rPr lang="en-IN" dirty="0"/>
              <a:t>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 </a:t>
            </a:r>
            <a:r>
              <a:rPr lang="en-IN" dirty="0"/>
              <a:t>ALTER TABLE Members</a:t>
            </a:r>
            <a:br>
              <a:rPr lang="en-IN" dirty="0"/>
            </a:br>
            <a:r>
              <a:rPr lang="en-IN" dirty="0"/>
              <a:t>	     ADD CONSTRAINT </a:t>
            </a:r>
            <a:r>
              <a:rPr lang="en-IN" dirty="0" err="1"/>
              <a:t>primary_key</a:t>
            </a:r>
            <a:r>
              <a:rPr lang="en-IN" dirty="0"/>
              <a:t> primary key(id);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ALTER TABLE Employee</a:t>
            </a:r>
          </a:p>
          <a:p>
            <a:pPr marL="0" indent="0">
              <a:buNone/>
            </a:pPr>
            <a:r>
              <a:rPr lang="en-US" dirty="0"/>
              <a:t>	    ADD CONSTRAINT </a:t>
            </a:r>
            <a:r>
              <a:rPr lang="en-US" dirty="0" err="1"/>
              <a:t>FK_Dept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   FOREIGN KEY 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    REFERENCES Department(</a:t>
            </a:r>
            <a:r>
              <a:rPr lang="en-US" dirty="0" err="1"/>
              <a:t>DeptID</a:t>
            </a: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161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7D3-DA1B-7D2E-1CAD-517942D1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DROP CONSTRAINT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BDFCE-CD4A-2F34-B29C-2C51FD9E1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ALTER TABLE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DROP PRIMARY KEY;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DROP constraint </a:t>
            </a:r>
            <a:r>
              <a:rPr lang="en-US" dirty="0" err="1"/>
              <a:t>constraint_name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419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DF161-3CA2-E82C-78AD-126FE152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/>
            </a:br>
            <a:r>
              <a:rPr lang="en-IN" b="1" dirty="0"/>
              <a:t>Data Manipulation Language (DML)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E1A96-558D-6E7E-718F-EB585BA13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DML is used for accessing and manipulating data in a database.</a:t>
            </a:r>
          </a:p>
          <a:p>
            <a:endParaRPr lang="en-IN" dirty="0"/>
          </a:p>
          <a:p>
            <a:pPr>
              <a:buFont typeface="Wingdings" panose="05000000000000000000" pitchFamily="2" charset="2"/>
              <a:buChar char="à"/>
            </a:pPr>
            <a:r>
              <a:rPr lang="en-IN" b="1" dirty="0">
                <a:sym typeface="Wingdings" panose="05000000000000000000" pitchFamily="2" charset="2"/>
              </a:rPr>
              <a:t>SELECT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IN" b="1" dirty="0">
                <a:sym typeface="Wingdings" panose="05000000000000000000" pitchFamily="2" charset="2"/>
              </a:rPr>
              <a:t>INSERT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IN" b="1" dirty="0">
                <a:sym typeface="Wingdings" panose="05000000000000000000" pitchFamily="2" charset="2"/>
              </a:rPr>
              <a:t>UPDATE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IN" b="1" dirty="0">
                <a:sym typeface="Wingdings" panose="05000000000000000000" pitchFamily="2" charset="2"/>
              </a:rPr>
              <a:t>DELETE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9468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8938-C762-B059-92B1-4D6485D9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2E7AA-DCDC-2F71-E50B-21D83E00B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 SELECT statement is used to select data from a database.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Syntax:</a:t>
            </a:r>
          </a:p>
          <a:p>
            <a:pPr marL="0" indent="0">
              <a:buNone/>
            </a:pPr>
            <a:r>
              <a:rPr lang="en-IN" dirty="0"/>
              <a:t>	SELECT </a:t>
            </a:r>
            <a:r>
              <a:rPr lang="en-IN" i="1" dirty="0"/>
              <a:t>column1</a:t>
            </a:r>
            <a:r>
              <a:rPr lang="en-IN" dirty="0"/>
              <a:t>,</a:t>
            </a:r>
            <a:r>
              <a:rPr lang="en-IN" i="1" dirty="0"/>
              <a:t> column2, ...</a:t>
            </a:r>
            <a:br>
              <a:rPr lang="en-IN" dirty="0"/>
            </a:br>
            <a:r>
              <a:rPr lang="en-IN" dirty="0"/>
              <a:t>	FROM </a:t>
            </a:r>
            <a:r>
              <a:rPr lang="en-IN" i="1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b="1" dirty="0"/>
              <a:t>Select ALL Columns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</a:t>
            </a:r>
            <a:r>
              <a:rPr lang="en-IN" dirty="0"/>
              <a:t>SELECT * FROM </a:t>
            </a:r>
            <a:r>
              <a:rPr lang="en-IN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5964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3214-F05D-93F4-9DD7-FB01185C2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SELECT DISTINCT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BC5A2-A90C-32ED-DD25-A62218B2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SELECT DISTINCT statement is used to return only distinct (unique) values.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      	</a:t>
            </a:r>
            <a:r>
              <a:rPr lang="en-IN" dirty="0"/>
              <a:t> SELECT DISTINCT </a:t>
            </a:r>
            <a:r>
              <a:rPr lang="en-IN" i="1" dirty="0"/>
              <a:t>column1</a:t>
            </a:r>
            <a:r>
              <a:rPr lang="en-IN" dirty="0"/>
              <a:t>,</a:t>
            </a:r>
            <a:r>
              <a:rPr lang="en-IN" i="1" dirty="0"/>
              <a:t> column2, ...</a:t>
            </a:r>
            <a:br>
              <a:rPr lang="en-IN" dirty="0"/>
            </a:br>
            <a:r>
              <a:rPr lang="en-IN" dirty="0"/>
              <a:t>	 FROM </a:t>
            </a:r>
            <a:r>
              <a:rPr lang="en-IN" i="1" dirty="0" err="1"/>
              <a:t>table_name</a:t>
            </a:r>
            <a:r>
              <a:rPr lang="en-IN" i="1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1075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D966-4465-CAF2-53A8-4D584348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WHERE 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1003D-9CB4-D3C9-5BA4-C914FE0B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WHERE clause is used to filter records.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 	</a:t>
            </a:r>
            <a:r>
              <a:rPr lang="en-IN" dirty="0"/>
              <a:t>SELECT </a:t>
            </a:r>
            <a:r>
              <a:rPr lang="en-IN" i="1" dirty="0"/>
              <a:t>column1</a:t>
            </a:r>
            <a:r>
              <a:rPr lang="en-IN" dirty="0"/>
              <a:t>,</a:t>
            </a:r>
            <a:r>
              <a:rPr lang="en-IN" i="1" dirty="0"/>
              <a:t> column2, ...</a:t>
            </a:r>
            <a:br>
              <a:rPr lang="en-IN" dirty="0"/>
            </a:br>
            <a:r>
              <a:rPr lang="en-IN" dirty="0"/>
              <a:t>		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		WHERE </a:t>
            </a:r>
            <a:r>
              <a:rPr lang="en-IN" i="1" dirty="0"/>
              <a:t>condition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	</a:t>
            </a:r>
            <a:r>
              <a:rPr lang="en-IN" dirty="0"/>
              <a:t>SELECT * FROM Customers WHERE Country = 'Mexico';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4567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6F96-26E0-349C-18E0-2224DBD8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following operators can be used in the WHERE clause: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DFE938-C1BB-23E2-43EF-614440D5F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4528785"/>
              </p:ext>
            </p:extLst>
          </p:nvPr>
        </p:nvGraphicFramePr>
        <p:xfrm>
          <a:off x="1065229" y="2007908"/>
          <a:ext cx="9898142" cy="4185499"/>
        </p:xfrm>
        <a:graphic>
          <a:graphicData uri="http://schemas.openxmlformats.org/drawingml/2006/table">
            <a:tbl>
              <a:tblPr/>
              <a:tblGrid>
                <a:gridCol w="1979605">
                  <a:extLst>
                    <a:ext uri="{9D8B030D-6E8A-4147-A177-3AD203B41FA5}">
                      <a16:colId xmlns:a16="http://schemas.microsoft.com/office/drawing/2014/main" val="1220699397"/>
                    </a:ext>
                  </a:extLst>
                </a:gridCol>
                <a:gridCol w="6928611">
                  <a:extLst>
                    <a:ext uri="{9D8B030D-6E8A-4147-A177-3AD203B41FA5}">
                      <a16:colId xmlns:a16="http://schemas.microsoft.com/office/drawing/2014/main" val="4009745952"/>
                    </a:ext>
                  </a:extLst>
                </a:gridCol>
                <a:gridCol w="989926">
                  <a:extLst>
                    <a:ext uri="{9D8B030D-6E8A-4147-A177-3AD203B41FA5}">
                      <a16:colId xmlns:a16="http://schemas.microsoft.com/office/drawing/2014/main" val="2478946321"/>
                    </a:ext>
                  </a:extLst>
                </a:gridCol>
              </a:tblGrid>
              <a:tr h="410343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Operator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1980"/>
                  </a:ext>
                </a:extLst>
              </a:tr>
              <a:tr h="410343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Equal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773872"/>
                  </a:ext>
                </a:extLst>
              </a:tr>
              <a:tr h="410343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&gt;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Greater than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978677"/>
                  </a:ext>
                </a:extLst>
              </a:tr>
              <a:tr h="410343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&lt;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Less than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551707"/>
                  </a:ext>
                </a:extLst>
              </a:tr>
              <a:tr h="410343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&gt;=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Greater than or equal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766591"/>
                  </a:ext>
                </a:extLst>
              </a:tr>
              <a:tr h="410343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&lt;=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Less than or equal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929721"/>
                  </a:ext>
                </a:extLst>
              </a:tr>
              <a:tr h="410343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&lt;&gt;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Not equal. (!= for some systems)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320479"/>
                  </a:ext>
                </a:extLst>
              </a:tr>
              <a:tr h="410343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BETWEEN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Between a certain range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483280"/>
                  </a:ext>
                </a:extLst>
              </a:tr>
              <a:tr h="410343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LIKE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Search for a pattern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32579"/>
                  </a:ext>
                </a:extLst>
              </a:tr>
              <a:tr h="49241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IN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To specify multiple possible values for a column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24261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4476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8BF5-F985-ABB2-04EB-64ED0D6A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BETWEEN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4FA3-EEA1-DBA1-CC7A-8622DE41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 BETWEEN operator is used in the WHERE clause to select values within a specified range.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SELECT </a:t>
            </a:r>
            <a:r>
              <a:rPr lang="en-IN" i="1" dirty="0" err="1"/>
              <a:t>column_name</a:t>
            </a:r>
            <a:r>
              <a:rPr lang="en-IN" i="1" dirty="0"/>
              <a:t>(s)</a:t>
            </a:r>
            <a:br>
              <a:rPr lang="en-IN" dirty="0"/>
            </a:br>
            <a:r>
              <a:rPr lang="en-IN" dirty="0"/>
              <a:t>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WHERE </a:t>
            </a:r>
            <a:r>
              <a:rPr lang="en-IN" i="1" dirty="0" err="1"/>
              <a:t>column_name</a:t>
            </a:r>
            <a:r>
              <a:rPr lang="en-IN" i="1" dirty="0"/>
              <a:t> </a:t>
            </a:r>
            <a:r>
              <a:rPr lang="en-IN" dirty="0"/>
              <a:t>BETWEEN </a:t>
            </a:r>
            <a:r>
              <a:rPr lang="en-IN" i="1" dirty="0"/>
              <a:t>value1</a:t>
            </a:r>
            <a:r>
              <a:rPr lang="en-IN" dirty="0"/>
              <a:t> AND </a:t>
            </a:r>
            <a:r>
              <a:rPr lang="en-IN" i="1" dirty="0"/>
              <a:t>value2;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SELECT * FROM Products</a:t>
            </a:r>
            <a:br>
              <a:rPr lang="en-IN" dirty="0"/>
            </a:br>
            <a:r>
              <a:rPr lang="en-IN" dirty="0"/>
              <a:t>WHERE Price BETWEEN 10 AND 20;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995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D46EC-446C-8024-6B53-400444B70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1F0C1-81FE-B6FD-1834-F9E1910EC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IN operator is used in the WHERE clause to check if a specified column's value matches any value within a provided list.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	</a:t>
            </a:r>
            <a:r>
              <a:rPr lang="en-IN" dirty="0"/>
              <a:t>SELECT </a:t>
            </a:r>
            <a:r>
              <a:rPr lang="en-IN" i="1" dirty="0" err="1"/>
              <a:t>column_name</a:t>
            </a:r>
            <a:r>
              <a:rPr lang="en-IN" i="1" dirty="0"/>
              <a:t>(s)</a:t>
            </a:r>
            <a:br>
              <a:rPr lang="en-IN" dirty="0"/>
            </a:br>
            <a:r>
              <a:rPr lang="en-IN" dirty="0"/>
              <a:t>	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	WHERE </a:t>
            </a:r>
            <a:r>
              <a:rPr lang="en-IN" i="1" dirty="0" err="1"/>
              <a:t>column_name</a:t>
            </a:r>
            <a:r>
              <a:rPr lang="en-IN" dirty="0"/>
              <a:t> IN (</a:t>
            </a:r>
            <a:r>
              <a:rPr lang="en-IN" i="1" dirty="0"/>
              <a:t>value1</a:t>
            </a:r>
            <a:r>
              <a:rPr lang="en-IN" dirty="0"/>
              <a:t>,</a:t>
            </a:r>
            <a:r>
              <a:rPr lang="en-IN" i="1" dirty="0"/>
              <a:t> value2</a:t>
            </a:r>
            <a:r>
              <a:rPr lang="en-IN" dirty="0"/>
              <a:t>, ...);</a:t>
            </a:r>
          </a:p>
        </p:txBody>
      </p:sp>
    </p:spTree>
    <p:extLst>
      <p:ext uri="{BB962C8B-B14F-4D97-AF65-F5344CB8AC3E}">
        <p14:creationId xmlns:p14="http://schemas.microsoft.com/office/powerpoint/2010/main" val="41235944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3DCF-9E60-20F5-EC74-5704313D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E9F1B-3E2A-3D25-D31A-A8D51E5FC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LIKE operator is used in a WHERE clause to search for a specified pattern within a column's text data.</a:t>
            </a:r>
          </a:p>
          <a:p>
            <a:r>
              <a:rPr lang="en-IN" dirty="0"/>
              <a:t>There are two wildcards often used in conjunction with the LIKE operator: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A percent sign % -  represents zero, one, or multiple characters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A underscore sign _ -  represents a single character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57964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6A4C6-29FC-6092-DB61-C5C5AB96B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8219"/>
            <a:ext cx="10515600" cy="5818744"/>
          </a:xfrm>
        </p:spPr>
        <p:txBody>
          <a:bodyPr/>
          <a:lstStyle/>
          <a:p>
            <a:endParaRPr lang="en-IN" dirty="0"/>
          </a:p>
          <a:p>
            <a:r>
              <a:rPr lang="en-IN" dirty="0"/>
              <a:t>Match any string starting with a specific letter </a:t>
            </a:r>
            <a:r>
              <a:rPr lang="en-IN" dirty="0">
                <a:sym typeface="Wingdings" panose="05000000000000000000" pitchFamily="2" charset="2"/>
              </a:rPr>
              <a:t>       </a:t>
            </a:r>
            <a:r>
              <a:rPr lang="en-IN" b="1" dirty="0"/>
              <a:t>'Ja%’;</a:t>
            </a:r>
          </a:p>
          <a:p>
            <a:endParaRPr lang="en-IN" b="1" dirty="0"/>
          </a:p>
          <a:p>
            <a:r>
              <a:rPr lang="en-IN" dirty="0"/>
              <a:t> Match any string ending with a specific letter </a:t>
            </a:r>
            <a:r>
              <a:rPr lang="en-IN" dirty="0">
                <a:sym typeface="Wingdings" panose="05000000000000000000" pitchFamily="2" charset="2"/>
              </a:rPr>
              <a:t>     </a:t>
            </a:r>
            <a:r>
              <a:rPr lang="en-IN" b="1" dirty="0"/>
              <a:t>'%Smith’;</a:t>
            </a:r>
          </a:p>
          <a:p>
            <a:endParaRPr lang="en-IN" b="1" dirty="0"/>
          </a:p>
          <a:p>
            <a:r>
              <a:rPr lang="en-IN" dirty="0"/>
              <a:t> Match strings containing a specific substring </a:t>
            </a:r>
            <a:r>
              <a:rPr lang="en-IN" dirty="0">
                <a:sym typeface="Wingdings" panose="05000000000000000000" pitchFamily="2" charset="2"/>
              </a:rPr>
              <a:t>    </a:t>
            </a:r>
            <a:r>
              <a:rPr lang="en-IN" b="1" dirty="0"/>
              <a:t>‘%</a:t>
            </a:r>
            <a:r>
              <a:rPr lang="en-IN" b="1" dirty="0" err="1"/>
              <a:t>ann</a:t>
            </a:r>
            <a:r>
              <a:rPr lang="en-IN" b="1" dirty="0"/>
              <a:t>%’; or '</a:t>
            </a:r>
            <a:r>
              <a:rPr lang="en-IN" b="1" dirty="0" err="1"/>
              <a:t>J%n</a:t>
            </a:r>
            <a:r>
              <a:rPr lang="en-IN" b="1" dirty="0"/>
              <a:t>%’</a:t>
            </a:r>
          </a:p>
          <a:p>
            <a:endParaRPr lang="en-IN" b="1" dirty="0"/>
          </a:p>
          <a:p>
            <a:r>
              <a:rPr lang="en-IN" dirty="0"/>
              <a:t>Match strings with a specific length or pattern </a:t>
            </a:r>
            <a:r>
              <a:rPr lang="en-IN" dirty="0">
                <a:sym typeface="Wingdings" panose="05000000000000000000" pitchFamily="2" charset="2"/>
              </a:rPr>
              <a:t>     </a:t>
            </a:r>
            <a:r>
              <a:rPr lang="en-IN" b="1" dirty="0"/>
              <a:t>'____’;</a:t>
            </a:r>
          </a:p>
          <a:p>
            <a:endParaRPr lang="en-IN" b="1" dirty="0"/>
          </a:p>
          <a:p>
            <a:r>
              <a:rPr lang="en-IN" dirty="0"/>
              <a:t>Match strings with a specific pattern using multiple wildcards </a:t>
            </a:r>
            <a:r>
              <a:rPr lang="en-IN" dirty="0">
                <a:sym typeface="Wingdings" panose="05000000000000000000" pitchFamily="2" charset="2"/>
              </a:rPr>
              <a:t>  </a:t>
            </a:r>
            <a:r>
              <a:rPr lang="en-IN" b="1" dirty="0"/>
              <a:t>'</a:t>
            </a:r>
            <a:r>
              <a:rPr lang="en-IN" b="1" dirty="0" err="1"/>
              <a:t>J_n</a:t>
            </a:r>
            <a:r>
              <a:rPr lang="en-IN" b="1" dirty="0"/>
              <a:t>%’;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086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CB4DB-F8E3-0363-CDF9-DCE569D2B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7328"/>
            <a:ext cx="10515600" cy="563963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	</a:t>
            </a:r>
            <a:r>
              <a:rPr lang="en-IN" dirty="0"/>
              <a:t>SELECT </a:t>
            </a:r>
            <a:r>
              <a:rPr lang="en-IN" i="1" dirty="0"/>
              <a:t>column1, column2, ...</a:t>
            </a:r>
            <a:br>
              <a:rPr lang="en-IN" dirty="0"/>
            </a:br>
            <a:r>
              <a:rPr lang="en-IN" dirty="0"/>
              <a:t>	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	WHERE </a:t>
            </a:r>
            <a:r>
              <a:rPr lang="en-IN" i="1" dirty="0" err="1"/>
              <a:t>columnN</a:t>
            </a:r>
            <a:r>
              <a:rPr lang="en-IN" dirty="0"/>
              <a:t> LIKE </a:t>
            </a:r>
            <a:r>
              <a:rPr lang="en-IN" i="1" dirty="0"/>
              <a:t>pattern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 : 	SELECT * FROM Customers</a:t>
            </a:r>
            <a:br>
              <a:rPr lang="en-IN" dirty="0"/>
            </a:br>
            <a:r>
              <a:rPr lang="en-IN" dirty="0"/>
              <a:t>	WHERE </a:t>
            </a:r>
            <a:r>
              <a:rPr lang="en-IN" dirty="0" err="1"/>
              <a:t>CustomerName</a:t>
            </a:r>
            <a:r>
              <a:rPr lang="en-IN" dirty="0"/>
              <a:t> LIKE ’on%’;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SELECT * FROM Customers</a:t>
            </a:r>
            <a:br>
              <a:rPr lang="en-IN" dirty="0"/>
            </a:br>
            <a:r>
              <a:rPr lang="en-IN" dirty="0"/>
              <a:t>	WHERE city LIKE ’</a:t>
            </a:r>
            <a:r>
              <a:rPr lang="en-IN" dirty="0" err="1"/>
              <a:t>L_nd</a:t>
            </a:r>
            <a:r>
              <a:rPr lang="en-IN" dirty="0"/>
              <a:t>__';</a:t>
            </a:r>
          </a:p>
        </p:txBody>
      </p:sp>
    </p:spTree>
    <p:extLst>
      <p:ext uri="{BB962C8B-B14F-4D97-AF65-F5344CB8AC3E}">
        <p14:creationId xmlns:p14="http://schemas.microsoft.com/office/powerpoint/2010/main" val="15528436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DB40-FA5B-8D02-A8B4-7DE2C73D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ORDER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D60D7-0803-87E9-02B5-F591CE74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ORDER BY keyword is used to sort the result-set in ascending or descending order.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ym typeface="Wingdings" panose="05000000000000000000" pitchFamily="2" charset="2"/>
              </a:rPr>
              <a:t>	</a:t>
            </a:r>
            <a:r>
              <a:rPr lang="en-IN" dirty="0"/>
              <a:t>SELECT </a:t>
            </a:r>
            <a:r>
              <a:rPr lang="en-IN" i="1" dirty="0"/>
              <a:t>column1</a:t>
            </a:r>
            <a:r>
              <a:rPr lang="en-IN" dirty="0"/>
              <a:t>,</a:t>
            </a:r>
            <a:r>
              <a:rPr lang="en-IN" i="1" dirty="0"/>
              <a:t> column2, ...</a:t>
            </a:r>
            <a:br>
              <a:rPr lang="en-IN" dirty="0"/>
            </a:br>
            <a:r>
              <a:rPr lang="en-IN" dirty="0"/>
              <a:t>		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		ORDER BY </a:t>
            </a:r>
            <a:r>
              <a:rPr lang="en-IN" i="1" dirty="0"/>
              <a:t>column1, column2, ... </a:t>
            </a:r>
            <a:r>
              <a:rPr lang="en-IN" dirty="0"/>
              <a:t>ASC|DESC;</a:t>
            </a:r>
          </a:p>
        </p:txBody>
      </p:sp>
    </p:spTree>
    <p:extLst>
      <p:ext uri="{BB962C8B-B14F-4D97-AF65-F5344CB8AC3E}">
        <p14:creationId xmlns:p14="http://schemas.microsoft.com/office/powerpoint/2010/main" val="1057368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E9144-443E-2FC2-77B1-32987D8C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B12D7-A06D-93C3-2A32-EB95663AC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WHERE clause can contain one or many AND operators.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	</a:t>
            </a:r>
            <a:r>
              <a:rPr lang="en-IN" dirty="0"/>
              <a:t>SELECT </a:t>
            </a:r>
            <a:r>
              <a:rPr lang="en-IN" i="1" dirty="0"/>
              <a:t>column1</a:t>
            </a:r>
            <a:r>
              <a:rPr lang="en-IN" dirty="0"/>
              <a:t>,</a:t>
            </a:r>
            <a:r>
              <a:rPr lang="en-IN" i="1" dirty="0"/>
              <a:t> column2, ...</a:t>
            </a:r>
            <a:br>
              <a:rPr lang="en-IN" dirty="0"/>
            </a:br>
            <a:r>
              <a:rPr lang="en-IN" dirty="0"/>
              <a:t>		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		WHERE </a:t>
            </a:r>
            <a:r>
              <a:rPr lang="en-IN" i="1" dirty="0"/>
              <a:t>condition1</a:t>
            </a:r>
            <a:r>
              <a:rPr lang="en-IN" dirty="0"/>
              <a:t> AND </a:t>
            </a:r>
            <a:r>
              <a:rPr lang="en-IN" i="1" dirty="0"/>
              <a:t>condition2</a:t>
            </a:r>
            <a:r>
              <a:rPr lang="en-IN" dirty="0"/>
              <a:t> AND </a:t>
            </a:r>
            <a:r>
              <a:rPr lang="en-IN" i="1" dirty="0"/>
              <a:t>condition3 ...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3338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AC4C-7844-047A-15FD-3564BB57B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F5DD8-6EFB-A7F2-EA9E-6D61C1441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OR operator is used to filter records based on more than one condition.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ym typeface="Wingdings" panose="05000000000000000000" pitchFamily="2" charset="2"/>
              </a:rPr>
              <a:t>	</a:t>
            </a:r>
            <a:r>
              <a:rPr lang="en-IN" dirty="0"/>
              <a:t>SELECT </a:t>
            </a:r>
            <a:r>
              <a:rPr lang="en-IN" i="1" dirty="0"/>
              <a:t>column1</a:t>
            </a:r>
            <a:r>
              <a:rPr lang="en-IN" dirty="0"/>
              <a:t>,</a:t>
            </a:r>
            <a:r>
              <a:rPr lang="en-IN" i="1" dirty="0"/>
              <a:t> column2, ...</a:t>
            </a:r>
            <a:br>
              <a:rPr lang="en-IN" dirty="0"/>
            </a:br>
            <a:r>
              <a:rPr lang="en-IN" dirty="0"/>
              <a:t>		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		WHERE </a:t>
            </a:r>
            <a:r>
              <a:rPr lang="en-IN" i="1" dirty="0"/>
              <a:t>condition1</a:t>
            </a:r>
            <a:r>
              <a:rPr lang="en-IN" dirty="0"/>
              <a:t> OR </a:t>
            </a:r>
            <a:r>
              <a:rPr lang="en-IN" i="1" dirty="0"/>
              <a:t>condition2</a:t>
            </a:r>
            <a:r>
              <a:rPr lang="en-IN" dirty="0"/>
              <a:t> OR </a:t>
            </a:r>
            <a:r>
              <a:rPr lang="en-IN" i="1" dirty="0"/>
              <a:t>condition3 ...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482704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059D-2B96-E972-C25F-59608D0D9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461EC-C9F0-9724-8180-6A2ADFBE8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 NOT operator is used in the WHERE clause to return all records that DO NOT match the specified criteria. It reverses the result of a condition from true to false and vice-versa.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	</a:t>
            </a:r>
            <a:r>
              <a:rPr lang="en-IN" dirty="0"/>
              <a:t>SELECT </a:t>
            </a:r>
            <a:r>
              <a:rPr lang="en-IN" i="1" dirty="0"/>
              <a:t>column1</a:t>
            </a:r>
            <a:r>
              <a:rPr lang="en-IN" dirty="0"/>
              <a:t>,</a:t>
            </a:r>
            <a:r>
              <a:rPr lang="en-IN" i="1" dirty="0"/>
              <a:t> column2, ...</a:t>
            </a:r>
            <a:br>
              <a:rPr lang="en-IN" dirty="0"/>
            </a:br>
            <a:r>
              <a:rPr lang="en-IN" dirty="0"/>
              <a:t>		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		WHERE NOT </a:t>
            </a:r>
            <a:r>
              <a:rPr lang="en-IN" i="1" dirty="0"/>
              <a:t>condition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NOT LIKE ,NOT BETWEEN ,NOT IN ,IS NOT NULL ,NOT EXISTS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3800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44C8F-2446-874A-F79E-F514DD017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2363"/>
            <a:ext cx="10515600" cy="506460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ym typeface="Wingdings" panose="05000000000000000000" pitchFamily="2" charset="2"/>
              </a:rPr>
              <a:t></a:t>
            </a:r>
            <a:r>
              <a:rPr lang="en-IN" b="1" dirty="0"/>
              <a:t>IS NULL</a:t>
            </a:r>
          </a:p>
          <a:p>
            <a:r>
              <a:rPr lang="en-IN" dirty="0"/>
              <a:t>SELECT </a:t>
            </a:r>
            <a:r>
              <a:rPr lang="en-IN" i="1" dirty="0" err="1"/>
              <a:t>column_names</a:t>
            </a:r>
            <a:br>
              <a:rPr lang="en-IN" i="1" dirty="0"/>
            </a:br>
            <a:r>
              <a:rPr lang="en-IN" dirty="0"/>
              <a:t>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WHERE </a:t>
            </a:r>
            <a:r>
              <a:rPr lang="en-IN" i="1" dirty="0" err="1"/>
              <a:t>column_name</a:t>
            </a:r>
            <a:r>
              <a:rPr lang="en-IN" dirty="0"/>
              <a:t> IS NULL;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ym typeface="Wingdings" panose="05000000000000000000" pitchFamily="2" charset="2"/>
              </a:rPr>
              <a:t></a:t>
            </a:r>
            <a:r>
              <a:rPr lang="en-IN" b="1" dirty="0"/>
              <a:t>IS NOT NULL</a:t>
            </a:r>
          </a:p>
          <a:p>
            <a:r>
              <a:rPr lang="en-IN" dirty="0"/>
              <a:t>SELECT </a:t>
            </a:r>
            <a:r>
              <a:rPr lang="en-IN" i="1" dirty="0" err="1"/>
              <a:t>column_names</a:t>
            </a:r>
            <a:br>
              <a:rPr lang="en-IN" i="1" dirty="0"/>
            </a:br>
            <a:r>
              <a:rPr lang="en-IN" dirty="0"/>
              <a:t>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WHERE </a:t>
            </a:r>
            <a:r>
              <a:rPr lang="en-IN" i="1" dirty="0" err="1"/>
              <a:t>column_name</a:t>
            </a:r>
            <a:r>
              <a:rPr lang="en-IN" dirty="0"/>
              <a:t> IS NOT NULL;</a:t>
            </a:r>
          </a:p>
        </p:txBody>
      </p:sp>
    </p:spTree>
    <p:extLst>
      <p:ext uri="{BB962C8B-B14F-4D97-AF65-F5344CB8AC3E}">
        <p14:creationId xmlns:p14="http://schemas.microsoft.com/office/powerpoint/2010/main" val="21086020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DAEB-D39E-5B16-0629-DE0C2C56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06CF9-B82C-0670-7A81-19B983E39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 UPDATE statement is used to update or modify one or more records in a table.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ym typeface="Wingdings" panose="05000000000000000000" pitchFamily="2" charset="2"/>
              </a:rPr>
              <a:t>	</a:t>
            </a:r>
            <a:r>
              <a:rPr lang="en-IN" dirty="0"/>
              <a:t>UPDATE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		SET </a:t>
            </a:r>
            <a:r>
              <a:rPr lang="en-IN" i="1" dirty="0"/>
              <a:t>column1 </a:t>
            </a:r>
            <a:r>
              <a:rPr lang="en-IN" dirty="0"/>
              <a:t>=</a:t>
            </a:r>
            <a:r>
              <a:rPr lang="en-IN" i="1" dirty="0"/>
              <a:t> value1</a:t>
            </a:r>
            <a:r>
              <a:rPr lang="en-IN" dirty="0"/>
              <a:t>,</a:t>
            </a:r>
            <a:r>
              <a:rPr lang="en-IN" i="1" dirty="0"/>
              <a:t> column2 </a:t>
            </a:r>
            <a:r>
              <a:rPr lang="en-IN" dirty="0"/>
              <a:t>=</a:t>
            </a:r>
            <a:r>
              <a:rPr lang="en-IN" i="1" dirty="0"/>
              <a:t> value2</a:t>
            </a:r>
            <a:r>
              <a:rPr lang="en-IN" dirty="0"/>
              <a:t>, ...</a:t>
            </a:r>
            <a:br>
              <a:rPr lang="en-IN" dirty="0"/>
            </a:br>
            <a:r>
              <a:rPr lang="en-IN" dirty="0"/>
              <a:t>		WHERE </a:t>
            </a:r>
            <a:r>
              <a:rPr lang="en-IN" i="1" dirty="0"/>
              <a:t>condition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Update Warning!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Be careful when updating records. If you omit the WHERE clause, ALL records will be updated!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9505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DC7D-2BD4-3DD0-BBD8-6ADBEA864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0D249-927E-2CD4-DFBB-CC5017EC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DELETE statement is used to delete existing records in a table.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 </a:t>
            </a:r>
            <a:r>
              <a:rPr lang="en-IN" dirty="0"/>
              <a:t>DELETE FROM </a:t>
            </a:r>
            <a:r>
              <a:rPr lang="en-IN" i="1" dirty="0" err="1"/>
              <a:t>table_name</a:t>
            </a:r>
            <a:r>
              <a:rPr lang="en-IN" i="1" dirty="0"/>
              <a:t> </a:t>
            </a:r>
            <a:r>
              <a:rPr lang="en-IN" dirty="0"/>
              <a:t>WHERE </a:t>
            </a:r>
            <a:r>
              <a:rPr lang="en-IN" i="1" dirty="0"/>
              <a:t>condition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Delete All Records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b="1" dirty="0">
                <a:sym typeface="Wingdings" panose="05000000000000000000" pitchFamily="2" charset="2"/>
              </a:rPr>
              <a:t> </a:t>
            </a:r>
            <a:r>
              <a:rPr lang="en-IN" dirty="0"/>
              <a:t>DELETE FROM </a:t>
            </a:r>
            <a:r>
              <a:rPr lang="en-IN" i="1" dirty="0" err="1"/>
              <a:t>table_name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1969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95817-B2FB-A7C6-654B-51230D7F4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SELECT 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F8CAB-4CD6-D290-823B-FF46FFF06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 SELECT TOP clause is used to limit the number of records to return.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	</a:t>
            </a:r>
            <a:r>
              <a:rPr lang="en-IN" dirty="0"/>
              <a:t>SELECT </a:t>
            </a:r>
            <a:r>
              <a:rPr lang="en-IN" i="1" dirty="0" err="1"/>
              <a:t>column_name</a:t>
            </a:r>
            <a:r>
              <a:rPr lang="en-IN" i="1" dirty="0"/>
              <a:t>(s)</a:t>
            </a:r>
            <a:br>
              <a:rPr lang="en-IN" dirty="0"/>
            </a:br>
            <a:r>
              <a:rPr lang="en-IN" dirty="0"/>
              <a:t>		FROM </a:t>
            </a:r>
            <a:r>
              <a:rPr lang="en-IN" i="1" dirty="0" err="1"/>
              <a:t>table_name</a:t>
            </a:r>
            <a:br>
              <a:rPr lang="en-IN" i="1" dirty="0"/>
            </a:br>
            <a:r>
              <a:rPr lang="en-IN" i="1" dirty="0"/>
              <a:t>		</a:t>
            </a:r>
            <a:r>
              <a:rPr lang="en-IN" dirty="0"/>
              <a:t>WHERE </a:t>
            </a:r>
            <a:r>
              <a:rPr lang="en-IN" i="1" dirty="0"/>
              <a:t>condition</a:t>
            </a:r>
            <a:br>
              <a:rPr lang="en-IN" dirty="0"/>
            </a:br>
            <a:r>
              <a:rPr lang="en-IN" dirty="0"/>
              <a:t>		LIMIT </a:t>
            </a:r>
            <a:r>
              <a:rPr lang="en-IN" i="1" dirty="0"/>
              <a:t>number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SELECT * FROM Customers</a:t>
            </a:r>
            <a:br>
              <a:rPr lang="en-IN" dirty="0"/>
            </a:br>
            <a:r>
              <a:rPr lang="en-IN" dirty="0"/>
              <a:t>LIMIT 3;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8689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DB9C-E9CE-3FA0-E662-808F9DE1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Combining AND </a:t>
            </a:r>
            <a:r>
              <a:rPr lang="en-IN" b="1" dirty="0" err="1"/>
              <a:t>and</a:t>
            </a:r>
            <a:r>
              <a:rPr lang="en-IN" b="1" dirty="0"/>
              <a:t> 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1E3E1-304E-E613-CD55-B62E221E3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SELECT * FROM Customers</a:t>
            </a:r>
            <a:br>
              <a:rPr lang="en-IN" dirty="0"/>
            </a:br>
            <a:r>
              <a:rPr lang="en-IN" dirty="0"/>
              <a:t>WHERE Country = 'Spain' AND (</a:t>
            </a:r>
            <a:r>
              <a:rPr lang="en-IN" dirty="0" err="1"/>
              <a:t>CustomerName</a:t>
            </a:r>
            <a:r>
              <a:rPr lang="en-IN" dirty="0"/>
              <a:t> LIKE 'G%' OR </a:t>
            </a:r>
            <a:r>
              <a:rPr lang="en-IN" dirty="0" err="1"/>
              <a:t>CustomerName</a:t>
            </a:r>
            <a:r>
              <a:rPr lang="en-IN" dirty="0"/>
              <a:t> LIKE 'R%’);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SELECT * FROM Customers</a:t>
            </a:r>
            <a:br>
              <a:rPr lang="en-IN" dirty="0"/>
            </a:br>
            <a:r>
              <a:rPr lang="en-IN" dirty="0"/>
              <a:t>WHERE Country = 'Spain' AND </a:t>
            </a:r>
            <a:r>
              <a:rPr lang="en-IN" dirty="0" err="1"/>
              <a:t>CustomerName</a:t>
            </a:r>
            <a:r>
              <a:rPr lang="en-IN" dirty="0"/>
              <a:t> LIKE 'G%' OR </a:t>
            </a:r>
            <a:r>
              <a:rPr lang="en-IN" dirty="0" err="1"/>
              <a:t>CustomerName</a:t>
            </a:r>
            <a:r>
              <a:rPr lang="en-IN" dirty="0"/>
              <a:t> LIKE 'R%';</a:t>
            </a:r>
          </a:p>
        </p:txBody>
      </p:sp>
    </p:spTree>
    <p:extLst>
      <p:ext uri="{BB962C8B-B14F-4D97-AF65-F5344CB8AC3E}">
        <p14:creationId xmlns:p14="http://schemas.microsoft.com/office/powerpoint/2010/main" val="6596899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452F-4B21-993D-3634-88B4E3044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/>
              <a:t>SQL Aggregate 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51B0D-E903-ECC6-BF3C-3BA0C8854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aggregate function is a function that performs a calculation on a set of values, and returns a single value.</a:t>
            </a:r>
          </a:p>
          <a:p>
            <a:r>
              <a:rPr lang="en-IN" dirty="0"/>
              <a:t>SQL aggregate functions </a:t>
            </a:r>
            <a:r>
              <a:rPr lang="en-IN" b="1" dirty="0"/>
              <a:t>summarize multiple rows</a:t>
            </a:r>
            <a:r>
              <a:rPr lang="en-IN" dirty="0"/>
              <a:t> of data into a single value, making them essential for reporting, analytics, and data insights.</a:t>
            </a:r>
          </a:p>
          <a:p>
            <a:r>
              <a:rPr lang="en-IN" dirty="0"/>
              <a:t>Aggregate functions are often used with the GROUP BY clause of the SELECT statement.</a:t>
            </a:r>
          </a:p>
          <a:p>
            <a:r>
              <a:rPr lang="en-IN" dirty="0"/>
              <a:t>The GROUP BY clause splits the result-set into groups of values and the aggregate function can be used to return a single value for each group.</a:t>
            </a:r>
          </a:p>
        </p:txBody>
      </p:sp>
    </p:spTree>
    <p:extLst>
      <p:ext uri="{BB962C8B-B14F-4D97-AF65-F5344CB8AC3E}">
        <p14:creationId xmlns:p14="http://schemas.microsoft.com/office/powerpoint/2010/main" val="7436338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D77A-A5CA-2082-AD88-326DC723D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5546"/>
            <a:ext cx="10515600" cy="5281417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MIN() </a:t>
            </a:r>
            <a:r>
              <a:rPr lang="en-IN" dirty="0"/>
              <a:t>- 	returns the smallest value of a column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MAX() </a:t>
            </a:r>
            <a:r>
              <a:rPr lang="en-IN" dirty="0"/>
              <a:t>- 	returns the largest value of a column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COUNT() </a:t>
            </a:r>
            <a:r>
              <a:rPr lang="en-IN" dirty="0"/>
              <a:t>- 	returns the number of rows in a set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SUM() </a:t>
            </a:r>
            <a:r>
              <a:rPr lang="en-IN" dirty="0"/>
              <a:t>- 	returns the sum of a numerical column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AVG() </a:t>
            </a:r>
            <a:r>
              <a:rPr lang="en-IN" dirty="0"/>
              <a:t>- 	returns the average value of a numerical column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0581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DECE-754A-8322-41F0-D2BF4D6F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MIN()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3E3CB-CEDA-94DF-CD6F-E4658681E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SELECT MIN(</a:t>
            </a:r>
            <a:r>
              <a:rPr lang="en-IN" i="1" dirty="0" err="1"/>
              <a:t>column_name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WHERE </a:t>
            </a:r>
            <a:r>
              <a:rPr lang="en-IN" i="1" dirty="0"/>
              <a:t>condition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956492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DC54-A895-C557-E9C2-ECE54E48E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MAX() 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79AF5-46B9-9EDF-FDA0-8F86F3FED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SELECT MAX(</a:t>
            </a:r>
            <a:r>
              <a:rPr lang="en-IN" i="1" dirty="0" err="1"/>
              <a:t>column_name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WHERE </a:t>
            </a:r>
            <a:r>
              <a:rPr lang="en-IN" i="1" dirty="0"/>
              <a:t>condition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086779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884FF-1E9D-615C-1532-FE7529D40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COUNT() 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937D1-262E-CECD-B017-61277212C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SELECT COUNT([DISTINCT] </a:t>
            </a:r>
            <a:r>
              <a:rPr lang="en-IN" i="1" dirty="0" err="1"/>
              <a:t>column_name</a:t>
            </a:r>
            <a:r>
              <a:rPr lang="en-IN" dirty="0"/>
              <a:t> | *)</a:t>
            </a:r>
            <a:br>
              <a:rPr lang="en-IN" dirty="0"/>
            </a:br>
            <a:r>
              <a:rPr lang="en-IN" dirty="0"/>
              <a:t>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WHERE </a:t>
            </a:r>
            <a:r>
              <a:rPr lang="en-IN" i="1" dirty="0"/>
              <a:t>condition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26808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7A27-029A-64E8-979D-17045710A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SUM() 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D4641-05F2-378C-79FC-25DF2CC7F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SELECT SUM(</a:t>
            </a:r>
            <a:r>
              <a:rPr lang="en-IN" i="1" dirty="0" err="1"/>
              <a:t>column_name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WHERE </a:t>
            </a:r>
            <a:r>
              <a:rPr lang="en-IN" i="1" dirty="0"/>
              <a:t>condition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423811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BE31-4F19-B51A-D861-4E4E9238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AVG() 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83E52-2F4E-2612-BC27-BA8825484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SELECT AVG(</a:t>
            </a:r>
            <a:r>
              <a:rPr lang="en-IN" i="1" dirty="0" err="1"/>
              <a:t>column_name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FROM </a:t>
            </a:r>
            <a:r>
              <a:rPr lang="en-IN" i="1" dirty="0" err="1"/>
              <a:t>table_name</a:t>
            </a:r>
            <a:br>
              <a:rPr lang="en-IN" dirty="0"/>
            </a:br>
            <a:r>
              <a:rPr lang="en-IN" dirty="0"/>
              <a:t>WHERE </a:t>
            </a:r>
            <a:r>
              <a:rPr lang="en-IN" i="1" dirty="0"/>
              <a:t>condition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06553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058B-1C8C-4223-7B15-10AB6E01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Use an Alias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1B4B5-2421-2E05-C53E-7390F2485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SELECT COUNT(*) AS [Number of records]</a:t>
            </a:r>
            <a:br>
              <a:rPr lang="en-IN" dirty="0"/>
            </a:br>
            <a:r>
              <a:rPr lang="en-IN" dirty="0"/>
              <a:t>FROM Products;</a:t>
            </a:r>
          </a:p>
        </p:txBody>
      </p:sp>
    </p:spTree>
    <p:extLst>
      <p:ext uri="{BB962C8B-B14F-4D97-AF65-F5344CB8AC3E}">
        <p14:creationId xmlns:p14="http://schemas.microsoft.com/office/powerpoint/2010/main" val="10862696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8DA7-6871-CF20-D510-0DFCA8CC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GROUP BY Clause in 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BB642-465B-097C-5AB8-5C77F0939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</a:t>
            </a:r>
            <a:r>
              <a:rPr lang="en-IN" b="1" dirty="0"/>
              <a:t>GROUP BY</a:t>
            </a:r>
            <a:r>
              <a:rPr lang="en-IN" dirty="0"/>
              <a:t> clause is used to </a:t>
            </a:r>
            <a:r>
              <a:rPr lang="en-IN" b="1" dirty="0"/>
              <a:t>group rows that have the same values in one or more columns</a:t>
            </a:r>
            <a:r>
              <a:rPr lang="en-IN" dirty="0"/>
              <a:t>. </a:t>
            </a:r>
          </a:p>
          <a:p>
            <a:r>
              <a:rPr lang="en-IN" dirty="0"/>
              <a:t>It is commonly used with </a:t>
            </a:r>
            <a:r>
              <a:rPr lang="en-IN" b="1" dirty="0"/>
              <a:t>aggregate functions</a:t>
            </a:r>
            <a:r>
              <a:rPr lang="en-IN" dirty="0"/>
              <a:t> such as COUNT(), SUM(), AVG(), MIN(), and MAX() to calculate summary information for each group.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</a:t>
            </a:r>
            <a:r>
              <a:rPr lang="en-US" dirty="0"/>
              <a:t>	SELECT </a:t>
            </a:r>
            <a:r>
              <a:rPr lang="en-US" dirty="0" err="1"/>
              <a:t>column_name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		</a:t>
            </a:r>
            <a:r>
              <a:rPr lang="en-US" dirty="0" err="1"/>
              <a:t>aggregate_function</a:t>
            </a:r>
            <a:r>
              <a:rPr lang="en-US" dirty="0"/>
              <a:t>(</a:t>
            </a:r>
            <a:r>
              <a:rPr lang="en-US" dirty="0" err="1"/>
              <a:t>column_name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GROUP BY </a:t>
            </a:r>
            <a:r>
              <a:rPr lang="en-US" dirty="0" err="1"/>
              <a:t>column_name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0562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F709-2F36-8AB8-FA00-3FB807B8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9D85-8F07-8C77-C8B4-FAFD5362C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column1, column2,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aggregate_function</a:t>
            </a:r>
            <a:r>
              <a:rPr lang="en-US" dirty="0"/>
              <a:t>(column3)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column1, column2;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	SELECT Department, COUNT(*) AS </a:t>
            </a:r>
            <a:r>
              <a:rPr lang="en-US" dirty="0" err="1">
                <a:sym typeface="Wingdings" panose="05000000000000000000" pitchFamily="2" charset="2"/>
              </a:rPr>
              <a:t>Total_Employees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FROM Employee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GROUP BY Department;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01279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33DC-6F66-2F8A-2940-AE6110F6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910185-0B73-6A6E-FE2C-7C15C4EA86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4526806"/>
              </p:ext>
            </p:extLst>
          </p:nvPr>
        </p:nvGraphicFramePr>
        <p:xfrm>
          <a:off x="1855695" y="2214281"/>
          <a:ext cx="8247531" cy="3236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9177">
                  <a:extLst>
                    <a:ext uri="{9D8B030D-6E8A-4147-A177-3AD203B41FA5}">
                      <a16:colId xmlns:a16="http://schemas.microsoft.com/office/drawing/2014/main" val="41897542"/>
                    </a:ext>
                  </a:extLst>
                </a:gridCol>
                <a:gridCol w="2749177">
                  <a:extLst>
                    <a:ext uri="{9D8B030D-6E8A-4147-A177-3AD203B41FA5}">
                      <a16:colId xmlns:a16="http://schemas.microsoft.com/office/drawing/2014/main" val="228124593"/>
                    </a:ext>
                  </a:extLst>
                </a:gridCol>
                <a:gridCol w="2749177">
                  <a:extLst>
                    <a:ext uri="{9D8B030D-6E8A-4147-A177-3AD203B41FA5}">
                      <a16:colId xmlns:a16="http://schemas.microsoft.com/office/drawing/2014/main" val="25736292"/>
                    </a:ext>
                  </a:extLst>
                </a:gridCol>
              </a:tblGrid>
              <a:tr h="539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Student_ID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436784"/>
                  </a:ext>
                </a:extLst>
              </a:tr>
              <a:tr h="539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246285"/>
                  </a:ext>
                </a:extLst>
              </a:tr>
              <a:tr h="539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539672"/>
                  </a:ext>
                </a:extLst>
              </a:tr>
              <a:tr h="539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811610"/>
                  </a:ext>
                </a:extLst>
              </a:tr>
              <a:tr h="539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6154080"/>
                  </a:ext>
                </a:extLst>
              </a:tr>
              <a:tr h="539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Arya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455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7541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82C46-11AD-9375-BD3A-F66C3574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E8E44-6BA8-7B15-B236-FCF9AFD8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Department, COUNT(*) AS </a:t>
            </a:r>
            <a:r>
              <a:rPr lang="en-US" dirty="0" err="1"/>
              <a:t>Total_Students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Student;</a:t>
            </a:r>
          </a:p>
          <a:p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Total students </a:t>
            </a:r>
          </a:p>
          <a:p>
            <a:pPr marL="0" indent="0">
              <a:buNone/>
            </a:pPr>
            <a:r>
              <a:rPr lang="en-US" dirty="0"/>
              <a:t>	      5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8490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CEC5-8168-5B80-E169-2183B352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D9CCA-7B4E-3172-F554-D92B10962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Department, COUNT(*) AS </a:t>
            </a:r>
            <a:r>
              <a:rPr lang="en-US" dirty="0" err="1"/>
              <a:t>Total_Students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Student</a:t>
            </a:r>
          </a:p>
          <a:p>
            <a:pPr marL="0" indent="0">
              <a:buNone/>
            </a:pPr>
            <a:r>
              <a:rPr lang="en-US" dirty="0"/>
              <a:t>GROUP BY Department;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BC6512-D5CA-9DF5-56A6-5B9F0DB94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444997"/>
              </p:ext>
            </p:extLst>
          </p:nvPr>
        </p:nvGraphicFramePr>
        <p:xfrm>
          <a:off x="2375646" y="3452654"/>
          <a:ext cx="5988426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4213">
                  <a:extLst>
                    <a:ext uri="{9D8B030D-6E8A-4147-A177-3AD203B41FA5}">
                      <a16:colId xmlns:a16="http://schemas.microsoft.com/office/drawing/2014/main" val="4211669549"/>
                    </a:ext>
                  </a:extLst>
                </a:gridCol>
                <a:gridCol w="2994213">
                  <a:extLst>
                    <a:ext uri="{9D8B030D-6E8A-4147-A177-3AD203B41FA5}">
                      <a16:colId xmlns:a16="http://schemas.microsoft.com/office/drawing/2014/main" val="592758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Total_Students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77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7940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498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8906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939F-025A-9FEE-E642-212BC353B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60725E-50C5-E671-32C4-15F242087A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176040"/>
              </p:ext>
            </p:extLst>
          </p:nvPr>
        </p:nvGraphicFramePr>
        <p:xfrm>
          <a:off x="2214282" y="2721134"/>
          <a:ext cx="8032376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8094">
                  <a:extLst>
                    <a:ext uri="{9D8B030D-6E8A-4147-A177-3AD203B41FA5}">
                      <a16:colId xmlns:a16="http://schemas.microsoft.com/office/drawing/2014/main" val="3660090185"/>
                    </a:ext>
                  </a:extLst>
                </a:gridCol>
                <a:gridCol w="2008094">
                  <a:extLst>
                    <a:ext uri="{9D8B030D-6E8A-4147-A177-3AD203B41FA5}">
                      <a16:colId xmlns:a16="http://schemas.microsoft.com/office/drawing/2014/main" val="971065847"/>
                    </a:ext>
                  </a:extLst>
                </a:gridCol>
                <a:gridCol w="2008094">
                  <a:extLst>
                    <a:ext uri="{9D8B030D-6E8A-4147-A177-3AD203B41FA5}">
                      <a16:colId xmlns:a16="http://schemas.microsoft.com/office/drawing/2014/main" val="321160205"/>
                    </a:ext>
                  </a:extLst>
                </a:gridCol>
                <a:gridCol w="2008094">
                  <a:extLst>
                    <a:ext uri="{9D8B030D-6E8A-4147-A177-3AD203B41FA5}">
                      <a16:colId xmlns:a16="http://schemas.microsoft.com/office/drawing/2014/main" val="42641523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Student_ID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06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459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5640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67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368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Arya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071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043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3052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31C3-A3F6-98F9-66AA-9B7AA8C2E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05BDD-4332-CF09-15C2-A7B0D3AE4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Department, SUM(Marks) AS </a:t>
            </a:r>
            <a:r>
              <a:rPr lang="en-US" dirty="0" err="1"/>
              <a:t>Total_Marks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Student</a:t>
            </a:r>
          </a:p>
          <a:p>
            <a:pPr marL="0" indent="0">
              <a:buNone/>
            </a:pPr>
            <a:r>
              <a:rPr lang="en-US" dirty="0"/>
              <a:t>GROUP BY Department;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EFBA3B-D8C2-4AE4-64D3-D6855DFBE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265576"/>
              </p:ext>
            </p:extLst>
          </p:nvPr>
        </p:nvGraphicFramePr>
        <p:xfrm>
          <a:off x="3523128" y="3452654"/>
          <a:ext cx="536986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4930">
                  <a:extLst>
                    <a:ext uri="{9D8B030D-6E8A-4147-A177-3AD203B41FA5}">
                      <a16:colId xmlns:a16="http://schemas.microsoft.com/office/drawing/2014/main" val="3438778721"/>
                    </a:ext>
                  </a:extLst>
                </a:gridCol>
                <a:gridCol w="2684930">
                  <a:extLst>
                    <a:ext uri="{9D8B030D-6E8A-4147-A177-3AD203B41FA5}">
                      <a16:colId xmlns:a16="http://schemas.microsoft.com/office/drawing/2014/main" val="9290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Total_Marks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26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319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592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5098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A378-FF81-2A24-B859-504D13CA4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BY with 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11557-D6E0-C013-E64B-D96B4A16C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Department, COUNT(*) AS </a:t>
            </a:r>
            <a:r>
              <a:rPr lang="en-US" dirty="0" err="1"/>
              <a:t>Total_Students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Student</a:t>
            </a:r>
          </a:p>
          <a:p>
            <a:pPr marL="0" indent="0">
              <a:buNone/>
            </a:pPr>
            <a:r>
              <a:rPr lang="en-US" dirty="0"/>
              <a:t>WHERE Marks &gt; 75</a:t>
            </a:r>
          </a:p>
          <a:p>
            <a:pPr marL="0" indent="0">
              <a:buNone/>
            </a:pPr>
            <a:r>
              <a:rPr lang="en-US" dirty="0"/>
              <a:t>GROUP BY Department;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0613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7568-8009-EE1C-3810-1094ABFB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BY with HAVING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6BF42-6E67-BADB-4155-AB709A1A2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6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Department, COUNT(*) AS </a:t>
            </a:r>
            <a:r>
              <a:rPr lang="en-US" dirty="0" err="1"/>
              <a:t>Total_Students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Student</a:t>
            </a:r>
          </a:p>
          <a:p>
            <a:pPr marL="0" indent="0">
              <a:buNone/>
            </a:pPr>
            <a:r>
              <a:rPr lang="en-US" dirty="0"/>
              <a:t>GROUP BY Department</a:t>
            </a:r>
          </a:p>
          <a:p>
            <a:pPr marL="0" indent="0">
              <a:buNone/>
            </a:pPr>
            <a:r>
              <a:rPr lang="en-US" dirty="0"/>
              <a:t>HAVING COUNT(*) &gt; 2;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18082C-8C97-6626-FD72-8E244EB00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194528"/>
              </p:ext>
            </p:extLst>
          </p:nvPr>
        </p:nvGraphicFramePr>
        <p:xfrm>
          <a:off x="6006353" y="3452654"/>
          <a:ext cx="4903695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0471">
                  <a:extLst>
                    <a:ext uri="{9D8B030D-6E8A-4147-A177-3AD203B41FA5}">
                      <a16:colId xmlns:a16="http://schemas.microsoft.com/office/drawing/2014/main" val="664787069"/>
                    </a:ext>
                  </a:extLst>
                </a:gridCol>
                <a:gridCol w="2483224">
                  <a:extLst>
                    <a:ext uri="{9D8B030D-6E8A-4147-A177-3AD203B41FA5}">
                      <a16:colId xmlns:a16="http://schemas.microsoft.com/office/drawing/2014/main" val="1983577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Total_Students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080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5352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4041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5437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20425C-EBBC-539C-43B2-337F77F2D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495397"/>
              </p:ext>
            </p:extLst>
          </p:nvPr>
        </p:nvGraphicFramePr>
        <p:xfrm>
          <a:off x="866274" y="1026695"/>
          <a:ext cx="10106526" cy="36736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9226">
                  <a:extLst>
                    <a:ext uri="{9D8B030D-6E8A-4147-A177-3AD203B41FA5}">
                      <a16:colId xmlns:a16="http://schemas.microsoft.com/office/drawing/2014/main" val="675239572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1100030533"/>
                    </a:ext>
                  </a:extLst>
                </a:gridCol>
              </a:tblGrid>
              <a:tr h="638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WHERE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HAVING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323800"/>
                  </a:ext>
                </a:extLst>
              </a:tr>
              <a:tr h="638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Filters individual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Filters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289304"/>
                  </a:ext>
                </a:extLst>
              </a:tr>
              <a:tr h="638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Applied before GROUP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Applied after GROUP BY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119122"/>
                  </a:ext>
                </a:extLst>
              </a:tr>
              <a:tr h="1118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Normally used with individual column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Commonly used with aggregate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576772"/>
                  </a:ext>
                </a:extLst>
              </a:tr>
              <a:tr h="638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WHERE Marks &gt; 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HAVING COUNT(*) &gt;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8247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FE126D-D9D3-CFD7-B2C8-79A7BDF84504}"/>
              </a:ext>
            </a:extLst>
          </p:cNvPr>
          <p:cNvSpPr txBox="1"/>
          <p:nvPr/>
        </p:nvSpPr>
        <p:spPr>
          <a:xfrm>
            <a:off x="838200" y="52972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WHERE → Which rows?</a:t>
            </a:r>
            <a:br>
              <a:rPr lang="en-IN" dirty="0"/>
            </a:br>
            <a:r>
              <a:rPr lang="en-IN" b="1" dirty="0"/>
              <a:t>HAVING → Which groups?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2088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98F0-A80D-0652-B870-FE2CA503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85175-8C00-4787-E8AC-49CCA2A6A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Department, Gender, COUNT(*) AS Total</a:t>
            </a:r>
          </a:p>
          <a:p>
            <a:pPr marL="0" indent="0">
              <a:buNone/>
            </a:pPr>
            <a:r>
              <a:rPr lang="en-US" dirty="0"/>
              <a:t>FROM Student</a:t>
            </a:r>
          </a:p>
          <a:p>
            <a:pPr marL="0" indent="0">
              <a:buNone/>
            </a:pPr>
            <a:r>
              <a:rPr lang="en-US" dirty="0"/>
              <a:t>GROUP BY Department, Gender;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562D83-0B61-5746-4D07-179F8AE7F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295676"/>
              </p:ext>
            </p:extLst>
          </p:nvPr>
        </p:nvGraphicFramePr>
        <p:xfrm>
          <a:off x="838200" y="3701873"/>
          <a:ext cx="5679141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3047">
                  <a:extLst>
                    <a:ext uri="{9D8B030D-6E8A-4147-A177-3AD203B41FA5}">
                      <a16:colId xmlns:a16="http://schemas.microsoft.com/office/drawing/2014/main" val="1081343274"/>
                    </a:ext>
                  </a:extLst>
                </a:gridCol>
                <a:gridCol w="1893047">
                  <a:extLst>
                    <a:ext uri="{9D8B030D-6E8A-4147-A177-3AD203B41FA5}">
                      <a16:colId xmlns:a16="http://schemas.microsoft.com/office/drawing/2014/main" val="1495950979"/>
                    </a:ext>
                  </a:extLst>
                </a:gridCol>
                <a:gridCol w="1893047">
                  <a:extLst>
                    <a:ext uri="{9D8B030D-6E8A-4147-A177-3AD203B41FA5}">
                      <a16:colId xmlns:a16="http://schemas.microsoft.com/office/drawing/2014/main" val="374756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304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969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986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439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358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98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1A811C-5154-C1F7-21E6-2BA3E924F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160190"/>
              </p:ext>
            </p:extLst>
          </p:nvPr>
        </p:nvGraphicFramePr>
        <p:xfrm>
          <a:off x="6741459" y="4001294"/>
          <a:ext cx="4612341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7447">
                  <a:extLst>
                    <a:ext uri="{9D8B030D-6E8A-4147-A177-3AD203B41FA5}">
                      <a16:colId xmlns:a16="http://schemas.microsoft.com/office/drawing/2014/main" val="680121245"/>
                    </a:ext>
                  </a:extLst>
                </a:gridCol>
                <a:gridCol w="1537447">
                  <a:extLst>
                    <a:ext uri="{9D8B030D-6E8A-4147-A177-3AD203B41FA5}">
                      <a16:colId xmlns:a16="http://schemas.microsoft.com/office/drawing/2014/main" val="2209246928"/>
                    </a:ext>
                  </a:extLst>
                </a:gridCol>
                <a:gridCol w="1537447">
                  <a:extLst>
                    <a:ext uri="{9D8B030D-6E8A-4147-A177-3AD203B41FA5}">
                      <a16:colId xmlns:a16="http://schemas.microsoft.com/office/drawing/2014/main" val="1995449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285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8468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921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865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34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061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2986</TotalTime>
  <Words>3036</Words>
  <Application>Microsoft Office PowerPoint</Application>
  <PresentationFormat>Widescreen</PresentationFormat>
  <Paragraphs>507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Arial</vt:lpstr>
      <vt:lpstr>Calibri</vt:lpstr>
      <vt:lpstr>Calibri Light</vt:lpstr>
      <vt:lpstr>Courier New</vt:lpstr>
      <vt:lpstr>Roboto</vt:lpstr>
      <vt:lpstr>Segoe UI</vt:lpstr>
      <vt:lpstr>Wingdings</vt:lpstr>
      <vt:lpstr>Office Theme</vt:lpstr>
      <vt:lpstr>DBMS LAB</vt:lpstr>
      <vt:lpstr>Login to MySQL as the Root User</vt:lpstr>
      <vt:lpstr>PowerPoint Presentation</vt:lpstr>
      <vt:lpstr>Data Definition Language (DDL)</vt:lpstr>
      <vt:lpstr>CREATE</vt:lpstr>
      <vt:lpstr>DROP</vt:lpstr>
      <vt:lpstr>RENAME DATABASE</vt:lpstr>
      <vt:lpstr>SQL BACKUP DATABASE</vt:lpstr>
      <vt:lpstr>SQL Data Types</vt:lpstr>
      <vt:lpstr>String (Character) Data Types</vt:lpstr>
      <vt:lpstr>Date and Time </vt:lpstr>
      <vt:lpstr>CREATE TABLE</vt:lpstr>
      <vt:lpstr>Create New Table From Existing Table</vt:lpstr>
      <vt:lpstr>View Table Structure</vt:lpstr>
      <vt:lpstr>DROP TABLE</vt:lpstr>
      <vt:lpstr>TRUNCATE TABLE</vt:lpstr>
      <vt:lpstr>INSERT (DML)</vt:lpstr>
      <vt:lpstr>Comment</vt:lpstr>
      <vt:lpstr>ALTER TABLE</vt:lpstr>
      <vt:lpstr>ALTER TABLE - ADD Column</vt:lpstr>
      <vt:lpstr>ALTER TABLE - DROP COLUMN</vt:lpstr>
      <vt:lpstr>ALTER TABLE - RENAME COLUMN</vt:lpstr>
      <vt:lpstr>ALTER TABLE - MODIFY Datatype</vt:lpstr>
      <vt:lpstr>ALTER TABLE - Rename table</vt:lpstr>
      <vt:lpstr>SQL Constraints</vt:lpstr>
      <vt:lpstr>The following constraints are commonly used in SQL:</vt:lpstr>
      <vt:lpstr>PRIMARY KEY</vt:lpstr>
      <vt:lpstr>FOREIGN KEY</vt:lpstr>
      <vt:lpstr>FOREIGN KEY Syntax:</vt:lpstr>
      <vt:lpstr>ALTER TABLE - ADD CONSTRAINT</vt:lpstr>
      <vt:lpstr>DROP CONSTRAINT </vt:lpstr>
      <vt:lpstr> Data Manipulation Language (DML) </vt:lpstr>
      <vt:lpstr>SELECT</vt:lpstr>
      <vt:lpstr>SELECT DISTINCT</vt:lpstr>
      <vt:lpstr>WHERE Clause</vt:lpstr>
      <vt:lpstr>The following operators can be used in the WHERE clause:</vt:lpstr>
      <vt:lpstr> BETWEEN</vt:lpstr>
      <vt:lpstr>IN</vt:lpstr>
      <vt:lpstr>LIKE</vt:lpstr>
      <vt:lpstr>PowerPoint Presentation</vt:lpstr>
      <vt:lpstr>PowerPoint Presentation</vt:lpstr>
      <vt:lpstr>ORDER BY</vt:lpstr>
      <vt:lpstr>AND</vt:lpstr>
      <vt:lpstr>OR</vt:lpstr>
      <vt:lpstr>NOT</vt:lpstr>
      <vt:lpstr>PowerPoint Presentation</vt:lpstr>
      <vt:lpstr>UPDATE</vt:lpstr>
      <vt:lpstr>DELETE</vt:lpstr>
      <vt:lpstr>SELECT LIMIT</vt:lpstr>
      <vt:lpstr>Combining AND and OR</vt:lpstr>
      <vt:lpstr>SQL Aggregate Functions</vt:lpstr>
      <vt:lpstr>PowerPoint Presentation</vt:lpstr>
      <vt:lpstr>MIN() Function</vt:lpstr>
      <vt:lpstr>MAX() Function</vt:lpstr>
      <vt:lpstr>COUNT() Function</vt:lpstr>
      <vt:lpstr>SUM() Function</vt:lpstr>
      <vt:lpstr>AVG() Function</vt:lpstr>
      <vt:lpstr>Use an Alias</vt:lpstr>
      <vt:lpstr> GROUP BY Clause in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GROUP BY with WHERE</vt:lpstr>
      <vt:lpstr>GROUP BY with HAVING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babu</dc:creator>
  <cp:lastModifiedBy>john babu</cp:lastModifiedBy>
  <cp:revision>256</cp:revision>
  <dcterms:created xsi:type="dcterms:W3CDTF">2026-07-07T16:06:13Z</dcterms:created>
  <dcterms:modified xsi:type="dcterms:W3CDTF">2026-09-02T10:43:10Z</dcterms:modified>
</cp:coreProperties>
</file>